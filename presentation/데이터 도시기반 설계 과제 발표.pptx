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Noto Sans KR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AADE43-5EBC-4259-8172-A036047B30FA}">
  <a:tblStyle styleId="{42AADE43-5EBC-4259-8172-A036047B30F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NotoSansKR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NotoSansK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44efd46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eb44efd466_1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b44efd46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b44efd466_1_1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b44efd46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eb44efd466_1_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b44efd466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b44efd466_1_3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b44efd466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b44efd466_1_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b44efd466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b44efd466_1_6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b44efd466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b44efd466_1_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b44efd466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b44efd466_1_9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b44efd466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b44efd466_1_10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b44efd466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eb44efd466_1_1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b44efd466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b44efd466_1_14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b44efd466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b44efd466_1_15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b44efd466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b44efd466_1_17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b44efd466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b44efd466_1_18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b44efd466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b44efd466_1_21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17236" y="1748790"/>
            <a:ext cx="891564" cy="82296"/>
          </a:xfrm>
          <a:prstGeom prst="roundRect">
            <a:avLst>
              <a:gd fmla="val 50000" name="adj"/>
            </a:avLst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17236" y="1371600"/>
            <a:ext cx="79095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SAM3 객체 추출 · GDAL 보간 기반 지형 표고 모델 자동 생성</a:t>
            </a:r>
            <a:endParaRPr sz="1100"/>
          </a:p>
        </p:txBody>
      </p:sp>
      <p:sp>
        <p:nvSpPr>
          <p:cNvPr id="57" name="Google Shape;57;p13"/>
          <p:cNvSpPr txBox="1"/>
          <p:nvPr/>
        </p:nvSpPr>
        <p:spPr>
          <a:xfrm>
            <a:off x="617236" y="1954530"/>
            <a:ext cx="790954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32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</a:t>
            </a:r>
            <a:endParaRPr sz="1100"/>
          </a:p>
        </p:txBody>
      </p:sp>
      <p:sp>
        <p:nvSpPr>
          <p:cNvPr id="58" name="Google Shape;58;p13"/>
          <p:cNvSpPr txBox="1"/>
          <p:nvPr/>
        </p:nvSpPr>
        <p:spPr>
          <a:xfrm>
            <a:off x="617236" y="2914650"/>
            <a:ext cx="72237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정사영상에서 SAM3로 건물·수목·자동차를 추출하고, DSM의 지물을 제거한 뒤</a:t>
            </a:r>
            <a:br>
              <a:rPr b="0" i="0" lang="ko" sz="13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ko" sz="13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GDAL 보간으로 순수 지형 표고 모델(DEM)을 생성하는 데스크톱 애플리케이션</a:t>
            </a:r>
            <a:endParaRPr sz="1100"/>
          </a:p>
        </p:txBody>
      </p:sp>
      <p:sp>
        <p:nvSpPr>
          <p:cNvPr id="59" name="Google Shape;59;p13"/>
          <p:cNvSpPr txBox="1"/>
          <p:nvPr/>
        </p:nvSpPr>
        <p:spPr>
          <a:xfrm>
            <a:off x="617236" y="4389120"/>
            <a:ext cx="79095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PyQt6 데스크톱 앱 · v1.0.0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endParaRPr sz="1100"/>
          </a:p>
        </p:txBody>
      </p:sp>
      <p:sp>
        <p:nvSpPr>
          <p:cNvPr id="66" name="Google Shape;66;p14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왜 DSM에서 DEM이 필요한가</a:t>
            </a:r>
            <a:endParaRPr sz="1100"/>
          </a:p>
        </p:txBody>
      </p:sp>
      <p:sp>
        <p:nvSpPr>
          <p:cNvPr id="67" name="Google Shape;67;p14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69" name="Google Shape;69;p14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sz="1100"/>
          </a:p>
        </p:txBody>
      </p:sp>
      <p:sp>
        <p:nvSpPr>
          <p:cNvPr id="70" name="Google Shape;70;p14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DSM(수치표면모델)은 건물·수목·자동차 등 지표 위 모든 객체를 포함한 표면 모델입니다. 침수 분석·토목 설계·정밀 지형 해석에는 객체가 제거된 순수 지형(DEM)이 필요합니다.</a:t>
            </a:r>
            <a:endParaRPr sz="1100"/>
          </a:p>
        </p:txBody>
      </p:sp>
      <p:pic>
        <p:nvPicPr>
          <p:cNvPr descr="dsm_vs_dem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6" y="1837944"/>
            <a:ext cx="7909331" cy="229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617236" y="4170183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8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DSM(객체 포함) → SAM3 추출·제거·보간 → DEM(순수 지형)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한눈에 보기</a:t>
            </a:r>
            <a:endParaRPr sz="1100"/>
          </a:p>
        </p:txBody>
      </p:sp>
      <p:sp>
        <p:nvSpPr>
          <p:cNvPr id="79" name="Google Shape;79;p15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애플리케이션 한눈에 보기</a:t>
            </a:r>
            <a:endParaRPr sz="1100"/>
          </a:p>
        </p:txBody>
      </p:sp>
      <p:sp>
        <p:nvSpPr>
          <p:cNvPr id="80" name="Google Shape;80;p15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82" name="Google Shape;82;p15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노션 스타일 사이드바에서 화면을 전환하고, 하단의 처리 단계 안내로 전체 흐름을 한눈에 파악합니다.</a:t>
            </a:r>
            <a:endParaRPr sz="1100"/>
          </a:p>
        </p:txBody>
      </p:sp>
      <p:sp>
        <p:nvSpPr>
          <p:cNvPr id="84" name="Google Shape;84;p15"/>
          <p:cNvSpPr/>
          <p:nvPr/>
        </p:nvSpPr>
        <p:spPr>
          <a:xfrm>
            <a:off x="617236" y="1604772"/>
            <a:ext cx="2508494" cy="11658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변환 실행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정사영상·DSM 입력 → 옵션 설정 → DEM 생성. 미리보기·QA 통계·로그를 한 화면에서 확인.</a:t>
            </a:r>
            <a:endParaRPr sz="1100"/>
          </a:p>
        </p:txBody>
      </p:sp>
      <p:sp>
        <p:nvSpPr>
          <p:cNvPr id="85" name="Google Shape;85;p15"/>
          <p:cNvSpPr/>
          <p:nvPr/>
        </p:nvSpPr>
        <p:spPr>
          <a:xfrm>
            <a:off x="3317760" y="1604772"/>
            <a:ext cx="2508494" cy="11658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지도 표시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정사영상·DSM·DEM·추출 경계(SHP)를 인터랙티브 웹지도 위에 겹쳐 시각화.</a:t>
            </a:r>
            <a:endParaRPr sz="1100"/>
          </a:p>
        </p:txBody>
      </p:sp>
      <p:sp>
        <p:nvSpPr>
          <p:cNvPr id="86" name="Google Shape;86;p15"/>
          <p:cNvSpPr/>
          <p:nvPr/>
        </p:nvSpPr>
        <p:spPr>
          <a:xfrm>
            <a:off x="6018283" y="1604772"/>
            <a:ext cx="2508494" cy="11658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(SAM3)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정사영상+경계 SHP로 데이터셋을 만들어 SAM3를 파인튜닝하고 새 체크포인트를 적용.</a:t>
            </a:r>
            <a:endParaRPr sz="1100"/>
          </a:p>
        </p:txBody>
      </p:sp>
      <p:sp>
        <p:nvSpPr>
          <p:cNvPr id="87" name="Google Shape;87;p15"/>
          <p:cNvSpPr/>
          <p:nvPr/>
        </p:nvSpPr>
        <p:spPr>
          <a:xfrm>
            <a:off x="617236" y="2921508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7F1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◆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처리 단계  ①  정사영상·DSM 입력   →   ②  SAM3 추출   →   ③  객체 제거   →   ④  GDAL 보간   →   ⑤  QA·저장</a:t>
            </a:r>
            <a:endParaRPr sz="1100"/>
          </a:p>
        </p:txBody>
      </p:sp>
      <p:sp>
        <p:nvSpPr>
          <p:cNvPr id="88" name="Google Shape;88;p15"/>
          <p:cNvSpPr/>
          <p:nvPr/>
        </p:nvSpPr>
        <p:spPr>
          <a:xfrm>
            <a:off x="617236" y="2921508"/>
            <a:ext cx="48007" cy="41148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워크플로우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처리 파이프라인</a:t>
            </a:r>
            <a:endParaRPr sz="1100"/>
          </a:p>
        </p:txBody>
      </p:sp>
      <p:sp>
        <p:nvSpPr>
          <p:cNvPr id="96" name="Google Shape;96;p16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98" name="Google Shape;98;p16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 sz="1100"/>
          </a:p>
        </p:txBody>
      </p:sp>
      <p:sp>
        <p:nvSpPr>
          <p:cNvPr id="99" name="Google Shape;99;p16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pipeline.run_conversion()이 입력부터 저장까지를 단일 진입점으로 오케스트레이션하며, 워커 스레드가 진행률을 실시간 보고합니다(사용자에게는 5단계로 안내).</a:t>
            </a:r>
            <a:endParaRPr sz="1100"/>
          </a:p>
        </p:txBody>
      </p:sp>
      <p:pic>
        <p:nvPicPr>
          <p:cNvPr descr="pipeline_flow.png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6" y="1837944"/>
            <a:ext cx="7909331" cy="197338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617236" y="3852478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8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단계별 진행률 — 입력 8% · SAM3 55% · 제거 69% · 보간 86% · 저장 100%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1 / 5</a:t>
            </a:r>
            <a:endParaRPr sz="1100"/>
          </a:p>
        </p:txBody>
      </p:sp>
      <p:sp>
        <p:nvSpPr>
          <p:cNvPr id="108" name="Google Shape;108;p17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정사영상·DSM 입력 및 정합 검사</a:t>
            </a:r>
            <a:endParaRPr sz="1100"/>
          </a:p>
        </p:txBody>
      </p:sp>
      <p:sp>
        <p:nvSpPr>
          <p:cNvPr id="109" name="Google Shape;109;p17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11" name="Google Shape;111;p17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endParaRPr sz="1100"/>
          </a:p>
        </p:txBody>
      </p:sp>
      <p:sp>
        <p:nvSpPr>
          <p:cNvPr id="112" name="Google Shape;112;p17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raster_io 모듈 — 래스터를 읽어 표준화하고 두 입력의 정합을 점검합니다.</a:t>
            </a:r>
            <a:endParaRPr sz="1100"/>
          </a:p>
        </p:txBody>
      </p:sp>
      <p:sp>
        <p:nvSpPr>
          <p:cNvPr id="113" name="Google Shape;113;p17"/>
          <p:cNvSpPr txBox="1"/>
          <p:nvPr/>
        </p:nvSpPr>
        <p:spPr>
          <a:xfrm>
            <a:off x="617236" y="1604772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 로드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read_orthophoto() — 1~4밴드를 (H,W,3) uint8 RGB로 표준화, 2~98 백분위 정규화, CRS·Affine 보존</a:t>
            </a:r>
            <a:endParaRPr sz="1100"/>
          </a:p>
        </p:txBody>
      </p:sp>
      <p:sp>
        <p:nvSpPr>
          <p:cNvPr id="114" name="Google Shape;114;p17"/>
          <p:cNvSpPr txBox="1"/>
          <p:nvPr/>
        </p:nvSpPr>
        <p:spPr>
          <a:xfrm>
            <a:off x="617236" y="1988820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 로드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read_dsm() — 1밴드 float32 표고, NoData 값을 NaN으로 변환</a:t>
            </a:r>
            <a:endParaRPr sz="1100"/>
          </a:p>
        </p:txBody>
      </p:sp>
      <p:sp>
        <p:nvSpPr>
          <p:cNvPr id="115" name="Google Shape;115;p17"/>
          <p:cNvSpPr txBox="1"/>
          <p:nvPr/>
        </p:nvSpPr>
        <p:spPr>
          <a:xfrm>
            <a:off x="617236" y="237286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정합 검사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check_alignment() — 형상(행·열)·좌표계(CRS)·해상도 비율 점검</a:t>
            </a:r>
            <a:endParaRPr sz="1100"/>
          </a:p>
        </p:txBody>
      </p:sp>
      <p:sp>
        <p:nvSpPr>
          <p:cNvPr id="116" name="Google Shape;116;p17"/>
          <p:cNvSpPr txBox="1"/>
          <p:nvPr/>
        </p:nvSpPr>
        <p:spPr>
          <a:xfrm>
            <a:off x="617236" y="2756915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정렬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불일치 시 resample_mask_to()로 추출 마스크를 DSM 격자에 리샘플</a:t>
            </a:r>
            <a:endParaRPr sz="1100"/>
          </a:p>
        </p:txBody>
      </p:sp>
      <p:sp>
        <p:nvSpPr>
          <p:cNvPr id="117" name="Google Shape;117;p17"/>
          <p:cNvSpPr/>
          <p:nvPr/>
        </p:nvSpPr>
        <p:spPr>
          <a:xfrm>
            <a:off x="617236" y="3168396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7F1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◆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입력은 GeoTIFF·VRT 등 GDAL 지원 포맷. 좌표계·해상도가 달라도 자동으로 정렬합니다.</a:t>
            </a:r>
            <a:endParaRPr sz="1100"/>
          </a:p>
        </p:txBody>
      </p:sp>
      <p:sp>
        <p:nvSpPr>
          <p:cNvPr id="118" name="Google Shape;118;p17"/>
          <p:cNvSpPr/>
          <p:nvPr/>
        </p:nvSpPr>
        <p:spPr>
          <a:xfrm>
            <a:off x="617236" y="3168396"/>
            <a:ext cx="48007" cy="41148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2 / 5</a:t>
            </a:r>
            <a:endParaRPr sz="1100"/>
          </a:p>
        </p:txBody>
      </p:sp>
      <p:sp>
        <p:nvSpPr>
          <p:cNvPr id="125" name="Google Shape;125;p18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SAM3로 건물·수목·자동차 추출</a:t>
            </a:r>
            <a:endParaRPr sz="1100"/>
          </a:p>
        </p:txBody>
      </p:sp>
      <p:sp>
        <p:nvSpPr>
          <p:cNvPr id="126" name="Google Shape;126;p18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28" name="Google Shape;128;p18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06</a:t>
            </a:r>
            <a:endParaRPr sz="1100"/>
          </a:p>
        </p:txBody>
      </p:sp>
      <p:sp>
        <p:nvSpPr>
          <p:cNvPr id="129" name="Google Shape;129;p18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sam3_extractor 모듈 — 텍스트 프롬프트 기반 세그멘테이션으로 지물 마스크와 신뢰도를 추출합니다.</a:t>
            </a:r>
            <a:endParaRPr sz="1100"/>
          </a:p>
        </p:txBody>
      </p:sp>
      <p:sp>
        <p:nvSpPr>
          <p:cNvPr id="130" name="Google Shape;130;p18"/>
          <p:cNvSpPr txBox="1"/>
          <p:nvPr/>
        </p:nvSpPr>
        <p:spPr>
          <a:xfrm>
            <a:off x="617236" y="1604772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타일 추론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대형 영상을 2048px 타일·256px 오버랩으로 분할 추론 — 대용량도 메모리 한계 없이 처리</a:t>
            </a:r>
            <a:endParaRPr sz="1100"/>
          </a:p>
        </p:txBody>
      </p:sp>
      <p:sp>
        <p:nvSpPr>
          <p:cNvPr id="131" name="Google Shape;131;p18"/>
          <p:cNvSpPr txBox="1"/>
          <p:nvPr/>
        </p:nvSpPr>
        <p:spPr>
          <a:xfrm>
            <a:off x="617236" y="1988820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텍스트 프롬프트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building·rooftop / tree·vegetation / car·vehicle 등 클래스별 프롬프트로 마스크+신뢰도 산출</a:t>
            </a:r>
            <a:endParaRPr sz="1100"/>
          </a:p>
        </p:txBody>
      </p:sp>
      <p:sp>
        <p:nvSpPr>
          <p:cNvPr id="132" name="Google Shape;132;p18"/>
          <p:cNvSpPr txBox="1"/>
          <p:nvPr/>
        </p:nvSpPr>
        <p:spPr>
          <a:xfrm>
            <a:off x="617236" y="237286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신뢰도 병합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타일 겹침 영역은 최고 신뢰도 우선(max_confidence)으로 통합</a:t>
            </a:r>
            <a:endParaRPr sz="1100"/>
          </a:p>
        </p:txBody>
      </p:sp>
      <p:sp>
        <p:nvSpPr>
          <p:cNvPr id="133" name="Google Shape;133;p18"/>
          <p:cNvSpPr txBox="1"/>
          <p:nvPr/>
        </p:nvSpPr>
        <p:spPr>
          <a:xfrm>
            <a:off x="617236" y="2756915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엔진 자동 선택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sam3.pt 체크포인트가 있으면 실모델, 없으면 결정적 스텁 엔진으로 데모 동작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3 / 5</a:t>
            </a:r>
            <a:endParaRPr sz="1100"/>
          </a:p>
        </p:txBody>
      </p:sp>
      <p:sp>
        <p:nvSpPr>
          <p:cNvPr id="140" name="Google Shape;140;p19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DSM에서 추출 객체 제거</a:t>
            </a:r>
            <a:endParaRPr sz="1100"/>
          </a:p>
        </p:txBody>
      </p:sp>
      <p:sp>
        <p:nvSpPr>
          <p:cNvPr id="141" name="Google Shape;141;p19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43" name="Google Shape;143;p19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07</a:t>
            </a:r>
            <a:endParaRPr sz="1100"/>
          </a:p>
        </p:txBody>
      </p:sp>
      <p:sp>
        <p:nvSpPr>
          <p:cNvPr id="144" name="Google Shape;144;p19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dem_generator.fuse_removal_mask() — 클래스별 마스크를 융합해 최종 제거 마스크를 만듭니다.</a:t>
            </a:r>
            <a:endParaRPr sz="1100"/>
          </a:p>
        </p:txBody>
      </p:sp>
      <p:sp>
        <p:nvSpPr>
          <p:cNvPr id="145" name="Google Shape;145;p19"/>
          <p:cNvSpPr txBox="1"/>
          <p:nvPr/>
        </p:nvSpPr>
        <p:spPr>
          <a:xfrm>
            <a:off x="617236" y="1604772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신뢰도 임계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건물은 신뢰도 ≥ 0.50만 채택, 수목·자동차는 추출 마스크를 그대로 사용</a:t>
            </a:r>
            <a:endParaRPr sz="1100"/>
          </a:p>
        </p:txBody>
      </p:sp>
      <p:sp>
        <p:nvSpPr>
          <p:cNvPr id="146" name="Google Shape;146;p19"/>
          <p:cNvSpPr txBox="1"/>
          <p:nvPr/>
        </p:nvSpPr>
        <p:spPr>
          <a:xfrm>
            <a:off x="617236" y="1988820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경계 팽창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dilation_px = 1 — 객체 외곽 누락을 막기 위해 제거 경계를 1px 확장</a:t>
            </a:r>
            <a:endParaRPr sz="1100"/>
          </a:p>
        </p:txBody>
      </p:sp>
      <p:sp>
        <p:nvSpPr>
          <p:cNvPr id="147" name="Google Shape;147;p19"/>
          <p:cNvSpPr txBox="1"/>
          <p:nvPr/>
        </p:nvSpPr>
        <p:spPr>
          <a:xfrm>
            <a:off x="617236" y="237286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제거 마스크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(고신뢰 건물 ∪ 수목 ∪ 자동차) = 최종 removal_mask</a:t>
            </a:r>
            <a:endParaRPr sz="1100"/>
          </a:p>
        </p:txBody>
      </p:sp>
      <p:sp>
        <p:nvSpPr>
          <p:cNvPr id="148" name="Google Shape;148;p19"/>
          <p:cNvSpPr txBox="1"/>
          <p:nvPr/>
        </p:nvSpPr>
        <p:spPr>
          <a:xfrm>
            <a:off x="617236" y="2756915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NoData 처리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removal_mask 영역을 NaN으로 → &lt;dsm&gt;_pg_nodata.tif 중간 산출물로 저장</a:t>
            </a:r>
            <a:endParaRPr sz="1100"/>
          </a:p>
        </p:txBody>
      </p:sp>
      <p:sp>
        <p:nvSpPr>
          <p:cNvPr id="149" name="Google Shape;149;p19"/>
          <p:cNvSpPr/>
          <p:nvPr/>
        </p:nvSpPr>
        <p:spPr>
          <a:xfrm>
            <a:off x="617236" y="3168396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3F1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0F7B6C"/>
                </a:solidFill>
                <a:latin typeface="Noto Sans KR"/>
                <a:ea typeface="Noto Sans KR"/>
                <a:cs typeface="Noto Sans KR"/>
                <a:sym typeface="Noto Sans KR"/>
              </a:rPr>
              <a:t>✔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추출한 건물·수목·자동차 경계는 동시에 셰이프파일(.shp)로 내보내 GIS에서 검증할 수 있습니다.</a:t>
            </a:r>
            <a:endParaRPr sz="1100"/>
          </a:p>
        </p:txBody>
      </p:sp>
      <p:sp>
        <p:nvSpPr>
          <p:cNvPr id="150" name="Google Shape;150;p19"/>
          <p:cNvSpPr/>
          <p:nvPr/>
        </p:nvSpPr>
        <p:spPr>
          <a:xfrm>
            <a:off x="617236" y="3168396"/>
            <a:ext cx="48007" cy="41148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4 / 5</a:t>
            </a:r>
            <a:endParaRPr sz="1100"/>
          </a:p>
        </p:txBody>
      </p:sp>
      <p:sp>
        <p:nvSpPr>
          <p:cNvPr id="157" name="Google Shape;157;p20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GDAL 보간으로 DEM 생성</a:t>
            </a:r>
            <a:endParaRPr sz="1100"/>
          </a:p>
        </p:txBody>
      </p:sp>
      <p:sp>
        <p:nvSpPr>
          <p:cNvPr id="158" name="Google Shape;158;p20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60" name="Google Shape;160;p20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08</a:t>
            </a:r>
            <a:endParaRPr sz="1100"/>
          </a:p>
        </p:txBody>
      </p:sp>
      <p:sp>
        <p:nvSpPr>
          <p:cNvPr id="161" name="Google Shape;161;p20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dem_generator.interpolate_dem() — 제거 영역과 원본 NoData를 채워 연속적인 지형면을 생성합니다.</a:t>
            </a:r>
            <a:endParaRPr sz="1100"/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617236" y="16047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{42AADE43-5EBC-4259-8172-A036047B30FA}</a:tableStyleId>
              </a:tblPr>
              <a:tblGrid>
                <a:gridCol w="2098425"/>
                <a:gridCol w="1937025"/>
                <a:gridCol w="3874050"/>
              </a:tblGrid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보간 방법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238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엔진 / 근거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238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특징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2383E2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37352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FillNodata (권장)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rasterio.fill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4방향 탐색 가중 보간 · 빠르고 안정적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37352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IDW (역거리가중)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거리 역수 평균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반경 내 유효 픽셀 가중 · 계산량 중간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37352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TIN (자연근방)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scipy LinearND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삼각분할 기반 · 정확하나 느림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37352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RBF (Thin-plate)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scipy RBF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7877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매끄러움 · 대규모는 IDW로 자동 폴백</a:t>
                      </a:r>
                      <a:endParaRPr sz="1100"/>
                    </a:p>
                  </a:txBody>
                  <a:tcPr marT="27425" marB="27425" marR="68600" marL="82300" anchor="ctr">
                    <a:solidFill>
                      <a:srgbClr val="F7F6F3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20"/>
          <p:cNvSpPr/>
          <p:nvPr/>
        </p:nvSpPr>
        <p:spPr>
          <a:xfrm>
            <a:off x="617236" y="3223260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7F1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◆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거리 max_search_distance = 100px, 평활 반복 0~20 으로 결과를 조정할 수 있습니다.</a:t>
            </a:r>
            <a:endParaRPr sz="1100"/>
          </a:p>
        </p:txBody>
      </p:sp>
      <p:sp>
        <p:nvSpPr>
          <p:cNvPr id="164" name="Google Shape;164;p20"/>
          <p:cNvSpPr/>
          <p:nvPr/>
        </p:nvSpPr>
        <p:spPr>
          <a:xfrm>
            <a:off x="617236" y="3223260"/>
            <a:ext cx="48007" cy="41148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5 / 5</a:t>
            </a:r>
            <a:endParaRPr sz="1100"/>
          </a:p>
        </p:txBody>
      </p:sp>
      <p:sp>
        <p:nvSpPr>
          <p:cNvPr id="171" name="Google Shape;171;p21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DEM 품질 검사 및 GeoTIFF 저장</a:t>
            </a:r>
            <a:endParaRPr sz="1100"/>
          </a:p>
        </p:txBody>
      </p:sp>
      <p:sp>
        <p:nvSpPr>
          <p:cNvPr id="172" name="Google Shape;172;p21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74" name="Google Shape;174;p21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09</a:t>
            </a:r>
            <a:endParaRPr sz="1100"/>
          </a:p>
        </p:txBody>
      </p:sp>
      <p:sp>
        <p:nvSpPr>
          <p:cNvPr id="175" name="Google Shape;175;p21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dem_generator.qa_dem() — 보간 결과를 정량 지표로 평가해 등급을 매기고, raster_io.write_dem()으로 저장합니다.</a:t>
            </a:r>
            <a:endParaRPr sz="1100"/>
          </a:p>
        </p:txBody>
      </p:sp>
      <p:sp>
        <p:nvSpPr>
          <p:cNvPr id="176" name="Google Shape;176;p21"/>
          <p:cNvSpPr/>
          <p:nvPr/>
        </p:nvSpPr>
        <p:spPr>
          <a:xfrm>
            <a:off x="617236" y="1604772"/>
            <a:ext cx="2535927" cy="788670"/>
          </a:xfrm>
          <a:prstGeom prst="roundRect">
            <a:avLst>
              <a:gd fmla="val 8000" name="adj"/>
            </a:avLst>
          </a:prstGeom>
          <a:solidFill>
            <a:srgbClr val="E3F1E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0F7B6C"/>
                </a:solidFill>
                <a:latin typeface="Noto Sans KR"/>
                <a:ea typeface="Noto Sans KR"/>
                <a:cs typeface="Noto Sans KR"/>
                <a:sym typeface="Noto Sans KR"/>
              </a:rPr>
              <a:t>PASS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정상 · 모든 지표 통과</a:t>
            </a:r>
            <a:endParaRPr sz="1100"/>
          </a:p>
        </p:txBody>
      </p:sp>
      <p:sp>
        <p:nvSpPr>
          <p:cNvPr id="177" name="Google Shape;177;p21"/>
          <p:cNvSpPr/>
          <p:nvPr/>
        </p:nvSpPr>
        <p:spPr>
          <a:xfrm>
            <a:off x="3304044" y="1604772"/>
            <a:ext cx="2535927" cy="788670"/>
          </a:xfrm>
          <a:prstGeom prst="roundRect">
            <a:avLst>
              <a:gd fmla="val 8000" name="adj"/>
            </a:avLst>
          </a:prstGeom>
          <a:solidFill>
            <a:srgbClr val="FBF0E3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CB7B26"/>
                </a:solidFill>
                <a:latin typeface="Noto Sans KR"/>
                <a:ea typeface="Noto Sans KR"/>
                <a:cs typeface="Noto Sans KR"/>
                <a:sym typeface="Noto Sans KR"/>
              </a:rPr>
              <a:t>WARNING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주의 · 경계/스파이크 점검</a:t>
            </a:r>
            <a:endParaRPr sz="1100"/>
          </a:p>
        </p:txBody>
      </p:sp>
      <p:sp>
        <p:nvSpPr>
          <p:cNvPr id="178" name="Google Shape;178;p21"/>
          <p:cNvSpPr/>
          <p:nvPr/>
        </p:nvSpPr>
        <p:spPr>
          <a:xfrm>
            <a:off x="5990851" y="1604772"/>
            <a:ext cx="2535927" cy="788670"/>
          </a:xfrm>
          <a:prstGeom prst="roundRect">
            <a:avLst>
              <a:gd fmla="val 8000" name="adj"/>
            </a:avLst>
          </a:prstGeom>
          <a:solidFill>
            <a:srgbClr val="FBE4E4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E03E3E"/>
                </a:solidFill>
                <a:latin typeface="Noto Sans KR"/>
                <a:ea typeface="Noto Sans KR"/>
                <a:cs typeface="Noto Sans KR"/>
                <a:sym typeface="Noto Sans KR"/>
              </a:rPr>
              <a:t>FAIL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불합격 · 재처리 필요</a:t>
            </a:r>
            <a:endParaRPr sz="1100"/>
          </a:p>
        </p:txBody>
      </p:sp>
      <p:sp>
        <p:nvSpPr>
          <p:cNvPr id="179" name="Google Shape;179;p21"/>
          <p:cNvSpPr txBox="1"/>
          <p:nvPr/>
        </p:nvSpPr>
        <p:spPr>
          <a:xfrm>
            <a:off x="617236" y="2530601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경사 연속성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제거 경계 전후 경사 비율 — 0.5 미만이면 FAIL</a:t>
            </a:r>
            <a:endParaRPr sz="1100"/>
          </a:p>
        </p:txBody>
      </p:sp>
      <p:sp>
        <p:nvSpPr>
          <p:cNvPr id="180" name="Google Shape;180;p21"/>
          <p:cNvSpPr txBox="1"/>
          <p:nvPr/>
        </p:nvSpPr>
        <p:spPr>
          <a:xfrm>
            <a:off x="617236" y="2887217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스파이크·싱크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6σ 초과 고점 / 고립 저점 개수로 이상 진단</a:t>
            </a:r>
            <a:endParaRPr sz="1100"/>
          </a:p>
        </p:txBody>
      </p:sp>
      <p:sp>
        <p:nvSpPr>
          <p:cNvPr id="181" name="Google Shape;181;p21"/>
          <p:cNvSpPr txBox="1"/>
          <p:nvPr/>
        </p:nvSpPr>
        <p:spPr>
          <a:xfrm>
            <a:off x="617236" y="3243833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NoData 잔여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미채움 픽셀 비율이 0.5% 초과면 FAIL</a:t>
            </a:r>
            <a:endParaRPr sz="1100"/>
          </a:p>
        </p:txBody>
      </p:sp>
      <p:sp>
        <p:nvSpPr>
          <p:cNvPr id="182" name="Google Shape;182;p21"/>
          <p:cNvSpPr txBox="1"/>
          <p:nvPr/>
        </p:nvSpPr>
        <p:spPr>
          <a:xfrm>
            <a:off x="617236" y="3600449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산출물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_dem.tif(보간) · _dem_final.tif(최종) · sidecar .json · 경계 SHP 3종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기능</a:t>
            </a:r>
            <a:endParaRPr sz="1100"/>
          </a:p>
        </p:txBody>
      </p:sp>
      <p:sp>
        <p:nvSpPr>
          <p:cNvPr id="189" name="Google Shape;189;p22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지도 표시 — 인터랙티브 웹지도</a:t>
            </a:r>
            <a:endParaRPr sz="1100"/>
          </a:p>
        </p:txBody>
      </p:sp>
      <p:sp>
        <p:nvSpPr>
          <p:cNvPr id="190" name="Google Shape;190;p22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192" name="Google Shape;192;p22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 sz="1100"/>
          </a:p>
        </p:txBody>
      </p:sp>
      <p:sp>
        <p:nvSpPr>
          <p:cNvPr id="193" name="Google Shape;193;p22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ui/map_view.py — Leafmap(folium) 기반 Leaflet 지도를 QWebEngineView에 렌더링합니다.</a:t>
            </a:r>
            <a:endParaRPr sz="1100"/>
          </a:p>
        </p:txBody>
      </p:sp>
      <p:sp>
        <p:nvSpPr>
          <p:cNvPr id="194" name="Google Shape;194;p22"/>
          <p:cNvSpPr txBox="1"/>
          <p:nvPr/>
        </p:nvSpPr>
        <p:spPr>
          <a:xfrm>
            <a:off x="617236" y="1604772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레이어 토글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정사영상(RGB) · DSM · DEM(terrain 컬러맵) · 건물/수목/자동차 경계 SHP를 체크박스로 on/off</a:t>
            </a:r>
            <a:endParaRPr sz="1100"/>
          </a:p>
        </p:txBody>
      </p:sp>
      <p:sp>
        <p:nvSpPr>
          <p:cNvPr id="195" name="Google Shape;195;p22"/>
          <p:cNvSpPr txBox="1"/>
          <p:nvPr/>
        </p:nvSpPr>
        <p:spPr>
          <a:xfrm>
            <a:off x="617236" y="1988820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배경지도 5종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Google Hybrid·Satellite, VWorld 위성·일반, OpenStreetMap</a:t>
            </a:r>
            <a:endParaRPr sz="1100"/>
          </a:p>
        </p:txBody>
      </p:sp>
      <p:sp>
        <p:nvSpPr>
          <p:cNvPr id="196" name="Google Shape;196;p22"/>
          <p:cNvSpPr txBox="1"/>
          <p:nvPr/>
        </p:nvSpPr>
        <p:spPr>
          <a:xfrm>
            <a:off x="617236" y="237286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좌표 통합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rasterio transform_bounds로 모든 레이어를 EPSG:4326으로 정렬하고 데이터 범위에 맞춰 fit</a:t>
            </a:r>
            <a:endParaRPr sz="1100"/>
          </a:p>
        </p:txBody>
      </p:sp>
      <p:sp>
        <p:nvSpPr>
          <p:cNvPr id="197" name="Google Shape;197;p22"/>
          <p:cNvSpPr/>
          <p:nvPr/>
        </p:nvSpPr>
        <p:spPr>
          <a:xfrm>
            <a:off x="617236" y="2784347"/>
            <a:ext cx="2545071" cy="411480"/>
          </a:xfrm>
          <a:prstGeom prst="roundRect">
            <a:avLst>
              <a:gd fmla="val 12000" name="adj"/>
            </a:avLst>
          </a:prstGeom>
          <a:solidFill>
            <a:srgbClr val="FF3B30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617236" y="3236975"/>
            <a:ext cx="254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건물 경계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#FF3B30</a:t>
            </a:r>
            <a:endParaRPr sz="1100"/>
          </a:p>
        </p:txBody>
      </p:sp>
      <p:sp>
        <p:nvSpPr>
          <p:cNvPr id="199" name="Google Shape;199;p22"/>
          <p:cNvSpPr/>
          <p:nvPr/>
        </p:nvSpPr>
        <p:spPr>
          <a:xfrm>
            <a:off x="3299471" y="2784347"/>
            <a:ext cx="2545071" cy="411480"/>
          </a:xfrm>
          <a:prstGeom prst="roundRect">
            <a:avLst>
              <a:gd fmla="val 12000" name="adj"/>
            </a:avLst>
          </a:prstGeom>
          <a:solidFill>
            <a:srgbClr val="2E7D32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3299471" y="3236975"/>
            <a:ext cx="254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수목 경계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#2E7D32</a:t>
            </a:r>
            <a:endParaRPr sz="1100"/>
          </a:p>
        </p:txBody>
      </p:sp>
      <p:sp>
        <p:nvSpPr>
          <p:cNvPr id="201" name="Google Shape;201;p22"/>
          <p:cNvSpPr/>
          <p:nvPr/>
        </p:nvSpPr>
        <p:spPr>
          <a:xfrm>
            <a:off x="5981706" y="2784347"/>
            <a:ext cx="2545071" cy="411480"/>
          </a:xfrm>
          <a:prstGeom prst="roundRect">
            <a:avLst>
              <a:gd fmla="val 12000" name="adj"/>
            </a:avLst>
          </a:prstGeom>
          <a:solidFill>
            <a:srgbClr val="FF9800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5981706" y="3236975"/>
            <a:ext cx="25450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자동차 경계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#FF9800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솔루션 연계</a:t>
            </a:r>
            <a:endParaRPr sz="1100"/>
          </a:p>
        </p:txBody>
      </p:sp>
      <p:sp>
        <p:nvSpPr>
          <p:cNvPr id="209" name="Google Shape;209;p23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세 기능의 연계 흐름</a:t>
            </a:r>
            <a:endParaRPr sz="1100"/>
          </a:p>
        </p:txBody>
      </p:sp>
      <p:sp>
        <p:nvSpPr>
          <p:cNvPr id="210" name="Google Shape;210;p23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212" name="Google Shape;212;p23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 sz="1100"/>
          </a:p>
        </p:txBody>
      </p:sp>
      <p:sp>
        <p:nvSpPr>
          <p:cNvPr id="213" name="Google Shape;213;p23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DSM→DEM 변환을 중심으로 — 학습(파인튜닝)이 추출 정확도를 끌어올려 DEM 보완 정확도를 높이고, 변환에 쓴 DSM 원본은 그늘막 최적입지 분석의 기초 입력으로 재활용됩니다.</a:t>
            </a:r>
            <a:endParaRPr sz="1100"/>
          </a:p>
        </p:txBody>
      </p:sp>
      <p:pic>
        <p:nvPicPr>
          <p:cNvPr descr="integration_flow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635" y="1837944"/>
            <a:ext cx="7156553" cy="275691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617236" y="4636008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8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파인튜닝 → 변환 정확도 최적화 · DEM 보완 정확도 향상 · DSM 원본 → 그늘막 분석 기초 입력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확장 기능 · 정확도 최적화</a:t>
            </a:r>
            <a:endParaRPr sz="1100"/>
          </a:p>
        </p:txBody>
      </p:sp>
      <p:sp>
        <p:nvSpPr>
          <p:cNvPr id="222" name="Google Shape;222;p24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— SAM3 파인튜닝으로 추출 정확도 향상</a:t>
            </a:r>
            <a:endParaRPr sz="1100"/>
          </a:p>
        </p:txBody>
      </p:sp>
      <p:sp>
        <p:nvSpPr>
          <p:cNvPr id="223" name="Google Shape;223;p24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225" name="Google Shape;225;p24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  <a:endParaRPr sz="1100"/>
          </a:p>
        </p:txBody>
      </p:sp>
      <p:sp>
        <p:nvSpPr>
          <p:cNvPr id="226" name="Google Shape;226;p24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라벨된 정사영상으로 SAM3 가중치를 파인튜닝합니다. 추출이 정확해질수록 객체 제거·보간 품질이 올라가 결과 DEM의 보완 정확도가 향상됩니다.</a:t>
            </a:r>
            <a:endParaRPr sz="1100"/>
          </a:p>
        </p:txBody>
      </p:sp>
      <p:sp>
        <p:nvSpPr>
          <p:cNvPr id="227" name="Google Shape;227;p24"/>
          <p:cNvSpPr txBox="1"/>
          <p:nvPr/>
        </p:nvSpPr>
        <p:spPr>
          <a:xfrm>
            <a:off x="617236" y="1604772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 · 데이터셋 준비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정사영상을 ~1008px 타일로 분할, 건물·수목·자동차 경계 셰이프파일을 COCO 라벨로 변환 → train/test 생성</a:t>
            </a:r>
            <a:endParaRPr sz="1100"/>
          </a:p>
        </p:txBody>
      </p:sp>
      <p:sp>
        <p:nvSpPr>
          <p:cNvPr id="228" name="Google Shape;228;p24"/>
          <p:cNvSpPr txBox="1"/>
          <p:nvPr/>
        </p:nvSpPr>
        <p:spPr>
          <a:xfrm>
            <a:off x="617236" y="1988820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 · 학습 실행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단일 데이터셋 config 생성 후 파인튜닝(epoch·batch·해상도·GPU·경계마스크 학습), TensorBoard 모니터링</a:t>
            </a:r>
            <a:endParaRPr sz="1100"/>
          </a:p>
        </p:txBody>
      </p:sp>
      <p:sp>
        <p:nvSpPr>
          <p:cNvPr id="229" name="Google Shape;229;p24"/>
          <p:cNvSpPr txBox="1"/>
          <p:nvPr/>
        </p:nvSpPr>
        <p:spPr>
          <a:xfrm>
            <a:off x="617236" y="237286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3단계 · 체크포인트 적용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학습된 .pt 를 sam3.pt 교체 또는 SAM3_CHECKPOINT 환경변수로 추론 엔진에 연결</a:t>
            </a:r>
            <a:endParaRPr sz="1100"/>
          </a:p>
        </p:txBody>
      </p:sp>
      <p:sp>
        <p:nvSpPr>
          <p:cNvPr id="230" name="Google Shape;230;p24"/>
          <p:cNvSpPr/>
          <p:nvPr/>
        </p:nvSpPr>
        <p:spPr>
          <a:xfrm>
            <a:off x="617236" y="2784347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7F1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◆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파인튜닝 → SAM3 추출 정확도 ↑ → 객체 제거·보간 정확도 ↑ → DEM 보완 정확도 향상</a:t>
            </a:r>
            <a:endParaRPr sz="1100"/>
          </a:p>
        </p:txBody>
      </p:sp>
      <p:sp>
        <p:nvSpPr>
          <p:cNvPr id="231" name="Google Shape;231;p24"/>
          <p:cNvSpPr/>
          <p:nvPr/>
        </p:nvSpPr>
        <p:spPr>
          <a:xfrm>
            <a:off x="617236" y="2784347"/>
            <a:ext cx="48007" cy="411480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확장 기능 · DSM 재활용</a:t>
            </a:r>
            <a:endParaRPr sz="1100"/>
          </a:p>
        </p:txBody>
      </p:sp>
      <p:sp>
        <p:nvSpPr>
          <p:cNvPr id="238" name="Google Shape;238;p25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그늘막 최적입지 분석 — DSM 원본 활용</a:t>
            </a:r>
            <a:endParaRPr sz="1100"/>
          </a:p>
        </p:txBody>
      </p:sp>
      <p:sp>
        <p:nvSpPr>
          <p:cNvPr id="239" name="Google Shape;239;p25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241" name="Google Shape;241;p25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 sz="1100"/>
          </a:p>
        </p:txBody>
      </p:sp>
      <p:sp>
        <p:nvSpPr>
          <p:cNvPr id="242" name="Google Shape;242;p25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변환에 사용한 DSM 원본을 그대로 재활용해 여름 그늘막 설치 우선 입지를 도출합니다. DSM·건물 footprint 기반 '자연그늘(건물 그림자)'이 핵심 입력입니다.</a:t>
            </a:r>
            <a:endParaRPr sz="1100"/>
          </a:p>
        </p:txBody>
      </p:sp>
      <p:sp>
        <p:nvSpPr>
          <p:cNvPr id="243" name="Google Shape;243;p25"/>
          <p:cNvSpPr txBox="1"/>
          <p:nvPr/>
        </p:nvSpPr>
        <p:spPr>
          <a:xfrm>
            <a:off x="617236" y="1837944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다변수 MCDA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동작구 100m 격자 3,672개 · 7개 피처(유동인구·지표온도·취약계층·기존그늘막·자연그늘·거리뷰결핍·교차로) 가중합</a:t>
            </a:r>
            <a:endParaRPr sz="1100"/>
          </a:p>
        </p:txBody>
      </p:sp>
      <p:sp>
        <p:nvSpPr>
          <p:cNvPr id="244" name="Google Shape;244;p25"/>
          <p:cNvSpPr txBox="1"/>
          <p:nvPr/>
        </p:nvSpPr>
        <p:spPr>
          <a:xfrm>
            <a:off x="617236" y="2194560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 기초 입력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DSM·건물 footprint로 오후 태양위치(고도 52°·방위 252°) 그림자를 시뮬레이션 → 자연그늘 피처</a:t>
            </a:r>
            <a:endParaRPr sz="1100"/>
          </a:p>
        </p:txBody>
      </p:sp>
      <p:sp>
        <p:nvSpPr>
          <p:cNvPr id="245" name="Google Shape;245;p25"/>
          <p:cNvSpPr txBox="1"/>
          <p:nvPr/>
        </p:nvSpPr>
        <p:spPr>
          <a:xfrm>
            <a:off x="617236" y="2551176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정책 시나리오 6종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기본·고령자·폭염·유동인구·보행환경·교차로 — 모든 시나리오 공통 추천이 강건 입지</a:t>
            </a:r>
            <a:endParaRPr sz="1100"/>
          </a:p>
        </p:txBody>
      </p:sp>
      <p:sp>
        <p:nvSpPr>
          <p:cNvPr id="246" name="Google Shape;246;p25"/>
          <p:cNvSpPr txBox="1"/>
          <p:nvPr/>
        </p:nvSpPr>
        <p:spPr>
          <a:xfrm>
            <a:off x="617236" y="2907792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산출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Folium 추천 지도(위성 배경지도 전환)·TOP 표·집중구역 검증·설치 근거</a:t>
            </a:r>
            <a:endParaRPr sz="1100"/>
          </a:p>
        </p:txBody>
      </p:sp>
      <p:sp>
        <p:nvSpPr>
          <p:cNvPr id="247" name="Google Shape;247;p25"/>
          <p:cNvSpPr/>
          <p:nvPr/>
        </p:nvSpPr>
        <p:spPr>
          <a:xfrm>
            <a:off x="617236" y="3291840"/>
            <a:ext cx="7909542" cy="411480"/>
          </a:xfrm>
          <a:prstGeom prst="roundRect">
            <a:avLst>
              <a:gd fmla="val 8000" name="adj"/>
            </a:avLst>
          </a:prstGeom>
          <a:solidFill>
            <a:srgbClr val="E3F1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0F7B6C"/>
                </a:solidFill>
                <a:latin typeface="Noto Sans KR"/>
                <a:ea typeface="Noto Sans KR"/>
                <a:cs typeface="Noto Sans KR"/>
                <a:sym typeface="Noto Sans KR"/>
              </a:rPr>
              <a:t>✔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 원본 = 그늘막 분석의 기초 입력 — 변환 자산을 도시 정책 분석으로 확장</a:t>
            </a:r>
            <a:endParaRPr sz="1100"/>
          </a:p>
        </p:txBody>
      </p:sp>
      <p:sp>
        <p:nvSpPr>
          <p:cNvPr id="248" name="Google Shape;248;p25"/>
          <p:cNvSpPr/>
          <p:nvPr/>
        </p:nvSpPr>
        <p:spPr>
          <a:xfrm>
            <a:off x="617236" y="3291840"/>
            <a:ext cx="48007" cy="41148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디자인</a:t>
            </a:r>
            <a:endParaRPr sz="1100"/>
          </a:p>
        </p:txBody>
      </p:sp>
      <p:sp>
        <p:nvSpPr>
          <p:cNvPr id="255" name="Google Shape;255;p26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노션 스타일 UI/UX</a:t>
            </a:r>
            <a:endParaRPr sz="1100"/>
          </a:p>
        </p:txBody>
      </p:sp>
      <p:sp>
        <p:nvSpPr>
          <p:cNvPr id="256" name="Google Shape;256;p26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258" name="Google Shape;258;p26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  <a:endParaRPr sz="1100"/>
          </a:p>
        </p:txBody>
      </p:sp>
      <p:sp>
        <p:nvSpPr>
          <p:cNvPr id="259" name="Google Shape;259;p26"/>
          <p:cNvSpPr txBox="1"/>
          <p:nvPr/>
        </p:nvSpPr>
        <p:spPr>
          <a:xfrm>
            <a:off x="617236" y="1261872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ui/theme.py Palette — 순백 배경·얇은 보더·단일 액센트로 복잡성을 숨긴 깔끔한 인터페이스.</a:t>
            </a:r>
            <a:endParaRPr sz="1100"/>
          </a:p>
        </p:txBody>
      </p:sp>
      <p:sp>
        <p:nvSpPr>
          <p:cNvPr id="260" name="Google Shape;260;p26"/>
          <p:cNvSpPr/>
          <p:nvPr/>
        </p:nvSpPr>
        <p:spPr>
          <a:xfrm>
            <a:off x="617236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2383E2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617236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ACCENT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노션 블루</a:t>
            </a:r>
            <a:endParaRPr sz="1100"/>
          </a:p>
        </p:txBody>
      </p:sp>
      <p:sp>
        <p:nvSpPr>
          <p:cNvPr id="262" name="Google Shape;262;p26"/>
          <p:cNvSpPr/>
          <p:nvPr/>
        </p:nvSpPr>
        <p:spPr>
          <a:xfrm>
            <a:off x="1958354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37352F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 txBox="1"/>
          <p:nvPr/>
        </p:nvSpPr>
        <p:spPr>
          <a:xfrm>
            <a:off x="1958354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TEXT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본문</a:t>
            </a:r>
            <a:endParaRPr sz="1100"/>
          </a:p>
        </p:txBody>
      </p:sp>
      <p:sp>
        <p:nvSpPr>
          <p:cNvPr id="264" name="Google Shape;264;p26"/>
          <p:cNvSpPr/>
          <p:nvPr/>
        </p:nvSpPr>
        <p:spPr>
          <a:xfrm>
            <a:off x="3299471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F7F6F3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3299471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PANEL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패널</a:t>
            </a:r>
            <a:endParaRPr sz="1100"/>
          </a:p>
        </p:txBody>
      </p:sp>
      <p:sp>
        <p:nvSpPr>
          <p:cNvPr id="266" name="Google Shape;266;p26"/>
          <p:cNvSpPr/>
          <p:nvPr/>
        </p:nvSpPr>
        <p:spPr>
          <a:xfrm>
            <a:off x="4640589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0F7B6C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4640589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GREEN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성공</a:t>
            </a:r>
            <a:endParaRPr sz="1100"/>
          </a:p>
        </p:txBody>
      </p:sp>
      <p:sp>
        <p:nvSpPr>
          <p:cNvPr id="268" name="Google Shape;268;p26"/>
          <p:cNvSpPr/>
          <p:nvPr/>
        </p:nvSpPr>
        <p:spPr>
          <a:xfrm>
            <a:off x="5981706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CB7B26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5981706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AMBER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경고</a:t>
            </a:r>
            <a:endParaRPr sz="1100"/>
          </a:p>
        </p:txBody>
      </p:sp>
      <p:sp>
        <p:nvSpPr>
          <p:cNvPr id="270" name="Google Shape;270;p26"/>
          <p:cNvSpPr/>
          <p:nvPr/>
        </p:nvSpPr>
        <p:spPr>
          <a:xfrm>
            <a:off x="7322825" y="1604772"/>
            <a:ext cx="1203954" cy="452628"/>
          </a:xfrm>
          <a:prstGeom prst="roundRect">
            <a:avLst>
              <a:gd fmla="val 12000" name="adj"/>
            </a:avLst>
          </a:prstGeom>
          <a:solidFill>
            <a:srgbClr val="E03E3E"/>
          </a:solidFill>
          <a:ln cap="flat" cmpd="sng" w="9525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7322825" y="2098548"/>
            <a:ext cx="1203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RED</a:t>
            </a:r>
            <a:endParaRPr sz="1100"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600" u="none" cap="none" strike="noStrike">
                <a:solidFill>
                  <a:srgbClr val="9B9A97"/>
                </a:solidFill>
                <a:latin typeface="Consolas"/>
                <a:ea typeface="Consolas"/>
                <a:cs typeface="Consolas"/>
                <a:sym typeface="Consolas"/>
              </a:rPr>
              <a:t>실패</a:t>
            </a:r>
            <a:endParaRPr sz="1100"/>
          </a:p>
        </p:txBody>
      </p:sp>
      <p:sp>
        <p:nvSpPr>
          <p:cNvPr id="272" name="Google Shape;272;p26"/>
          <p:cNvSpPr txBox="1"/>
          <p:nvPr/>
        </p:nvSpPr>
        <p:spPr>
          <a:xfrm>
            <a:off x="617236" y="2468879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폰트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UI는 Segoe UI / Malgun Gothic, 본 발표자료는 Noto Sans KR</a:t>
            </a:r>
            <a:endParaRPr sz="1100"/>
          </a:p>
        </p:txBody>
      </p:sp>
      <p:sp>
        <p:nvSpPr>
          <p:cNvPr id="273" name="Google Shape;273;p26"/>
          <p:cNvSpPr txBox="1"/>
          <p:nvPr/>
        </p:nvSpPr>
        <p:spPr>
          <a:xfrm>
            <a:off x="617236" y="2825495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상태 시각화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QA 등급을 PASS / WARNING / FAIL 색상으로 즉시 표현</a:t>
            </a:r>
            <a:endParaRPr sz="1100"/>
          </a:p>
        </p:txBody>
      </p:sp>
      <p:sp>
        <p:nvSpPr>
          <p:cNvPr id="274" name="Google Shape;274;p26"/>
          <p:cNvSpPr txBox="1"/>
          <p:nvPr/>
        </p:nvSpPr>
        <p:spPr>
          <a:xfrm>
            <a:off x="617236" y="3182111"/>
            <a:ext cx="790954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깊이 표현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그림자 대신 1px 보더 + 6~8px 라운드 코너로 정돈된 계층감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617236" y="425196"/>
            <a:ext cx="79095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정리</a:t>
            </a:r>
            <a:endParaRPr sz="1100"/>
          </a:p>
        </p:txBody>
      </p:sp>
      <p:sp>
        <p:nvSpPr>
          <p:cNvPr id="281" name="Google Shape;281;p27"/>
          <p:cNvSpPr txBox="1"/>
          <p:nvPr/>
        </p:nvSpPr>
        <p:spPr>
          <a:xfrm>
            <a:off x="617236" y="658368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가치 및 산출물</a:t>
            </a:r>
            <a:endParaRPr sz="1100"/>
          </a:p>
        </p:txBody>
      </p:sp>
      <p:sp>
        <p:nvSpPr>
          <p:cNvPr id="282" name="Google Shape;282;p27"/>
          <p:cNvSpPr/>
          <p:nvPr/>
        </p:nvSpPr>
        <p:spPr>
          <a:xfrm>
            <a:off x="617236" y="1110996"/>
            <a:ext cx="7909542" cy="13335"/>
          </a:xfrm>
          <a:prstGeom prst="rect">
            <a:avLst/>
          </a:prstGeom>
          <a:solidFill>
            <a:srgbClr val="E9E9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617236" y="4855464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DSM → DEM Converter · SAM3 · GDAL</a:t>
            </a:r>
            <a:endParaRPr sz="1100"/>
          </a:p>
        </p:txBody>
      </p:sp>
      <p:sp>
        <p:nvSpPr>
          <p:cNvPr id="284" name="Google Shape;284;p27"/>
          <p:cNvSpPr txBox="1"/>
          <p:nvPr/>
        </p:nvSpPr>
        <p:spPr>
          <a:xfrm>
            <a:off x="7840960" y="485546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9B9A97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  <a:endParaRPr sz="1100"/>
          </a:p>
        </p:txBody>
      </p:sp>
      <p:sp>
        <p:nvSpPr>
          <p:cNvPr id="285" name="Google Shape;285;p27"/>
          <p:cNvSpPr/>
          <p:nvPr/>
        </p:nvSpPr>
        <p:spPr>
          <a:xfrm>
            <a:off x="617236" y="1261872"/>
            <a:ext cx="1833363" cy="126873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엔드투엔드 자동화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입력→추출→제거→보간→QA→저장을 사람 개입 없이 단일 실행</a:t>
            </a:r>
            <a:endParaRPr sz="1100"/>
          </a:p>
        </p:txBody>
      </p:sp>
      <p:sp>
        <p:nvSpPr>
          <p:cNvPr id="286" name="Google Shape;286;p27"/>
          <p:cNvSpPr/>
          <p:nvPr/>
        </p:nvSpPr>
        <p:spPr>
          <a:xfrm>
            <a:off x="2642629" y="1261872"/>
            <a:ext cx="1833363" cy="126873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타일 기반 확장성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2048px 타일 처리로 대용량 영상도 안정적으로 변환</a:t>
            </a:r>
            <a:endParaRPr sz="1100"/>
          </a:p>
        </p:txBody>
      </p:sp>
      <p:sp>
        <p:nvSpPr>
          <p:cNvPr id="287" name="Google Shape;287;p27"/>
          <p:cNvSpPr/>
          <p:nvPr/>
        </p:nvSpPr>
        <p:spPr>
          <a:xfrm>
            <a:off x="4668022" y="1261872"/>
            <a:ext cx="1833363" cy="126873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QA 정량화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경사연속성·스파이크·NoData를 등급(PASS/WARNING/FAIL)으로 표준화</a:t>
            </a:r>
            <a:endParaRPr sz="1100"/>
          </a:p>
        </p:txBody>
      </p:sp>
      <p:sp>
        <p:nvSpPr>
          <p:cNvPr id="288" name="Google Shape;288;p27"/>
          <p:cNvSpPr/>
          <p:nvPr/>
        </p:nvSpPr>
        <p:spPr>
          <a:xfrm>
            <a:off x="6693415" y="1261872"/>
            <a:ext cx="1833363" cy="126873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9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GIS 호환</a:t>
            </a:r>
            <a:endParaRPr sz="11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GeoTIFF DEM + 경계 SHP + 메타데이터 JSON 표준 산출</a:t>
            </a:r>
            <a:endParaRPr sz="1100"/>
          </a:p>
        </p:txBody>
      </p:sp>
      <p:sp>
        <p:nvSpPr>
          <p:cNvPr id="289" name="Google Shape;289;p27"/>
          <p:cNvSpPr txBox="1"/>
          <p:nvPr/>
        </p:nvSpPr>
        <p:spPr>
          <a:xfrm>
            <a:off x="617236" y="2681478"/>
            <a:ext cx="7909542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•  </a:t>
            </a:r>
            <a:r>
              <a:rPr b="1" i="0" lang="ko" sz="11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산출물  </a:t>
            </a:r>
            <a:r>
              <a:rPr b="0" i="0" lang="ko" sz="1100" u="none" cap="none" strike="noStrike">
                <a:solidFill>
                  <a:srgbClr val="787774"/>
                </a:solidFill>
                <a:latin typeface="Noto Sans KR"/>
                <a:ea typeface="Noto Sans KR"/>
                <a:cs typeface="Noto Sans KR"/>
                <a:sym typeface="Noto Sans KR"/>
              </a:rPr>
              <a:t>&lt;dsm&gt;_dem_final.tif · _dem.tif · _pg_nodata.tif · _nodata_bg.shp · sidecar .json · 건물/수목/자동차 .shp</a:t>
            </a:r>
            <a:endParaRPr sz="1100"/>
          </a:p>
        </p:txBody>
      </p:sp>
      <p:sp>
        <p:nvSpPr>
          <p:cNvPr id="290" name="Google Shape;290;p27"/>
          <p:cNvSpPr/>
          <p:nvPr/>
        </p:nvSpPr>
        <p:spPr>
          <a:xfrm>
            <a:off x="617236" y="3092958"/>
            <a:ext cx="7909542" cy="617219"/>
          </a:xfrm>
          <a:prstGeom prst="roundRect">
            <a:avLst>
              <a:gd fmla="val 8000" name="adj"/>
            </a:avLst>
          </a:prstGeom>
          <a:solidFill>
            <a:srgbClr val="E7F1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2383E2"/>
                </a:solidFill>
                <a:latin typeface="Noto Sans KR"/>
                <a:ea typeface="Noto Sans KR"/>
                <a:cs typeface="Noto Sans KR"/>
                <a:sym typeface="Noto Sans KR"/>
              </a:rPr>
              <a:t>◆  </a:t>
            </a:r>
            <a:r>
              <a:rPr b="0" i="0" lang="ko" sz="1000" u="none" cap="none" strike="noStrike">
                <a:solidFill>
                  <a:srgbClr val="37352F"/>
                </a:solidFill>
                <a:latin typeface="Noto Sans KR"/>
                <a:ea typeface="Noto Sans KR"/>
                <a:cs typeface="Noto Sans KR"/>
                <a:sym typeface="Noto Sans KR"/>
              </a:rPr>
              <a:t>DSM→DEM 변환 · SAM3 파인튜닝 · 그늘막 최적입지 분석을 하나의 데스크톱 앱으로 통합 — 변환 자산을 정확도 향상과 도시 정책 분석으로 확장합니다.</a:t>
            </a:r>
            <a:endParaRPr sz="1100"/>
          </a:p>
        </p:txBody>
      </p:sp>
      <p:sp>
        <p:nvSpPr>
          <p:cNvPr id="291" name="Google Shape;291;p27"/>
          <p:cNvSpPr/>
          <p:nvPr/>
        </p:nvSpPr>
        <p:spPr>
          <a:xfrm>
            <a:off x="617236" y="3092958"/>
            <a:ext cx="48007" cy="617219"/>
          </a:xfrm>
          <a:prstGeom prst="rect">
            <a:avLst/>
          </a:prstGeom>
          <a:solidFill>
            <a:srgbClr val="2383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
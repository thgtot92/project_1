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71" r:id="rId2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</p:sldIdLst>
  <p:sldSz cy="5143500" cx="9144000"/>
  <p:notesSz cx="6858000" cy="9144000"/>
  <p:embeddedFontLst>
    <p:embeddedFont>
      <p:font typeface="Noto Sans KR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AADE43-5EBC-4259-8172-A036047B30FA}">
  <a:tblStyle styleId="{42AADE43-5EBC-4259-8172-A036047B30F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NotoSansKR-regular.fntdata"/><Relationship Id="rId23" Type="http://schemas.openxmlformats.org/officeDocument/2006/relationships/font" Target="fonts/NotoSansKR-bold.fntdata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b44efd46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eb44efd466_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eb44efd466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g3eb44efd466_1_1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b44efd46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g3eb44efd466_1_2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b44efd466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eb44efd466_1_3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b44efd466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eb44efd466_1_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b44efd466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eb44efd466_1_6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b44efd466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eb44efd466_1_8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b44efd466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eb44efd466_1_9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b44efd466_1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eb44efd466_1_10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b44efd466_1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eb44efd466_1_12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b44efd466_1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eb44efd466_1_14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eb44efd466_1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eb44efd466_1_15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eb44efd466_1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eb44efd466_1_17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eb44efd466_1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eb44efd466_1_18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b44efd466_1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eb44efd466_1_21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7236" y="1748790"/>
            <a:ext cx="891564" cy="82296"/>
          </a:xfrm>
          <a:prstGeom prst="roundRect">
            <a:avLst>
              <a:gd fmla="val 50000" name="adj"/>
            </a:avLst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17236" y="137160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SAM3 객체 추출 · GDAL 보간 기반 지형 표고 모델 자동 생성</a:t>
            </a:r>
            <a:endParaRPr sz="1100"/>
          </a:p>
        </p:txBody>
      </p:sp>
      <p:sp>
        <p:nvSpPr>
          <p:cNvPr id="57" name="Google Shape;57;p13"/>
          <p:cNvSpPr txBox="1"/>
          <p:nvPr/>
        </p:nvSpPr>
        <p:spPr>
          <a:xfrm>
            <a:off x="617236" y="1954530"/>
            <a:ext cx="7909542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32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</a:t>
            </a:r>
            <a:endParaRPr sz="1100"/>
          </a:p>
        </p:txBody>
      </p:sp>
      <p:sp>
        <p:nvSpPr>
          <p:cNvPr id="58" name="Google Shape;58;p13"/>
          <p:cNvSpPr txBox="1"/>
          <p:nvPr/>
        </p:nvSpPr>
        <p:spPr>
          <a:xfrm>
            <a:off x="617236" y="2914650"/>
            <a:ext cx="72237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정사영상에서 SAM3로 건물·수목·자동차를 추출하고, DSM의 지물을 제거한 뒤</a:t>
            </a:r>
            <a:b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순수 지형 표고 모델(DEM)을 생성하는 데스크톱 애플리케이션</a:t>
            </a:r>
            <a:endParaRPr sz="1100"/>
          </a:p>
        </p:txBody>
      </p:sp>
      <p:sp>
        <p:nvSpPr>
          <p:cNvPr id="59" name="Google Shape;59;p13"/>
          <p:cNvSpPr txBox="1"/>
          <p:nvPr/>
        </p:nvSpPr>
        <p:spPr>
          <a:xfrm>
            <a:off x="617236" y="438912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PyQt6 데스크톱 앱 · v1.0.0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개요</a:t>
            </a:r>
            <a:endParaRPr sz="1100"/>
          </a:p>
        </p:txBody>
      </p:sp>
      <p:sp>
        <p:nvSpPr>
          <p:cNvPr id="66" name="Google Shape;66;p1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왜 DSM에서 DEM이 필요한가</a:t>
            </a:r>
            <a:endParaRPr sz="1100"/>
          </a:p>
        </p:txBody>
      </p:sp>
      <p:sp>
        <p:nvSpPr>
          <p:cNvPr id="67" name="Google Shape;67;p1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69" name="Google Shape;69;p1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02</a:t>
            </a:r>
            <a:endParaRPr sz="1100"/>
          </a:p>
        </p:txBody>
      </p:sp>
      <p:sp>
        <p:nvSpPr>
          <p:cNvPr id="70" name="Google Shape;70;p1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DSM(수치표면모델)은 건물·수목·자동차 등 지표 위 모든 객체를 포함한 표면 모델입니다. 침수 분석·토목 설계·정밀 지형 해석에는 객체가 제거된 순수 지형(DEM)이 필요합니다.</a:t>
            </a:r>
            <a:endParaRPr sz="1100"/>
          </a:p>
        </p:txBody>
      </p:sp>
      <p:pic>
        <p:nvPicPr>
          <p:cNvPr descr="dsm_vs_dem.png" id="71" name="Google Shape;7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229109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4"/>
          <p:cNvSpPr txBox="1"/>
          <p:nvPr/>
        </p:nvSpPr>
        <p:spPr>
          <a:xfrm>
            <a:off x="617236" y="4170183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DSM(객체 포함) → SAM3 추출·제거·보간 → DEM(순수 지형)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한눈에 보기</a:t>
            </a:r>
            <a:endParaRPr sz="1100"/>
          </a:p>
        </p:txBody>
      </p:sp>
      <p:sp>
        <p:nvSpPr>
          <p:cNvPr id="79" name="Google Shape;79;p1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애플리케이션 한눈에 보기</a:t>
            </a:r>
            <a:endParaRPr sz="1100"/>
          </a:p>
        </p:txBody>
      </p:sp>
      <p:sp>
        <p:nvSpPr>
          <p:cNvPr id="80" name="Google Shape;80;p1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82" name="Google Shape;82;p1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03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사이드바에서 화면을 전환하고, 하단의 처리 단계 안내로 전체 흐름을 한눈에 파악합니다.</a:t>
            </a:r>
            <a:endParaRPr sz="1100"/>
          </a:p>
        </p:txBody>
      </p:sp>
      <p:sp>
        <p:nvSpPr>
          <p:cNvPr id="84" name="Google Shape;84;p15"/>
          <p:cNvSpPr/>
          <p:nvPr/>
        </p:nvSpPr>
        <p:spPr>
          <a:xfrm>
            <a:off x="617236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변환 실행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→ 옵션 설정 → DEM 생성. 미리보기·QA 통계·로그를 한 화면에서 확인.</a:t>
            </a:r>
            <a:endParaRPr sz="1100"/>
          </a:p>
        </p:txBody>
      </p:sp>
      <p:sp>
        <p:nvSpPr>
          <p:cNvPr id="85" name="Google Shape;85;p15"/>
          <p:cNvSpPr/>
          <p:nvPr/>
        </p:nvSpPr>
        <p:spPr>
          <a:xfrm>
            <a:off x="3317760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정사영상·DSM·DEM·추출 경계(SHP)를 인터랙티브 웹지도 위에 겹쳐 시각화.</a:t>
            </a:r>
            <a:endParaRPr sz="1100"/>
          </a:p>
        </p:txBody>
      </p:sp>
      <p:sp>
        <p:nvSpPr>
          <p:cNvPr id="86" name="Google Shape;86;p15"/>
          <p:cNvSpPr/>
          <p:nvPr/>
        </p:nvSpPr>
        <p:spPr>
          <a:xfrm>
            <a:off x="6018283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(SAM3)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정사영상+경계 SHP로 데이터셋을 만들어 SAM3를 파인튜닝하고 새 체크포인트를 적용.</a:t>
            </a:r>
            <a:endParaRPr sz="1100"/>
          </a:p>
        </p:txBody>
      </p:sp>
      <p:sp>
        <p:nvSpPr>
          <p:cNvPr id="87" name="Google Shape;87;p15"/>
          <p:cNvSpPr/>
          <p:nvPr/>
        </p:nvSpPr>
        <p:spPr>
          <a:xfrm>
            <a:off x="617236" y="2921508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처리 단계  ①  정사영상·DSM 입력   →   ②  SAM3 추출   →   ③  객체 제거   →   ④  GDAL 보간   →   ⑤  QA·저장</a:t>
            </a:r>
            <a:endParaRPr sz="1100"/>
          </a:p>
        </p:txBody>
      </p:sp>
      <p:sp>
        <p:nvSpPr>
          <p:cNvPr id="88" name="Google Shape;88;p15"/>
          <p:cNvSpPr/>
          <p:nvPr/>
        </p:nvSpPr>
        <p:spPr>
          <a:xfrm>
            <a:off x="617236" y="2921508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워크플로우</a:t>
            </a:r>
            <a:endParaRPr sz="1100"/>
          </a:p>
        </p:txBody>
      </p:sp>
      <p:sp>
        <p:nvSpPr>
          <p:cNvPr id="95" name="Google Shape;95;p1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처리 파이프라인</a:t>
            </a:r>
            <a:endParaRPr sz="1100"/>
          </a:p>
        </p:txBody>
      </p:sp>
      <p:sp>
        <p:nvSpPr>
          <p:cNvPr id="96" name="Google Shape;96;p1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98" name="Google Shape;98;p1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04</a:t>
            </a:r>
            <a:endParaRPr sz="1100"/>
          </a:p>
        </p:txBody>
      </p:sp>
      <p:sp>
        <p:nvSpPr>
          <p:cNvPr id="99" name="Google Shape;99;p1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pipeline.run_conversion()이 입력부터 저장까지를 단일 진입점으로 오케스트레이션하며, 워커 스레드가 진행률을 실시간 보고합니다(사용자에게는 5단계로 안내).</a:t>
            </a:r>
            <a:endParaRPr sz="1100"/>
          </a:p>
        </p:txBody>
      </p:sp>
      <p:pic>
        <p:nvPicPr>
          <p:cNvPr descr="pipeline_flow.png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197338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6"/>
          <p:cNvSpPr txBox="1"/>
          <p:nvPr/>
        </p:nvSpPr>
        <p:spPr>
          <a:xfrm>
            <a:off x="617236" y="385247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단계별 진행률 — 입력 8% · SAM3 55% · 제거 69% · 보간 86% · 저장 100%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1 / 5</a:t>
            </a:r>
            <a:endParaRPr sz="1100"/>
          </a:p>
        </p:txBody>
      </p:sp>
      <p:sp>
        <p:nvSpPr>
          <p:cNvPr id="108" name="Google Shape;108;p1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및 정합 검사</a:t>
            </a:r>
            <a:endParaRPr sz="1100"/>
          </a:p>
        </p:txBody>
      </p:sp>
      <p:sp>
        <p:nvSpPr>
          <p:cNvPr id="109" name="Google Shape;109;p1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11" name="Google Shape;111;p1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05</a:t>
            </a:r>
            <a:endParaRPr sz="1100"/>
          </a:p>
        </p:txBody>
      </p:sp>
      <p:sp>
        <p:nvSpPr>
          <p:cNvPr id="112" name="Google Shape;112;p17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raster_io 모듈 — 래스터를 읽어 표준화하고 두 입력의 정합을 점검합니다.</a:t>
            </a:r>
            <a:endParaRPr sz="1100"/>
          </a:p>
        </p:txBody>
      </p:sp>
      <p:sp>
        <p:nvSpPr>
          <p:cNvPr id="113" name="Google Shape;113;p17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read_orthophoto() — 1~4밴드를 (H,W,3) uint8 RGB로 표준화, 2~98 백분위 정규화, CRS·Affine 보존</a:t>
            </a:r>
            <a:endParaRPr sz="1100"/>
          </a:p>
        </p:txBody>
      </p:sp>
      <p:sp>
        <p:nvSpPr>
          <p:cNvPr id="114" name="Google Shape;114;p17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read_dsm() — 1밴드 float32 표고, NoData 값을 NaN으로 변환</a:t>
            </a:r>
            <a:endParaRPr sz="1100"/>
          </a:p>
        </p:txBody>
      </p:sp>
      <p:sp>
        <p:nvSpPr>
          <p:cNvPr id="115" name="Google Shape;115;p17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정합 검사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check_alignment() — 형상(행·열)·좌표계(CRS)·해상도 비율 점검</a:t>
            </a:r>
            <a:endParaRPr sz="1100"/>
          </a:p>
        </p:txBody>
      </p:sp>
      <p:sp>
        <p:nvSpPr>
          <p:cNvPr id="116" name="Google Shape;116;p17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 정렬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불일치 시 resample_mask_to()로 추출 마스크를 DSM 격자에 리샘플</a:t>
            </a:r>
            <a:endParaRPr sz="1100"/>
          </a:p>
        </p:txBody>
      </p:sp>
      <p:sp>
        <p:nvSpPr>
          <p:cNvPr id="117" name="Google Shape;117;p17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입력은 GeoTIFF·VRT 등 GDAL 지원 포맷. 좌표계·해상도가 달라도 자동으로 정렬합니다.</a:t>
            </a:r>
            <a:endParaRPr sz="1100"/>
          </a:p>
        </p:txBody>
      </p:sp>
      <p:sp>
        <p:nvSpPr>
          <p:cNvPr id="118" name="Google Shape;118;p17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2 / 5</a:t>
            </a:r>
            <a:endParaRPr sz="1100"/>
          </a:p>
        </p:txBody>
      </p:sp>
      <p:sp>
        <p:nvSpPr>
          <p:cNvPr id="125" name="Google Shape;125;p18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SAM3로 건물·수목·자동차 추출</a:t>
            </a:r>
            <a:endParaRPr sz="1100"/>
          </a:p>
        </p:txBody>
      </p:sp>
      <p:sp>
        <p:nvSpPr>
          <p:cNvPr id="126" name="Google Shape;126;p18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28" name="Google Shape;128;p18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06</a:t>
            </a:r>
            <a:endParaRPr sz="1100"/>
          </a:p>
        </p:txBody>
      </p:sp>
      <p:sp>
        <p:nvSpPr>
          <p:cNvPr id="129" name="Google Shape;129;p18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sam3_extractor 모듈 — 텍스트 프롬프트 기반 세그멘테이션으로 지물 마스크와 신뢰도를 추출합니다.</a:t>
            </a:r>
            <a:endParaRPr sz="1100"/>
          </a:p>
        </p:txBody>
      </p:sp>
      <p:sp>
        <p:nvSpPr>
          <p:cNvPr id="130" name="Google Shape;130;p18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추론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대형 영상을 2048px 타일·256px 오버랩으로 분할 추론 — 대용량도 메모리 한계 없이 처리</a:t>
            </a:r>
            <a:endParaRPr sz="1100"/>
          </a:p>
        </p:txBody>
      </p:sp>
      <p:sp>
        <p:nvSpPr>
          <p:cNvPr id="131" name="Google Shape;131;p18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텍스트 프롬프트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building·rooftop / tree·vegetation / car·vehicle 등 클래스별 프롬프트로 마스크+신뢰도 산출</a:t>
            </a:r>
            <a:endParaRPr sz="1100"/>
          </a:p>
        </p:txBody>
      </p:sp>
      <p:sp>
        <p:nvSpPr>
          <p:cNvPr id="132" name="Google Shape;132;p18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병합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겹침 영역은 최고 신뢰도 우선(max_confidence)으로 통합</a:t>
            </a:r>
            <a:endParaRPr sz="1100"/>
          </a:p>
        </p:txBody>
      </p:sp>
      <p:sp>
        <p:nvSpPr>
          <p:cNvPr id="133" name="Google Shape;133;p18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엔진 자동 선택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sam3.pt 체크포인트가 있으면 실모델, 없으면 결정적 스텁 엔진으로 데모 동작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3 / 5</a:t>
            </a:r>
            <a:endParaRPr sz="1100"/>
          </a:p>
        </p:txBody>
      </p:sp>
      <p:sp>
        <p:nvSpPr>
          <p:cNvPr id="140" name="Google Shape;140;p19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DSM에서 추출 객체 제거</a:t>
            </a:r>
            <a:endParaRPr sz="1100"/>
          </a:p>
        </p:txBody>
      </p:sp>
      <p:sp>
        <p:nvSpPr>
          <p:cNvPr id="141" name="Google Shape;141;p19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43" name="Google Shape;143;p19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07</a:t>
            </a:r>
            <a:endParaRPr sz="1100"/>
          </a:p>
        </p:txBody>
      </p:sp>
      <p:sp>
        <p:nvSpPr>
          <p:cNvPr id="144" name="Google Shape;144;p19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dem_generator.fuse_removal_mask() — 클래스별 마스크를 융합해 최종 제거 마스크를 만듭니다.</a:t>
            </a:r>
            <a:endParaRPr sz="1100"/>
          </a:p>
        </p:txBody>
      </p:sp>
      <p:sp>
        <p:nvSpPr>
          <p:cNvPr id="145" name="Google Shape;145;p19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임계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건물은 신뢰도 ≥ 0.50만 채택, 수목·자동차는 추출 마스크를 그대로 사용</a:t>
            </a:r>
            <a:endParaRPr sz="1100"/>
          </a:p>
        </p:txBody>
      </p:sp>
      <p:sp>
        <p:nvSpPr>
          <p:cNvPr id="146" name="Google Shape;146;p19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경계 팽창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dilation_px = 1 — 객체 외곽 누락을 막기 위해 제거 경계를 1px 확장</a:t>
            </a:r>
            <a:endParaRPr sz="1100"/>
          </a:p>
        </p:txBody>
      </p:sp>
      <p:sp>
        <p:nvSpPr>
          <p:cNvPr id="147" name="Google Shape;147;p19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마스크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(고신뢰 건물 ∪ 수목 ∪ 자동차) = 최종 removal_mask</a:t>
            </a:r>
            <a:endParaRPr sz="1100"/>
          </a:p>
        </p:txBody>
      </p:sp>
      <p:sp>
        <p:nvSpPr>
          <p:cNvPr id="148" name="Google Shape;148;p19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처리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removal_mask 영역을 NaN으로 → &lt;dsm&gt;_pg_nodata.tif 중간 산출물로 저장</a:t>
            </a:r>
            <a:endParaRPr sz="1100"/>
          </a:p>
        </p:txBody>
      </p:sp>
      <p:sp>
        <p:nvSpPr>
          <p:cNvPr id="149" name="Google Shape;149;p19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추출한 건물·수목·자동차 경계는 동시에 셰이프파일(.shp)로 내보내 GIS에서 검증할 수 있습니다.</a:t>
            </a:r>
            <a:endParaRPr sz="1100"/>
          </a:p>
        </p:txBody>
      </p:sp>
      <p:sp>
        <p:nvSpPr>
          <p:cNvPr id="150" name="Google Shape;150;p19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4 / 5</a:t>
            </a:r>
            <a:endParaRPr sz="1100"/>
          </a:p>
        </p:txBody>
      </p:sp>
      <p:sp>
        <p:nvSpPr>
          <p:cNvPr id="157" name="Google Shape;157;p20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DEM 생성</a:t>
            </a:r>
            <a:endParaRPr sz="1100"/>
          </a:p>
        </p:txBody>
      </p:sp>
      <p:sp>
        <p:nvSpPr>
          <p:cNvPr id="158" name="Google Shape;158;p20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60" name="Google Shape;160;p20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08</a:t>
            </a:r>
            <a:endParaRPr sz="1100"/>
          </a:p>
        </p:txBody>
      </p:sp>
      <p:sp>
        <p:nvSpPr>
          <p:cNvPr id="161" name="Google Shape;161;p20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dem_generator.interpolate_dem() — 제거 영역과 원본 NoData를 채워 연속적인 지형면을 생성합니다.</a:t>
            </a:r>
            <a:endParaRPr sz="1100"/>
          </a:p>
        </p:txBody>
      </p:sp>
      <p:graphicFrame>
        <p:nvGraphicFramePr>
          <p:cNvPr id="162" name="Google Shape;162;p20"/>
          <p:cNvGraphicFramePr/>
          <p:nvPr/>
        </p:nvGraphicFramePr>
        <p:xfrm>
          <a:off x="617236" y="16047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{42AADE43-5EBC-4259-8172-A036047B30FA}</a:tableStyleId>
              </a:tblPr>
              <a:tblGrid>
                <a:gridCol w="2098425"/>
                <a:gridCol w="1937025"/>
                <a:gridCol w="3874050"/>
              </a:tblGrid>
              <a:tr h="31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보간 방법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엔진 / 근거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특징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FillNodata (권장)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rasterio.fill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4방향 탐색 가중 보간 · 빠르고 안정적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IDW (역거리가중)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거리 역수 평균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반경 내 유효 픽셀 가중 · 계산량 중간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TIN (자연근방)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LinearND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삼각분할 기반 · 정확하나 느림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RBF (Thin-plate)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RBF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매우 매끄러움 · 대규모는 IDW로 자동 폴백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163" name="Google Shape;163;p20"/>
          <p:cNvSpPr/>
          <p:nvPr/>
        </p:nvSpPr>
        <p:spPr>
          <a:xfrm>
            <a:off x="617236" y="322326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탐색 거리 max_search_distance = 100px, 평활 반복 0~20 으로 결과를 조정할 수 있습니다.</a:t>
            </a:r>
            <a:endParaRPr sz="1100"/>
          </a:p>
        </p:txBody>
      </p:sp>
      <p:sp>
        <p:nvSpPr>
          <p:cNvPr id="164" name="Google Shape;164;p20"/>
          <p:cNvSpPr/>
          <p:nvPr/>
        </p:nvSpPr>
        <p:spPr>
          <a:xfrm>
            <a:off x="617236" y="3223260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5 / 5</a:t>
            </a:r>
            <a:endParaRPr sz="1100"/>
          </a:p>
        </p:txBody>
      </p:sp>
      <p:sp>
        <p:nvSpPr>
          <p:cNvPr id="171" name="Google Shape;171;p21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DEM 품질 검사 및 GeoTIFF 저장</a:t>
            </a:r>
            <a:endParaRPr sz="1100"/>
          </a:p>
        </p:txBody>
      </p:sp>
      <p:sp>
        <p:nvSpPr>
          <p:cNvPr id="172" name="Google Shape;172;p21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1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74" name="Google Shape;174;p21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09</a:t>
            </a:r>
            <a:endParaRPr sz="1100"/>
          </a:p>
        </p:txBody>
      </p:sp>
      <p:sp>
        <p:nvSpPr>
          <p:cNvPr id="175" name="Google Shape;175;p21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dem_generator.qa_dem() — 보간 결과를 정량 지표로 평가해 등급을 매기고, raster_io.write_dem()으로 저장합니다.</a:t>
            </a:r>
            <a:endParaRPr sz="1100"/>
          </a:p>
        </p:txBody>
      </p:sp>
      <p:sp>
        <p:nvSpPr>
          <p:cNvPr id="176" name="Google Shape;176;p21"/>
          <p:cNvSpPr/>
          <p:nvPr/>
        </p:nvSpPr>
        <p:spPr>
          <a:xfrm>
            <a:off x="617236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PASS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정상 · 모든 지표 통과</a:t>
            </a:r>
            <a:endParaRPr sz="1100"/>
          </a:p>
        </p:txBody>
      </p:sp>
      <p:sp>
        <p:nvSpPr>
          <p:cNvPr id="177" name="Google Shape;177;p21"/>
          <p:cNvSpPr/>
          <p:nvPr/>
        </p:nvSpPr>
        <p:spPr>
          <a:xfrm>
            <a:off x="3304044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F0E3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CB7B26"/>
                </a:solidFill>
                <a:latin typeface="Noto Sans KR"/>
                <a:ea typeface="Noto Sans KR"/>
                <a:cs typeface="Noto Sans KR"/>
                <a:sym typeface="Noto Sans KR"/>
              </a:rPr>
              <a:t>WARNING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주의 · 경계/스파이크 점검</a:t>
            </a:r>
            <a:endParaRPr sz="1100"/>
          </a:p>
        </p:txBody>
      </p:sp>
      <p:sp>
        <p:nvSpPr>
          <p:cNvPr id="178" name="Google Shape;178;p21"/>
          <p:cNvSpPr/>
          <p:nvPr/>
        </p:nvSpPr>
        <p:spPr>
          <a:xfrm>
            <a:off x="5990851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E4E4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E03E3E"/>
                </a:solidFill>
                <a:latin typeface="Noto Sans KR"/>
                <a:ea typeface="Noto Sans KR"/>
                <a:cs typeface="Noto Sans KR"/>
                <a:sym typeface="Noto Sans KR"/>
              </a:rPr>
              <a:t>FAIL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불합격 · 재처리 필요</a:t>
            </a:r>
            <a:endParaRPr sz="1100"/>
          </a:p>
        </p:txBody>
      </p:sp>
      <p:sp>
        <p:nvSpPr>
          <p:cNvPr id="179" name="Google Shape;179;p21"/>
          <p:cNvSpPr txBox="1"/>
          <p:nvPr/>
        </p:nvSpPr>
        <p:spPr>
          <a:xfrm>
            <a:off x="617236" y="253060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경사 연속성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경계 전후 경사 비율 — 0.5 미만이면 FAIL</a:t>
            </a:r>
            <a:endParaRPr sz="1100"/>
          </a:p>
        </p:txBody>
      </p:sp>
      <p:sp>
        <p:nvSpPr>
          <p:cNvPr id="180" name="Google Shape;180;p21"/>
          <p:cNvSpPr txBox="1"/>
          <p:nvPr/>
        </p:nvSpPr>
        <p:spPr>
          <a:xfrm>
            <a:off x="617236" y="2887217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스파이크·싱크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6σ 초과 고점 / 고립 저점 개수로 이상 진단</a:t>
            </a:r>
            <a:endParaRPr sz="1100"/>
          </a:p>
        </p:txBody>
      </p:sp>
      <p:sp>
        <p:nvSpPr>
          <p:cNvPr id="181" name="Google Shape;181;p21"/>
          <p:cNvSpPr txBox="1"/>
          <p:nvPr/>
        </p:nvSpPr>
        <p:spPr>
          <a:xfrm>
            <a:off x="617236" y="3243833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잔여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미채움 픽셀 비율이 0.5% 초과면 FAIL</a:t>
            </a:r>
            <a:endParaRPr sz="1100"/>
          </a:p>
        </p:txBody>
      </p:sp>
      <p:sp>
        <p:nvSpPr>
          <p:cNvPr id="182" name="Google Shape;182;p21"/>
          <p:cNvSpPr txBox="1"/>
          <p:nvPr/>
        </p:nvSpPr>
        <p:spPr>
          <a:xfrm>
            <a:off x="617236" y="360044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_dem.tif(보간) · _dem_final.tif(최종) · sidecar .json · 경계 SHP 3종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기능</a:t>
            </a:r>
            <a:endParaRPr sz="1100"/>
          </a:p>
        </p:txBody>
      </p:sp>
      <p:sp>
        <p:nvSpPr>
          <p:cNvPr id="189" name="Google Shape;189;p22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 — 인터랙티브 웹지도</a:t>
            </a:r>
            <a:endParaRPr sz="1100"/>
          </a:p>
        </p:txBody>
      </p:sp>
      <p:sp>
        <p:nvSpPr>
          <p:cNvPr id="190" name="Google Shape;190;p22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92" name="Google Shape;192;p22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10</a:t>
            </a:r>
            <a:endParaRPr sz="1100"/>
          </a:p>
        </p:txBody>
      </p:sp>
      <p:sp>
        <p:nvSpPr>
          <p:cNvPr id="193" name="Google Shape;193;p22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ui/map_view.py — Leafmap(folium) 기반 Leaflet 지도를 QWebEngineView에 렌더링합니다.</a:t>
            </a:r>
            <a:endParaRPr sz="1100"/>
          </a:p>
        </p:txBody>
      </p:sp>
      <p:sp>
        <p:nvSpPr>
          <p:cNvPr id="194" name="Google Shape;194;p22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레이어 토글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정사영상(RGB) · DSM · DEM(terrain 컬러맵) · 건물/수목/자동차 경계 SHP를 체크박스로 on/off</a:t>
            </a:r>
            <a:endParaRPr sz="1100"/>
          </a:p>
        </p:txBody>
      </p:sp>
      <p:sp>
        <p:nvSpPr>
          <p:cNvPr id="195" name="Google Shape;195;p22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배경지도 5종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Google Hybrid·Satellite, VWorld 위성·일반, OpenStreetMap</a:t>
            </a:r>
            <a:endParaRPr sz="1100"/>
          </a:p>
        </p:txBody>
      </p:sp>
      <p:sp>
        <p:nvSpPr>
          <p:cNvPr id="196" name="Google Shape;196;p22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좌표 통합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rasterio transform_bounds로 모든 레이어를 EPSG:4326으로 정렬하고 데이터 범위에 맞춰 fit</a:t>
            </a:r>
            <a:endParaRPr sz="1100"/>
          </a:p>
        </p:txBody>
      </p:sp>
      <p:sp>
        <p:nvSpPr>
          <p:cNvPr id="197" name="Google Shape;197;p22"/>
          <p:cNvSpPr/>
          <p:nvPr/>
        </p:nvSpPr>
        <p:spPr>
          <a:xfrm>
            <a:off x="61723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3B3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2"/>
          <p:cNvSpPr txBox="1"/>
          <p:nvPr/>
        </p:nvSpPr>
        <p:spPr>
          <a:xfrm>
            <a:off x="61723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건물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#FF3B30</a:t>
            </a:r>
            <a:endParaRPr sz="1100"/>
          </a:p>
        </p:txBody>
      </p:sp>
      <p:sp>
        <p:nvSpPr>
          <p:cNvPr id="199" name="Google Shape;199;p22"/>
          <p:cNvSpPr/>
          <p:nvPr/>
        </p:nvSpPr>
        <p:spPr>
          <a:xfrm>
            <a:off x="3299471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2E7D3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3299471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수목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#2E7D32</a:t>
            </a:r>
            <a:endParaRPr sz="1100"/>
          </a:p>
        </p:txBody>
      </p:sp>
      <p:sp>
        <p:nvSpPr>
          <p:cNvPr id="201" name="Google Shape;201;p22"/>
          <p:cNvSpPr/>
          <p:nvPr/>
        </p:nvSpPr>
        <p:spPr>
          <a:xfrm>
            <a:off x="598170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980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598170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자동차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#FF9800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3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솔루션 연계</a:t>
            </a:r>
            <a:endParaRPr sz="1100"/>
          </a:p>
        </p:txBody>
      </p:sp>
      <p:sp>
        <p:nvSpPr>
          <p:cNvPr id="209" name="Google Shape;209;p23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세 기능의 연계 흐름</a:t>
            </a:r>
            <a:endParaRPr sz="1100"/>
          </a:p>
        </p:txBody>
      </p:sp>
      <p:sp>
        <p:nvSpPr>
          <p:cNvPr id="210" name="Google Shape;210;p23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12" name="Google Shape;212;p23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11</a:t>
            </a:r>
            <a:endParaRPr sz="1100"/>
          </a:p>
        </p:txBody>
      </p:sp>
      <p:sp>
        <p:nvSpPr>
          <p:cNvPr id="213" name="Google Shape;213;p23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변환을 중심으로 — 학습(파인튜닝)이 추출 정확도를 끌어올려 DEM 보완 정확도를 높이고, 변환에 쓴 DSM 원본은 그늘막 최적입지 분석의 기초 입력으로 재활용됩니다.</a:t>
            </a:r>
            <a:endParaRPr sz="1100"/>
          </a:p>
        </p:txBody>
      </p:sp>
      <p:pic>
        <p:nvPicPr>
          <p:cNvPr descr="integration_flow.png" id="214" name="Google Shape;21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3635" y="1837944"/>
            <a:ext cx="7156553" cy="275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3"/>
          <p:cNvSpPr txBox="1"/>
          <p:nvPr/>
        </p:nvSpPr>
        <p:spPr>
          <a:xfrm>
            <a:off x="617236" y="463600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변환 정확도 최적화 · DEM 보완 정확도 향상 · DSM 원본 → 그늘막 분석 기초 입력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정확도 최적화</a:t>
            </a:r>
            <a:endParaRPr sz="1100"/>
          </a:p>
        </p:txBody>
      </p:sp>
      <p:sp>
        <p:nvSpPr>
          <p:cNvPr id="222" name="Google Shape;222;p2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— SAM3 파인튜닝으로 추출 정확도 향상</a:t>
            </a:r>
            <a:endParaRPr sz="1100"/>
          </a:p>
        </p:txBody>
      </p:sp>
      <p:sp>
        <p:nvSpPr>
          <p:cNvPr id="223" name="Google Shape;223;p2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25" name="Google Shape;225;p2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12</a:t>
            </a:r>
            <a:endParaRPr sz="1100"/>
          </a:p>
        </p:txBody>
      </p:sp>
      <p:sp>
        <p:nvSpPr>
          <p:cNvPr id="226" name="Google Shape;226;p2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라벨된 정사영상으로 SAM3 가중치를 파인튜닝합니다. 추출이 정확해질수록 객체 제거·보간 품질이 올라가 결과 DEM의 보완 정확도가 향상됩니다.</a:t>
            </a:r>
            <a:endParaRPr sz="1100"/>
          </a:p>
        </p:txBody>
      </p:sp>
      <p:sp>
        <p:nvSpPr>
          <p:cNvPr id="227" name="Google Shape;227;p24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1단계 · 데이터셋 준비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정사영상을 ~1008px 타일로 분할, 건물·수목·자동차 경계 셰이프파일을 COCO 라벨로 변환 → train/test 생성</a:t>
            </a:r>
            <a:endParaRPr sz="1100"/>
          </a:p>
        </p:txBody>
      </p:sp>
      <p:sp>
        <p:nvSpPr>
          <p:cNvPr id="228" name="Google Shape;228;p24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2단계 · 학습 실행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단일 데이터셋 config 생성 후 파인튜닝(epoch·batch·해상도·GPU·경계마스크 학습), TensorBoard 모니터링</a:t>
            </a:r>
            <a:endParaRPr sz="1100"/>
          </a:p>
        </p:txBody>
      </p:sp>
      <p:sp>
        <p:nvSpPr>
          <p:cNvPr id="229" name="Google Shape;229;p24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3단계 · 체크포인트 적용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학습된 .pt 를 sam3.pt 교체 또는 SAM3_CHECKPOINT 환경변수로 추론 엔진에 연결</a:t>
            </a:r>
            <a:endParaRPr sz="1100"/>
          </a:p>
        </p:txBody>
      </p:sp>
      <p:sp>
        <p:nvSpPr>
          <p:cNvPr id="230" name="Google Shape;230;p24"/>
          <p:cNvSpPr/>
          <p:nvPr/>
        </p:nvSpPr>
        <p:spPr>
          <a:xfrm>
            <a:off x="617236" y="2784347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SAM3 추출 정확도 ↑ → 객체 제거·보간 정확도 ↑ → DEM 보완 정확도 향상</a:t>
            </a:r>
            <a:endParaRPr sz="1100"/>
          </a:p>
        </p:txBody>
      </p:sp>
      <p:sp>
        <p:nvSpPr>
          <p:cNvPr id="231" name="Google Shape;231;p24"/>
          <p:cNvSpPr/>
          <p:nvPr/>
        </p:nvSpPr>
        <p:spPr>
          <a:xfrm>
            <a:off x="617236" y="2784347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DSM 재활용</a:t>
            </a:r>
            <a:endParaRPr sz="1100"/>
          </a:p>
        </p:txBody>
      </p:sp>
      <p:sp>
        <p:nvSpPr>
          <p:cNvPr id="238" name="Google Shape;238;p2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그늘막 최적입지 분석 — DSM 원본 활용</a:t>
            </a:r>
            <a:endParaRPr sz="1100"/>
          </a:p>
        </p:txBody>
      </p:sp>
      <p:sp>
        <p:nvSpPr>
          <p:cNvPr id="239" name="Google Shape;239;p2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41" name="Google Shape;241;p2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13</a:t>
            </a:r>
            <a:endParaRPr sz="1100"/>
          </a:p>
        </p:txBody>
      </p:sp>
      <p:sp>
        <p:nvSpPr>
          <p:cNvPr id="242" name="Google Shape;242;p2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변환에 사용한 DSM 원본을 그대로 재활용해 여름 그늘막 설치 우선 입지를 도출합니다. DSM·건물 footprint 기반 '자연그늘(건물 그림자)'이 핵심 입력입니다.</a:t>
            </a:r>
            <a:endParaRPr sz="1100"/>
          </a:p>
        </p:txBody>
      </p:sp>
      <p:sp>
        <p:nvSpPr>
          <p:cNvPr id="243" name="Google Shape;243;p25"/>
          <p:cNvSpPr txBox="1"/>
          <p:nvPr/>
        </p:nvSpPr>
        <p:spPr>
          <a:xfrm>
            <a:off x="617236" y="1837944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다변수 MCDA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동작구 100m 격자 3,672개 · 7개 피처(유동인구·지표온도·취약계층·기존그늘막·자연그늘·거리뷰결핍·교차로) 가중합</a:t>
            </a:r>
            <a:endParaRPr sz="1100"/>
          </a:p>
        </p:txBody>
      </p:sp>
      <p:sp>
        <p:nvSpPr>
          <p:cNvPr id="244" name="Google Shape;244;p25"/>
          <p:cNvSpPr txBox="1"/>
          <p:nvPr/>
        </p:nvSpPr>
        <p:spPr>
          <a:xfrm>
            <a:off x="617236" y="2194560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기초 입력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DSM·건물 footprint로 오후 태양위치(고도 52°·방위 252°) 그림자를 시뮬레이션 → 자연그늘 피처</a:t>
            </a:r>
            <a:endParaRPr sz="1100"/>
          </a:p>
        </p:txBody>
      </p:sp>
      <p:sp>
        <p:nvSpPr>
          <p:cNvPr id="245" name="Google Shape;245;p25"/>
          <p:cNvSpPr txBox="1"/>
          <p:nvPr/>
        </p:nvSpPr>
        <p:spPr>
          <a:xfrm>
            <a:off x="617236" y="2551176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시나리오 6종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기본·고령자·폭염·유동인구·보행환경·교차로 — 모든 시나리오 공통 추천이 강건 입지</a:t>
            </a:r>
            <a:endParaRPr sz="1100"/>
          </a:p>
        </p:txBody>
      </p:sp>
      <p:sp>
        <p:nvSpPr>
          <p:cNvPr id="246" name="Google Shape;246;p25"/>
          <p:cNvSpPr txBox="1"/>
          <p:nvPr/>
        </p:nvSpPr>
        <p:spPr>
          <a:xfrm>
            <a:off x="617236" y="2907792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Folium 추천 지도(위성 배경지도 전환)·TOP 표·집중구역 검증·설치 근거</a:t>
            </a:r>
            <a:endParaRPr sz="1100"/>
          </a:p>
        </p:txBody>
      </p:sp>
      <p:sp>
        <p:nvSpPr>
          <p:cNvPr id="247" name="Google Shape;247;p25"/>
          <p:cNvSpPr/>
          <p:nvPr/>
        </p:nvSpPr>
        <p:spPr>
          <a:xfrm>
            <a:off x="617236" y="329184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원본 = 그늘막 분석의 기초 입력 — 변환 자산을 도시 정책 분석으로 확장</a:t>
            </a:r>
            <a:endParaRPr sz="1100"/>
          </a:p>
        </p:txBody>
      </p:sp>
      <p:sp>
        <p:nvSpPr>
          <p:cNvPr id="248" name="Google Shape;248;p25"/>
          <p:cNvSpPr/>
          <p:nvPr/>
        </p:nvSpPr>
        <p:spPr>
          <a:xfrm>
            <a:off x="617236" y="3291840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디자인</a:t>
            </a:r>
            <a:endParaRPr sz="1100"/>
          </a:p>
        </p:txBody>
      </p:sp>
      <p:sp>
        <p:nvSpPr>
          <p:cNvPr id="255" name="Google Shape;255;p2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UI/UX</a:t>
            </a:r>
            <a:endParaRPr sz="1100"/>
          </a:p>
        </p:txBody>
      </p:sp>
      <p:sp>
        <p:nvSpPr>
          <p:cNvPr id="256" name="Google Shape;256;p2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58" name="Google Shape;258;p2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14</a:t>
            </a:r>
            <a:endParaRPr sz="1100"/>
          </a:p>
        </p:txBody>
      </p:sp>
      <p:sp>
        <p:nvSpPr>
          <p:cNvPr id="259" name="Google Shape;259;p2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ui/theme.py Palette — 순백 배경·얇은 보더·단일 액센트로 복잡성을 숨긴 깔끔한 인터페이스.</a:t>
            </a:r>
            <a:endParaRPr sz="1100"/>
          </a:p>
        </p:txBody>
      </p:sp>
      <p:sp>
        <p:nvSpPr>
          <p:cNvPr id="260" name="Google Shape;260;p26"/>
          <p:cNvSpPr/>
          <p:nvPr/>
        </p:nvSpPr>
        <p:spPr>
          <a:xfrm>
            <a:off x="61723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2383E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6"/>
          <p:cNvSpPr txBox="1"/>
          <p:nvPr/>
        </p:nvSpPr>
        <p:spPr>
          <a:xfrm>
            <a:off x="61723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ACCENT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노션 블루</a:t>
            </a:r>
            <a:endParaRPr sz="1100"/>
          </a:p>
        </p:txBody>
      </p:sp>
      <p:sp>
        <p:nvSpPr>
          <p:cNvPr id="262" name="Google Shape;262;p26"/>
          <p:cNvSpPr/>
          <p:nvPr/>
        </p:nvSpPr>
        <p:spPr>
          <a:xfrm>
            <a:off x="1958354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37352F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6"/>
          <p:cNvSpPr txBox="1"/>
          <p:nvPr/>
        </p:nvSpPr>
        <p:spPr>
          <a:xfrm>
            <a:off x="1958354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TEXT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본문</a:t>
            </a:r>
            <a:endParaRPr sz="1100"/>
          </a:p>
        </p:txBody>
      </p:sp>
      <p:sp>
        <p:nvSpPr>
          <p:cNvPr id="264" name="Google Shape;264;p26"/>
          <p:cNvSpPr/>
          <p:nvPr/>
        </p:nvSpPr>
        <p:spPr>
          <a:xfrm>
            <a:off x="3299471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F7F6F3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6"/>
          <p:cNvSpPr txBox="1"/>
          <p:nvPr/>
        </p:nvSpPr>
        <p:spPr>
          <a:xfrm>
            <a:off x="3299471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PANEL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패널</a:t>
            </a:r>
            <a:endParaRPr sz="1100"/>
          </a:p>
        </p:txBody>
      </p:sp>
      <p:sp>
        <p:nvSpPr>
          <p:cNvPr id="266" name="Google Shape;266;p26"/>
          <p:cNvSpPr/>
          <p:nvPr/>
        </p:nvSpPr>
        <p:spPr>
          <a:xfrm>
            <a:off x="4640589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0F7B6C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6"/>
          <p:cNvSpPr txBox="1"/>
          <p:nvPr/>
        </p:nvSpPr>
        <p:spPr>
          <a:xfrm>
            <a:off x="4640589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GREEN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성공</a:t>
            </a:r>
            <a:endParaRPr sz="1100"/>
          </a:p>
        </p:txBody>
      </p:sp>
      <p:sp>
        <p:nvSpPr>
          <p:cNvPr id="268" name="Google Shape;268;p26"/>
          <p:cNvSpPr/>
          <p:nvPr/>
        </p:nvSpPr>
        <p:spPr>
          <a:xfrm>
            <a:off x="598170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CB7B26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6"/>
          <p:cNvSpPr txBox="1"/>
          <p:nvPr/>
        </p:nvSpPr>
        <p:spPr>
          <a:xfrm>
            <a:off x="598170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AMBER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경고</a:t>
            </a:r>
            <a:endParaRPr sz="1100"/>
          </a:p>
        </p:txBody>
      </p:sp>
      <p:sp>
        <p:nvSpPr>
          <p:cNvPr id="270" name="Google Shape;270;p26"/>
          <p:cNvSpPr/>
          <p:nvPr/>
        </p:nvSpPr>
        <p:spPr>
          <a:xfrm>
            <a:off x="7322825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E03E3E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 txBox="1"/>
          <p:nvPr/>
        </p:nvSpPr>
        <p:spPr>
          <a:xfrm>
            <a:off x="7322825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RED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실패</a:t>
            </a:r>
            <a:endParaRPr sz="1100"/>
          </a:p>
        </p:txBody>
      </p:sp>
      <p:sp>
        <p:nvSpPr>
          <p:cNvPr id="272" name="Google Shape;272;p26"/>
          <p:cNvSpPr txBox="1"/>
          <p:nvPr/>
        </p:nvSpPr>
        <p:spPr>
          <a:xfrm>
            <a:off x="617236" y="246887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폰트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UI는 Segoe UI / Malgun Gothic, 본 발표자료는 Noto Sans KR</a:t>
            </a:r>
            <a:endParaRPr sz="1100"/>
          </a:p>
        </p:txBody>
      </p:sp>
      <p:sp>
        <p:nvSpPr>
          <p:cNvPr id="273" name="Google Shape;273;p26"/>
          <p:cNvSpPr txBox="1"/>
          <p:nvPr/>
        </p:nvSpPr>
        <p:spPr>
          <a:xfrm>
            <a:off x="617236" y="2825495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상태 시각화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QA 등급을 PASS / WARNING / FAIL 색상으로 즉시 표현</a:t>
            </a:r>
            <a:endParaRPr sz="1100"/>
          </a:p>
        </p:txBody>
      </p:sp>
      <p:sp>
        <p:nvSpPr>
          <p:cNvPr id="274" name="Google Shape;274;p26"/>
          <p:cNvSpPr txBox="1"/>
          <p:nvPr/>
        </p:nvSpPr>
        <p:spPr>
          <a:xfrm>
            <a:off x="617236" y="318211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깊이 표현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그림자 대신 1px 보더 + 6~8px 라운드 코너로 정돈된 계층감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정리</a:t>
            </a:r>
            <a:endParaRPr sz="1100"/>
          </a:p>
        </p:txBody>
      </p:sp>
      <p:sp>
        <p:nvSpPr>
          <p:cNvPr id="281" name="Google Shape;281;p2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핵심 가치 및 산출물</a:t>
            </a:r>
            <a:endParaRPr sz="1100"/>
          </a:p>
        </p:txBody>
      </p:sp>
      <p:sp>
        <p:nvSpPr>
          <p:cNvPr id="282" name="Google Shape;282;p2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84" name="Google Shape;284;p2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15</a:t>
            </a:r>
            <a:endParaRPr sz="1100"/>
          </a:p>
        </p:txBody>
      </p:sp>
      <p:sp>
        <p:nvSpPr>
          <p:cNvPr id="285" name="Google Shape;285;p27"/>
          <p:cNvSpPr/>
          <p:nvPr/>
        </p:nvSpPr>
        <p:spPr>
          <a:xfrm>
            <a:off x="617236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엔드투엔드 자동화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입력→추출→제거→보간→QA→저장을 사람 개입 없이 단일 실행</a:t>
            </a:r>
            <a:endParaRPr sz="1100"/>
          </a:p>
        </p:txBody>
      </p:sp>
      <p:sp>
        <p:nvSpPr>
          <p:cNvPr id="286" name="Google Shape;286;p27"/>
          <p:cNvSpPr/>
          <p:nvPr/>
        </p:nvSpPr>
        <p:spPr>
          <a:xfrm>
            <a:off x="2642629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기반 확장성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2048px 타일 처리로 대용량 영상도 안정적으로 변환</a:t>
            </a:r>
            <a:endParaRPr sz="1100"/>
          </a:p>
        </p:txBody>
      </p:sp>
      <p:sp>
        <p:nvSpPr>
          <p:cNvPr id="287" name="Google Shape;287;p27"/>
          <p:cNvSpPr/>
          <p:nvPr/>
        </p:nvSpPr>
        <p:spPr>
          <a:xfrm>
            <a:off x="4668022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QA 정량화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경사연속성·스파이크·NoData를 등급(PASS/WARNING/FAIL)으로 표준화</a:t>
            </a:r>
            <a:endParaRPr sz="1100"/>
          </a:p>
        </p:txBody>
      </p:sp>
      <p:sp>
        <p:nvSpPr>
          <p:cNvPr id="288" name="Google Shape;288;p27"/>
          <p:cNvSpPr/>
          <p:nvPr/>
        </p:nvSpPr>
        <p:spPr>
          <a:xfrm>
            <a:off x="6693415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GIS 호환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GeoTIFF DEM + 경계 SHP + 메타데이터 JSON 표준 산출</a:t>
            </a:r>
            <a:endParaRPr sz="1100"/>
          </a:p>
        </p:txBody>
      </p:sp>
      <p:sp>
        <p:nvSpPr>
          <p:cNvPr id="289" name="Google Shape;289;p27"/>
          <p:cNvSpPr txBox="1"/>
          <p:nvPr/>
        </p:nvSpPr>
        <p:spPr>
          <a:xfrm>
            <a:off x="617236" y="268147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최종 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&lt;dsm&gt;_dem_final.tif · _dem.tif · _pg_nodata.tif · _nodata_bg.shp · sidecar .json · 건물/수목/자동차 .shp</a:t>
            </a:r>
            <a:endParaRPr sz="1100"/>
          </a:p>
        </p:txBody>
      </p:sp>
      <p:sp>
        <p:nvSpPr>
          <p:cNvPr id="290" name="Google Shape;290;p27"/>
          <p:cNvSpPr/>
          <p:nvPr/>
        </p:nvSpPr>
        <p:spPr>
          <a:xfrm>
            <a:off x="617236" y="3092958"/>
            <a:ext cx="7909542" cy="617219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 · SAM3 파인튜닝 · 그늘막 최적입지 분석을 하나의 데스크톱 앱으로 통합 — 변환 자산을 정확도 향상과 도시 정책 분석으로 확장합니다.</a:t>
            </a:r>
            <a:endParaRPr sz="1100"/>
          </a:p>
        </p:txBody>
      </p:sp>
      <p:sp>
        <p:nvSpPr>
          <p:cNvPr id="291" name="Google Shape;291;p27"/>
          <p:cNvSpPr/>
          <p:nvPr/>
        </p:nvSpPr>
        <p:spPr>
          <a:xfrm>
            <a:off x="617236" y="3092958"/>
            <a:ext cx="48007" cy="617219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64008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0">
                <a:solidFill>
                  <a:srgbClr val="787774"/>
                </a:solidFill>
                <a:latin typeface="Noto Sans KR"/>
              </a:rPr>
              <a:t>데이터기반 도시설계 · 기말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0584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37352F"/>
                </a:solidFill>
                <a:latin typeface="Noto Sans KR"/>
              </a:rPr>
              <a:t>DSM → DEM Converter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2383E2"/>
                </a:solidFill>
                <a:latin typeface="Noto Sans KR"/>
              </a:rPr>
              <a:t>&amp; 동작구 여름 그늘막 최적 입지 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286000"/>
            <a:ext cx="1828800" cy="381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51460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787774"/>
                </a:solidFill>
                <a:latin typeface="Noto Sans KR"/>
              </a:rPr>
              <a:t>팀 구성 (3인)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문치국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GIS · 측량 · BIM 엔지니어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NGII 데이터 · DSM/DEM · 측량 도메인 자문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한영재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한화투자증권 · 채권 트레이더 / 인공지능융합대학원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그늘막 입지 분석 (MCDA + CV + GIS + 배낭 최적화) · 전체 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1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원우식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SOCAR · ML/AI Engineer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SAM3 · GDAL 파이프라인 · DSM→DEM Converter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43484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37352F"/>
                </a:solidFill>
                <a:latin typeface="Noto Sans KR"/>
              </a:rPr>
              <a:t>발표자 : 한영재 / 인공지능융합대학원 인공지능컴퓨팅 / 2025961227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70916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2026년 5월 · 연세대 도시공학과 · 데이터기반 도시설계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연계 · 선정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왜 DSM 기반 그늘막 입지 분석인가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261872"/>
            <a:ext cx="790956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앞서 소개한 DSM→DEM Converter 의 자산을 그늘막 입지 분석에 재활용 — 같은 데이터에서 다른 가치를 뽑아낸 학제간 협업.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691640"/>
            <a:ext cx="3840480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DEM vs DSM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DEM — 객체 제거된 순수 지표 (지형 분석)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DSM — 건물·수목 포함 표면 (그림자 분석)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36576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그림자는 표면 객체(건물·수목)의 꼭대기가 광선을 가려야 생김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DEM은 객체가 없으므로 그림자 시뮬레이션 불가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DSM의 표면 = ray-cast 광선이 부딪힐 차폐물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nDSM = DSM − DEM = 객체 순높이 (그림자 입력)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691640"/>
            <a:ext cx="3913632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친구 도구 → 우리 도구 자산 흐름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10312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DSM(입력) — 그늘막 분석의 자연그늘 입력으로 재활용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SAM3 건물 마스크 — 우리 CV-A SAM 의 검증 자료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GDAL 보간 — CV-DSM ray-cast 결측치 보완에 응용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DEM(출력) — 지형 분석 전용 (그늘막엔 사용 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0690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FF8E6"/>
          </a:solidFill>
          <a:ln w="952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CB7B26"/>
                </a:solidFill>
                <a:latin typeface="Noto Sans KR"/>
              </a:rPr>
              <a:t>📘 교수님 강의자료 13p 추천 — Deep Umbra (GAN 기반 일조 컴퓨테이션)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→ 본 프로젝트는 풀 GAN 학습 대신 DSM + 4시점 ray-cast 로 단순화 (핵심 정신: 다시점 시간 누적)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보완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이전 방식 → DSM·교수님 추천·AI 튜닝으로 보완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7909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108960"/>
                <a:gridCol w="3337560"/>
              </a:tblGrid>
              <a:tr h="355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항목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이전 (v1)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보완 (v2, 최종)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입력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19동 + 면적 추정 높이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SAM 30동 (CV-A) + NGII 실측 3,775동 (흑석동)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시뮬레이션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오후 3시 단일 시점 평행이동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DSM 4시점 ray-cast (Deep Umbra 영감)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안정성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결정론적 1회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383E2"/>
                          </a:solidFill>
                          <a:latin typeface="Noto Sans KR"/>
                        </a:rPr>
                        <a:t>Self-consistency 5회 평균 + 신뢰구간 (NEW)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보행로 필터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14개 라인 buffer 20m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walkable highway buffer 5m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안 cut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NGII 폴리곤 5m inset cut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결집 지점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교차로 + 횡단보도 50m 근접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가중치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수동 7 피처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Bayesian Opt 자동 튜닝 (실측 18개 라벨, 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정책 의사결정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TOP10 정렬만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예산 + 200m 분산 → 배낭 최적화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4617720"/>
            <a:ext cx="79095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→ 데이터 품질·시뮬레이션 정확도·정책 의사결정 3개 차원 동시 강화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입력 데이터 ·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9종 데이터를 7 피처로 통합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1148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데이터 9종 (3 계층)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411480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기본 5종: 생활인구 / LST / 취약계층 / 기존그늘막 / 인도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 2종: V-World 항공 → SAM 건물 30동 (CV-A)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Mapillary 거리뷰 1,302장 (CV-B)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외부 정밀 2종: NGII 흑석동 (DSM/DEM/건물 3,775동)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     OSMnx 도로망·교차로·횡단보도 306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325880"/>
            <a:ext cx="3685032" cy="146304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1732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Consolas"/>
              </a:rPr>
              <a:t>Score = Σ wᵢ × MinMax(Featureᵢ)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916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0.18·pop + 0.18·lst + 0.18·vuln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9202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− 0.15·shade − 0.05·natural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488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+ 0.12·sv_deficit + 0.20·intersection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42316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CB7B26"/>
                </a:solidFill>
                <a:latin typeface="Noto Sans KR"/>
              </a:rPr>
              <a:t>(p23: 학습 가중치는 자동 튜닝 — Bayesian Opt)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977639"/>
            <a:ext cx="79095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100m 격자 3,672 cells (EPSG:5179) · 보행로 + 건물 + 결집지 4단계 필터 → 330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시나리오 6 (기본·고령자·폭염·유동인구·보행환경·교차로) → 강건 입지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공간 필터링 + 컴퓨터비전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차도·건물·녹지 추천 방지 + 항공·거리뷰 통합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78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3,672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전체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CB7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449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보행로 5m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1363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434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건물 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0F7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330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결집지 50m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238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10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CV-A · 항공 + Mobile-SAM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V-World WMTS z=15 · 48 타일 합성 (2048×1536)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Mobile-SAM zero-shot (Meta 2023, 40MB CPU)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면적·종횡비·밝기 필터 → 건물 30동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흑석동에선 NGII 3,775동이 자동 union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CV-B · 거리뷰 + SegFormer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Mapillary 동작구 BBOX 4×4 → 1,302장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SegFormer-b0 (CityScapes 19 classes pretrained)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deficit = (도로+보도) × (1 − 건물 − 식생)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TOP10 평균 deficit 0.153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CV-DSM ·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DSM 4시점 ray-cast + ±변동 5회 신뢰구간 (강의 13p + 40p 동시 반영)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572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강의 13p 추천 Deep Umbra (GAN) → DSM ray-cast 로 단순 이식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흑석동 DSM(표면) − DEM(지표) = nDSM (객체 순높이)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4시점 (10·12·14·16시) shadow union → 누적 그림자 비율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309 격자 평균 누적 그림자 0.157 → natural 피처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325880"/>
            <a:ext cx="3319272" cy="32004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Self-consistency 5회 (NEW)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강의 40p 권장 — 5회 반복 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65960"/>
            <a:ext cx="310896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태양 위치 ±15분 시각, ±5° 방위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→ 5회 ray-cast 결과 평균 + std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신뢰구간 [mean−2σ, mean+2σ] 산출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안정적 격자 vs 변동 큰 격자 구분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평균 std 0.021 (낮음 = 안정적)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309 격자에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3246120"/>
            <a:ext cx="4572000" cy="146304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4206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📁 산출물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420624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heukseok_shadow_accum.tif (누적 그림자 래스터)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grid_heukseok_consistency.csv (격자별 mean/std/ci95)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focus map v8 — 그림자 std 레이어 토글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흑석동 정밀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NGII 실측 건물 3,775동 + 실측 그늘막 18개 + 신규 추천 TOP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4023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868680"/>
                <a:gridCol w="1051560"/>
                <a:gridCol w="1417320"/>
              </a:tblGrid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Rank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score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기존그늘막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분류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+0.276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45.7m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+0.231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44.4m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TOP3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+0.134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322.9m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359.6m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 (최대)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TOP5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234.8m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+0.072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98.5m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+0.068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51.0m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+0.057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153.8m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TOP9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+0.016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70.0m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5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−0.008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29.2m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97680" y="1325880"/>
            <a:ext cx="4233672" cy="18288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1732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⭐ 사각지대 4곳 — 정책 어필 1순위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91640"/>
            <a:ext cx="402336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최대 359.6m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91840"/>
            <a:ext cx="4233672" cy="13716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38328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흑석동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657600"/>
            <a:ext cx="402336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실측 그늘막 18개 (고정형 13 + 스마트형 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건물 3,775동 (층수·HEGT) + DSM 4시점 누적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그늘막 75% 영역 커버 → 정책: 다른 동 우선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가중치 자동 튜닝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Bayesian Optimization (n=60) + 실측 그늘막 18개 역-라벨 학습 (NEW)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가설: 이미 그늘막이 설치된 위치는 score 가 낮아야 한다 (이미 충분히 커버됨)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Consolas"/>
              </a:rPr>
              <a:t>→ loss = mean( score(실측 그늘막 18개 근접 격자) )  — minimize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" y="2148840"/>
          <a:ext cx="7909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6916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피처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수동 (직관)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학습 (BayesOpt)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변화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popdens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+0.260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lst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+0.318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폭염 우선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vuln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+0.061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약화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shade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−0.295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natural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−0.050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−0.178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streetview_deficit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+0.120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무력화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intersection_density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+0.255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4434840"/>
            <a:ext cx="7909560" cy="41148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98848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FFEE58"/>
                </a:solidFill>
                <a:latin typeface="Noto Sans KR"/>
              </a:rPr>
              <a:t>검증: 실측 위치 평균 score   0.087 (수동) → −0.122 (학습)   Δ −0.21 — 학습이 실측 위치를 덜 추천 = 가설 부합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OSMnx · 시나리오 · 강건 입지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도로망·교차로·횡단보도 통합 + 6 정책 시나리오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3840480" cy="164592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OSMnx (보행자 결집 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3657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walkable highway edges — 보행로 5m 필터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교차로 노드 (street_count ≥ 3)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횡단보도 306 (highway/footway/crossing 3종 통합)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결집지 union → 80m 내 개수 (피처) + 50m 근접 (필터)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0952" y="1325880"/>
          <a:ext cx="3657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685800"/>
                <a:gridCol w="685800"/>
              </a:tblGrid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시나리오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강조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최고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유니크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기본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균형 18/18/18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0.551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고령자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vuln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폭염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lst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0.607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유동인구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pop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0.648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보행환경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sv_deficit 0.32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0.589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교차로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intersection 0.40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0.474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3200400"/>
            <a:ext cx="7909560" cy="1554480"/>
          </a:xfrm>
          <a:prstGeom prst="roundRect">
            <a:avLst>
              <a:gd name="adj" fmla="val 8000"/>
            </a:avLst>
          </a:prstGeom>
          <a:solidFill>
            <a:srgbClr val="FFF0F0"/>
          </a:solidFill>
          <a:ln w="15875">
            <a:solidFill>
              <a:srgbClr val="E0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⭐ 강건 입지 — 6 시나리오 모두 공통 추천 (정책 관점 불변)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#1  37.4907, 126.9647   동작대로 사당-이수 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39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#2  37.4898, 126.9670   동작대로 사당역 인근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→ 예산 제약 시 최우선 설치 대상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사각지대 + 예산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흑석동 사각지대 4곳 + 예산 4천만원 배낭 최적 배치 5곳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3840480" cy="246888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흑석동 사각지대 TOP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365760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359.6m  (최대)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기존 그늘막 18개와 비교 — 정책 어필 1순위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1325880"/>
            <a:ext cx="3319272" cy="246888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예산 4천만원 최적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787774"/>
                </a:solidFill>
                <a:latin typeface="Noto Sans KR"/>
              </a:rPr>
              <a:t>PuLP 정수 선형계획법 (CBC, Optimal)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965960"/>
            <a:ext cx="310896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단가 800만원/개 → 최대 5개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공간 분산 ≥ 200m (29쌍 제약)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선정 5: 이수역·이수북·사당동·사당남·노량진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총 score 1.852, 예산 100% 사용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93192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Noto Sans KR"/>
              </a:rPr>
              <a:t>TOP10 단순 정렬 vs 배낭 최적화 — 200m 분산 제약으로 같은 곳 몰림 방지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KR"/>
              </a:rPr>
              <a:t>→ 노량진역이 자동 포함되며 정책 효용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결론 ·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현재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5종 기본 데이터 중 4종 더미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LST 래스터 직접 파싱 미연결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SAM 추출 건물 추정 높이 (NGII는 실측)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예산 단가 800만원/개 가정 (실 단가 확보 시 교체)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서울 열린데이터 API 연결 (P0)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전 동 실측 그늘막 (흑석동만 확보)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CV-D 멀티모달 VLM (강의 40~42p Reason-then-Estimate)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타 자치구 확장 (BBOX·NGII 교체)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520440"/>
            <a:ext cx="7909560" cy="118872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FFEE58"/>
                </a:solidFill>
                <a:latin typeface="Noto Sans KR"/>
              </a:rPr>
              <a:t>DSM → DEM Converter 의 자산 (DSM·SAM3·GDAL) 을 재활용해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KR"/>
              </a:rPr>
              <a:t>그늘막 입지를 MCDA + CV + Self-consistency + Bayesian Opt + 배낭 최적화로 도출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Noto Sans KR"/>
              </a:rPr>
              <a:t>→ 강건 입지 2 + 흑석동 사각지대 4 + 예산 4천만원 최적 배치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
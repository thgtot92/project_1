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71" r:id="rId24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y="5143500" cx="9144000"/>
  <p:notesSz cx="6858000" cy="9144000"/>
  <p:embeddedFontLst>
    <p:embeddedFont>
      <p:font typeface="Noto Sans KR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AADE43-5EBC-4259-8172-A036047B30FA}">
  <a:tblStyle styleId="{42AADE43-5EBC-4259-8172-A036047B30F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NotoSansKR-regular.fntdata"/><Relationship Id="rId23" Type="http://schemas.openxmlformats.org/officeDocument/2006/relationships/font" Target="fonts/NotoSansKR-bold.fntdata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b44efd46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eb44efd466_1_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b44efd466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eb44efd466_1_1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b44efd466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eb44efd466_1_2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b44efd466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eb44efd466_1_3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b44efd466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eb44efd466_1_5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b44efd466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eb44efd466_1_6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b44efd466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eb44efd466_1_8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b44efd466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eb44efd466_1_9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b44efd466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eb44efd466_1_10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b44efd466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eb44efd466_1_12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b44efd466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eb44efd466_1_14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b44efd466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eb44efd466_1_15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b44efd466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eb44efd466_1_17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b44efd466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eb44efd466_1_18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b44efd466_1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eb44efd466_1_21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[1p · 표지 · 60초]</a:t>
            </a:r>
          </a:p>
          <a:p>
            <a:r>
              <a:t>- 안녕하세요. 인공지능융합대학원 한영재입니다.</a:t>
            </a:r>
          </a:p>
          <a:p>
            <a:r>
              <a:t>- 본 프로젝트는 3인 팀 작업입니다:</a:t>
            </a:r>
          </a:p>
          <a:p>
            <a:r>
              <a:t>  · 문치국 — GIS·측량·BIM 엔지니어 (NGII·DSM 자문)</a:t>
            </a:r>
          </a:p>
          <a:p>
            <a:r>
              <a:t>  · 한영재 — 한화투자증권 채권트레이더 (그늘막 분석 전체)</a:t>
            </a:r>
          </a:p>
          <a:p>
            <a:r>
              <a:t>  · 원우식 — SOCAR ML/AI Engineer (SAM3·DSM→DEM 파이프라인)</a:t>
            </a:r>
          </a:p>
          <a:p>
            <a:r>
              <a:t>- 메인은 두 부분으로 구성됩니다:</a:t>
            </a:r>
          </a:p>
          <a:p>
            <a:r>
              <a:t>  1) 2~16p: 친구들이 만든 DSM → DEM Converter (15장)</a:t>
            </a:r>
          </a:p>
          <a:p>
            <a:r>
              <a:t>  2) 17p~: 같은 DSM 자산을 재활용한 그늘막 입지 분석 (10장)</a:t>
            </a:r>
          </a:p>
          <a:p>
            <a:r>
              <a:t>- 학제간 협업의 결과물입니다.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[17p · 왜 DSM 기반인가 · 60초]</a:t>
            </a:r>
          </a:p>
          <a:p>
            <a:r>
              <a:t>핵심 메시지: 친구들 작품 (DSM→DEM Converter) 의 DSM 자산을 우리가 재활용</a:t>
            </a:r>
          </a:p>
          <a:p/>
          <a:p>
            <a:r>
              <a:t>DEM vs DSM (가장 자주 받는 질문):</a:t>
            </a:r>
          </a:p>
          <a:p>
            <a:r>
              <a:t>- DEM: 객체 제거된 순수 지표 → 침수 분석·토목 설계</a:t>
            </a:r>
          </a:p>
          <a:p>
            <a:r>
              <a:t>- DSM: 건물·수목 포함 표면 → 그림자·일조 분석</a:t>
            </a:r>
          </a:p>
          <a:p>
            <a:r>
              <a:t>- 그림자를 만드는 건 표면 객체의 꼭대기. DEM 으론 그림자가 안 생김</a:t>
            </a:r>
          </a:p>
          <a:p>
            <a:r>
              <a:t>- nDSM = DSM − DEM = 객체 순높이 = ray-cast 입력</a:t>
            </a:r>
          </a:p>
          <a:p/>
          <a:p>
            <a:r>
              <a:t>연계 흐름:</a:t>
            </a:r>
          </a:p>
          <a:p>
            <a:r>
              <a:t>- 친구 도구: 정사영상 → SAM3 객체 추출 → DSM 에서 제거 → GDAL 보간 → DEM</a:t>
            </a:r>
          </a:p>
          <a:p>
            <a:r>
              <a:t>- 우리 도구: DSM 원본을 그대로 받아 → ray-cast 그림자 시뮬레이션 → 입지 추천</a:t>
            </a:r>
          </a:p>
          <a:p/>
          <a:p>
            <a:r>
              <a:t>교수님 13p 추천: Deep Umbra (GAN 일조 컴퓨테이션)</a:t>
            </a:r>
          </a:p>
          <a:p>
            <a:r>
              <a:t>- 풀 GAN 학습 부담 → DSM + 4시점 ray-cast 로 단순 이식</a:t>
            </a:r>
          </a:p>
          <a:p>
            <a:r>
              <a:t>- 핵심 정신(다시점 시간 누적) 은 유지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[18p · 보완 흐름 · 45초]</a:t>
            </a:r>
          </a:p>
          <a:p>
            <a:r>
              <a:t>v1 (초기) → v2 (최종) 비교 9 항목:</a:t>
            </a:r>
          </a:p>
          <a:p>
            <a:r>
              <a:t>- 건물 입력: 더미 19동 → 실측 30+3,775동 (SAM + NGII)</a:t>
            </a:r>
          </a:p>
          <a:p>
            <a:r>
              <a:t>- 그림자: 단일 시점 → 4시점 ray-cast (Deep Umbra 영감)</a:t>
            </a:r>
          </a:p>
          <a:p>
            <a:r>
              <a:t>- 안정성: 결정론적 1회 → Self-consistency 5회 평균 (NEW)</a:t>
            </a:r>
          </a:p>
          <a:p>
            <a:r>
              <a:t>- 보행로: 더미 14라인 buffer 20m → OSMnx walkable 5m</a:t>
            </a:r>
          </a:p>
          <a:p>
            <a:r>
              <a:t>- 건물 cut: 없음 → NGII 5m inset (건물 위 추천 방지)</a:t>
            </a:r>
          </a:p>
          <a:p>
            <a:r>
              <a:t>- 결집지: 없음 → 교차로+횡단보도 50m 근접 (OSMnx)</a:t>
            </a:r>
          </a:p>
          <a:p>
            <a:r>
              <a:t>- 가중치: 수동 → Bayesian Opt 자동 튜닝 (NEW, 실측 18개 라벨)</a:t>
            </a:r>
          </a:p>
          <a:p>
            <a:r>
              <a:t>- 정책: TOP10 정렬 → 배낭 최적화 (예산+분산 제약)</a:t>
            </a:r>
          </a:p>
          <a:p/>
          <a:p>
            <a:r>
              <a:t>전체 메시지: 데이터 품질 + 시뮬레이션 정확도 + 정책 의사결정 3개 차원 동시 강화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[19p · 데이터 9종 + Score · 45초]</a:t>
            </a:r>
          </a:p>
          <a:p>
            <a:r>
              <a:t>3 계층:</a:t>
            </a:r>
          </a:p>
          <a:p>
            <a:r>
              <a:t>- 기본 5종 (현재 4종 더미, 실데이터 자동 전환 구조)</a:t>
            </a:r>
          </a:p>
          <a:p>
            <a:r>
              <a:t>- CV 2종 (V-World 항공 + Mapillary 거리뷰)</a:t>
            </a:r>
          </a:p>
          <a:p>
            <a:r>
              <a:t>- 외부 정밀 2종 (NGII 흑석동 + OSMnx 도로망)</a:t>
            </a:r>
          </a:p>
          <a:p/>
          <a:p>
            <a:r>
              <a:t>Score 식:</a:t>
            </a:r>
          </a:p>
          <a:p>
            <a:r>
              <a:t>0.18·pop + 0.18·lst + 0.18·vuln − 0.15·shade − 0.05·natural</a:t>
            </a:r>
          </a:p>
          <a:p>
            <a:r>
              <a:t>+ 0.12·sv_deficit + 0.20·intersection</a:t>
            </a:r>
          </a:p>
          <a:p>
            <a:r>
              <a:t>→ 가중치는 다음 다음 슬라이드(23p) 에서 BayesOpt 로 자동 튜닝됨</a:t>
            </a:r>
          </a:p>
          <a:p/>
          <a:p>
            <a:r>
              <a:t>격자 3,672 → 4단계 필터 → 330 → 시나리오 6 × TOP10 → 강건 입지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[20p · 공간 필터링 + CV · 45초]</a:t>
            </a:r>
          </a:p>
          <a:p>
            <a:r>
              <a:t>4단계 필터 (3,672 → 330, 9% 살아남음):</a:t>
            </a:r>
          </a:p>
          <a:p>
            <a:r>
              <a:t>- 보행로 5m: OSMnx walkable edges</a:t>
            </a:r>
          </a:p>
          <a:p>
            <a:r>
              <a:t>- 건물 컷: NGII 폴리곤 5m inset (건물 위 추천 차단)</a:t>
            </a:r>
          </a:p>
          <a:p>
            <a:r>
              <a:t>- 결집지 50m: 교차로 + 횡단보도 근접</a:t>
            </a:r>
          </a:p>
          <a:p/>
          <a:p>
            <a:r>
              <a:t>CV-A · Mobile-SAM (Meta 2023):</a:t>
            </a:r>
          </a:p>
          <a:p>
            <a:r>
              <a:t>- V-World 항공 z=15, 48 타일 합성</a:t>
            </a:r>
          </a:p>
          <a:p>
            <a:r>
              <a:t>- zero-shot, 40MB CPU 추론, 학습 0건</a:t>
            </a:r>
          </a:p>
          <a:p>
            <a:r>
              <a:t>- 건물 30동 자동 추출</a:t>
            </a:r>
          </a:p>
          <a:p/>
          <a:p>
            <a:r>
              <a:t>CV-B · SegFormer-b0 (NVIDIA CityScapes pretrained):</a:t>
            </a:r>
          </a:p>
          <a:p>
            <a:r>
              <a:t>- Mapillary 거리뷰 1,302장 → 후보 19격자 매핑</a:t>
            </a:r>
          </a:p>
          <a:p>
            <a:r>
              <a:t>- 19 classes 의미 분할 → 그늘 결핍 공식</a:t>
            </a:r>
          </a:p>
          <a:p>
            <a:r>
              <a:t>- TOP10 평균 deficit 0.153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[21p · CV-DSM + Self-consistency · 60초 — NEW]</a:t>
            </a:r>
          </a:p>
          <a:p>
            <a:r>
              <a:t>강의 13p + 40p 동시 반영:</a:t>
            </a:r>
          </a:p>
          <a:p/>
          <a:p>
            <a:r>
              <a:t>CV-DSM (Deep Umbra 영감, 9시점으로 확장):</a:t>
            </a:r>
          </a:p>
          <a:p>
            <a:r>
              <a:t>- 흑석동 DSM − DEM = nDSM (객체 높이)</a:t>
            </a:r>
          </a:p>
          <a:p>
            <a:r>
              <a:t>- 9시점 (09~17시 1시간 간격) shadow union → 누적 비율 [기존 4시점에서 확장]</a:t>
            </a:r>
          </a:p>
          <a:p>
            <a:r>
              <a:t>- 309 격자 평균 누적 0.148</a:t>
            </a:r>
          </a:p>
          <a:p>
            <a:r>
              <a:t>- 시간 누적 정밀도 ↑ → 시나리오 간 분산 ↑ → 강건 입지 검증 더 엄격</a:t>
            </a:r>
          </a:p>
          <a:p/>
          <a:p>
            <a:r>
              <a:t>Self-consistency 5회 (NEW, 강의 40p 권장):</a:t>
            </a:r>
          </a:p>
          <a:p>
            <a:r>
              <a:t>- 단일 ray-cast 는 태양위치 가정에 의존 → 신뢰구간 없음</a:t>
            </a:r>
          </a:p>
          <a:p>
            <a:r>
              <a:t>- ±15분 시각, ±5° 방위 변동 5회 → 평균 + std</a:t>
            </a:r>
          </a:p>
          <a:p>
            <a:r>
              <a:t>- 평균 std 0.021 (낮음 = 안정적, 결과 신뢰)</a:t>
            </a:r>
          </a:p>
          <a:p>
            <a:r>
              <a:t>- 흑석동 focus map 에 std 레이어 토글 가능</a:t>
            </a:r>
          </a:p>
          <a:p/>
          <a:p>
            <a:r>
              <a:t>예상 질문:</a:t>
            </a:r>
          </a:p>
          <a:p>
            <a:r>
              <a:t>- 왜 풀 GAN 안 썼나? → 학습 시간·데이터 부담. ray-cast 로 같은 메시지</a:t>
            </a:r>
          </a:p>
          <a:p>
            <a:r>
              <a:t>- 왜 9시점? → 보행자 활동시간 (오전·오후 누적) 모두 반영, Deep Umbra 원논문 정신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[22p · 흑석동 정밀 분석 · 60초]</a:t>
            </a:r>
          </a:p>
          <a:p>
            <a:r>
              <a:t>NGII 실측 3,775동 + 실측 그늘막 18개 (고정 13 + 스마트 5) + TOP10 분류</a:t>
            </a:r>
          </a:p>
          <a:p/>
          <a:p>
            <a:r>
              <a:t>TOP10 3 카테고리:</a:t>
            </a:r>
          </a:p>
          <a:p>
            <a:r>
              <a:t>- ⭐사각지대 (&gt;150m): TOP3·4·5·8 (4곳) — 정책 어필 1순위</a:t>
            </a:r>
          </a:p>
          <a:p>
            <a:r>
              <a:t>- ●보강 (&lt;60m): TOP1·2·7·10 (4곳) — 기존 강화</a:t>
            </a:r>
          </a:p>
          <a:p>
            <a:r>
              <a:t>- ○중간 (60~150m): TOP6·9 (2곳)</a:t>
            </a:r>
          </a:p>
          <a:p/>
          <a:p>
            <a:r>
              <a:t>최대 사각지대: TOP4 (37.49786, 126.96129) — 359.6m</a:t>
            </a:r>
          </a:p>
          <a:p>
            <a:r>
              <a:t>→ 흑석동 신규 설치 시 1순위 우선 후보</a:t>
            </a:r>
          </a:p>
          <a:p/>
          <a:p>
            <a:r>
              <a:t>정책 메시지: 흑석동은 그늘막 75% 영역 커버 → 다른 동 우선 / 흑석동 내부 추가는 사각지대 4곳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[23p · 가중치 자동 튜닝 · 75초 — NEW, 강의 40p 추천]</a:t>
            </a:r>
          </a:p>
          <a:p>
            <a:r>
              <a:t>가설 (사용자 정정 반영):</a:t>
            </a:r>
          </a:p>
          <a:p>
            <a:r>
              <a:t>- "이미 설치된 곳은 score 가 낮아야" → loss = mean(score(실측 18개 근접)) minimize</a:t>
            </a:r>
          </a:p>
          <a:p/>
          <a:p>
            <a:r>
              <a:t>Bayesian Optimization (skopt.gp_minimize, n=60):</a:t>
            </a:r>
          </a:p>
          <a:p>
            <a:r>
              <a:t>- GP surrogate 로 7 피처 가중치 자동 탐색</a:t>
            </a:r>
          </a:p>
          <a:p>
            <a:r>
              <a:t>- 강의 40p 권장의 "데이터 기반 검증" 정신 반영</a:t>
            </a:r>
          </a:p>
          <a:p/>
          <a:p>
            <a:r>
              <a:t>학습 결과 (수동 → 학습):</a:t>
            </a:r>
          </a:p>
          <a:p>
            <a:r>
              <a:t>- shade −0.150 → −0.295  (페널티 2배 강화!)</a:t>
            </a:r>
          </a:p>
          <a:p>
            <a:r>
              <a:t>- natural −0.050 → −0.178 (3.6배)</a:t>
            </a:r>
          </a:p>
          <a:p>
            <a:r>
              <a:t>- lst +0.180 → +0.318 (폭염 우선)</a:t>
            </a:r>
          </a:p>
          <a:p>
            <a:r>
              <a:t>- vuln +0.180 → +0.061 (흑석동 그늘막이 취약지에 집중되어 있어서 약화)</a:t>
            </a:r>
          </a:p>
          <a:p/>
          <a:p>
            <a:r>
              <a:t>검증: 실측 위치 평균 score 0.087 → −0.122 (Δ −0.21, 가설 부합)</a:t>
            </a:r>
          </a:p>
          <a:p>
            <a:r>
              <a:t>→ 알고리즘이 데이터로부터 "기존 설치 = 이미 좋은 곳" 을 자동 학습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[24p · OSMnx + 시나리오 + 강건 입지 · 60초]</a:t>
            </a:r>
          </a:p>
          <a:p>
            <a:r>
              <a:t>OSMnx (보행자 결집 지점):</a:t>
            </a:r>
          </a:p>
          <a:p>
            <a:r>
              <a:t>- walkable highway edges (보행로 5m 필터 입력)</a:t>
            </a:r>
          </a:p>
          <a:p>
            <a:r>
              <a:t>- 교차로 노드 (street_count ≥ 3)</a:t>
            </a:r>
          </a:p>
          <a:p>
            <a:r>
              <a:t>- 횡단보도 306 (한국 OSM 은 footway=crossing 우세 → 3종 태그 통합)</a:t>
            </a:r>
          </a:p>
          <a:p/>
          <a:p>
            <a:r>
              <a:t>시나리오 6: 기본·고령자·폭염·유동인구·보행환경·교차로</a:t>
            </a:r>
          </a:p>
          <a:p>
            <a:r>
              <a:t>- 가중치만 바꿔 재스코어 = 정책 민감도 분석</a:t>
            </a:r>
          </a:p>
          <a:p>
            <a:r>
              <a:t>- 유동인구 최고 0.648, 3곳 독점</a:t>
            </a:r>
          </a:p>
          <a:p/>
          <a:p>
            <a:r>
              <a:t>⭐ 강건 입지 2곳 (6 시나리오 모두 공통):</a:t>
            </a:r>
          </a:p>
          <a:p>
            <a:r>
              <a:t>- 37.4907, 126.9647 — 동작대로 사당-이수 축</a:t>
            </a:r>
          </a:p>
          <a:p>
            <a:r>
              <a:t>- 37.4898, 126.9670 — 동작대로 사당역 인근</a:t>
            </a:r>
          </a:p>
          <a:p>
            <a:r>
              <a:t>→ 예산 제약 시 최우선 설치 대상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[25p · 사각지대 + 예산 최적화 · 45초]</a:t>
            </a:r>
          </a:p>
          <a:p>
            <a:r>
              <a:t>사각지대 4곳 (흑석동 한정, p22 참고):</a:t>
            </a:r>
          </a:p>
          <a:p>
            <a:r>
              <a:t>- TOP4 359.6m (최대), TOP3 322.9m, TOP5 234.8m, TOP8 153.8m</a:t>
            </a:r>
          </a:p>
          <a:p/>
          <a:p>
            <a:r>
              <a:t>예산 4천만원 배낭 최적화 (PuLP CBC, Optimal):</a:t>
            </a:r>
          </a:p>
          <a:p>
            <a:r>
              <a:t>- 단가 800만원/개 → 최대 5개</a:t>
            </a:r>
          </a:p>
          <a:p>
            <a:r>
              <a:t>- 200m 공간 분산 제약 (29쌍 active)</a:t>
            </a:r>
          </a:p>
          <a:p>
            <a:r>
              <a:t>- 선정 5: 이수역·이수북·사당동·사당남·노량진</a:t>
            </a:r>
          </a:p>
          <a:p>
            <a:r>
              <a:t>- 총 score 1.852, 예산 100% 사용</a:t>
            </a:r>
          </a:p>
          <a:p/>
          <a:p>
            <a:r>
              <a:t>핵심 차이: TOP10 단순 정렬 vs 배낭 최적화</a:t>
            </a:r>
          </a:p>
          <a:p>
            <a:r>
              <a:t>- 단순 정렬: 사당-이수에 7곳 몰림</a:t>
            </a:r>
          </a:p>
          <a:p>
            <a:r>
              <a:t>- 배낭: 200m 분산으로 노량진역도 자동 포함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[26p · 결론 · 45초]</a:t>
            </a:r>
          </a:p>
          <a:p>
            <a:r>
              <a:t>한 줄 요약:</a:t>
            </a:r>
          </a:p>
          <a:p>
            <a:r>
              <a:t>"DSM → DEM Converter 자산을 재활용해 그늘막 입지를</a:t>
            </a:r>
          </a:p>
          <a:p>
            <a:r>
              <a:t> MCDA + CV + Self-consistency + Bayesian Opt + 배낭 최적화로 도출 →</a:t>
            </a:r>
          </a:p>
          <a:p>
            <a:r>
              <a:t> 강건 입지 2 + 흑석동 사각지대 4 + 예산 4천만원 최적 배치 5"</a:t>
            </a:r>
          </a:p>
          <a:p/>
          <a:p>
            <a:r>
              <a:t>다음 단계:</a:t>
            </a:r>
          </a:p>
          <a:p>
            <a:r>
              <a:t>- 서울 열린데이터 API 연결 (P0)</a:t>
            </a:r>
          </a:p>
          <a:p>
            <a:r>
              <a:t>- 동작구 전 동 실측 그늘막</a:t>
            </a:r>
          </a:p>
          <a:p>
            <a:r>
              <a:t>- CV-D 멀티모달 VLM (강의 40~42p Reason-then-Estimate)</a:t>
            </a:r>
          </a:p>
          <a:p>
            <a:r>
              <a:t>- 타 자치구 확장 (BBOX·NGII 교체)</a:t>
            </a:r>
          </a:p>
          <a:p/>
          <a:p>
            <a:r>
              <a:t>감사합니다. 질문 받겠습니다.</a:t>
            </a:r>
          </a:p>
          <a:p/>
          <a:p>
            <a:r>
              <a:t>예상 질문:</a:t>
            </a:r>
          </a:p>
          <a:p>
            <a:r>
              <a:t>- 타 자치구 적용? → BBOX·NGII 교체. 가중치는 BayesOpt 로 재튜닝</a:t>
            </a:r>
          </a:p>
          <a:p>
            <a:r>
              <a:t>- 코드? → github.com/thgtot92/project_1 (MIT)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[27p · 첨부 자료 · 45초]</a:t>
            </a:r>
          </a:p>
          <a:p>
            <a:r>
              <a:t>두 개의 HTML 파일을 함께 동봉합니다:</a:t>
            </a:r>
          </a:p>
          <a:p/>
          <a:p>
            <a:r>
              <a:t>첨부 ① output/heukseok_focus.html (흑석동 인터랙티브 지도)</a:t>
            </a:r>
          </a:p>
          <a:p>
            <a:r>
              <a:t>- OSMnx 보행 도로 + 교차로 + 횡단보도</a:t>
            </a:r>
          </a:p>
          <a:p>
            <a:r>
              <a:t>- NGII 건물 3,775동 (층수별 색)</a:t>
            </a:r>
          </a:p>
          <a:p>
            <a:r>
              <a:t>- 기존 그늘막 18개 + TOP10 수동/학습 비교</a:t>
            </a:r>
          </a:p>
          <a:p>
            <a:r>
              <a:t>- 그림자 표준편차 (Self-consistency)</a:t>
            </a:r>
          </a:p>
          <a:p/>
          <a:p>
            <a:r>
              <a:t>첨부 ② output/report.html (자동 실험 보고서, NEW)</a:t>
            </a:r>
          </a:p>
          <a:p>
            <a:r>
              <a:t>- 한 페이지에 모든 산출물 통합</a:t>
            </a:r>
          </a:p>
          <a:p>
            <a:r>
              <a:t>- 요약 카드 + 시나리오 표 + 강건 입지 + 3대 구역 검증</a:t>
            </a:r>
          </a:p>
          <a:p>
            <a:r>
              <a:t>- BayesOpt 가중치 비교표</a:t>
            </a:r>
          </a:p>
          <a:p>
            <a:r>
              <a:t>- 4개 지도 iframe 임베드 (shade/scenarios/budget/heukseok)</a:t>
            </a:r>
          </a:p>
          <a:p>
            <a:r>
              <a:t>- 산출물 파일 목록 19종 (크기 포함)</a:t>
            </a:r>
          </a:p>
          <a:p/>
          <a:p>
            <a:r>
              <a:t>자동 생성: scripts/build_report.py — 발표 직전 1초 실행으로 최신 상태 갱신 가능</a:t>
            </a:r>
          </a:p>
          <a:p/>
          <a:p>
            <a:r>
              <a:t>심사위원이 직접 토글하며 검토 가능 + 발표 직후 모든 결과를 한 화면에 보여줄 수 있음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617236" y="1748790"/>
            <a:ext cx="891564" cy="82296"/>
          </a:xfrm>
          <a:prstGeom prst="roundRect">
            <a:avLst>
              <a:gd fmla="val 50000" name="adj"/>
            </a:avLst>
          </a:prstGeom>
          <a:solidFill>
            <a:srgbClr val="2383E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17236" y="1371600"/>
            <a:ext cx="79095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SAM3 객체 추출 · GDAL 보간 기반 지형 표고 모델 자동 생성</a:t>
            </a:r>
            <a:endParaRPr sz="1100"/>
          </a:p>
        </p:txBody>
      </p:sp>
      <p:sp>
        <p:nvSpPr>
          <p:cNvPr id="57" name="Google Shape;57;p13"/>
          <p:cNvSpPr txBox="1"/>
          <p:nvPr/>
        </p:nvSpPr>
        <p:spPr>
          <a:xfrm>
            <a:off x="617236" y="1954530"/>
            <a:ext cx="790954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32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</a:t>
            </a:r>
            <a:endParaRPr sz="1100"/>
          </a:p>
        </p:txBody>
      </p:sp>
      <p:sp>
        <p:nvSpPr>
          <p:cNvPr id="58" name="Google Shape;58;p13"/>
          <p:cNvSpPr txBox="1"/>
          <p:nvPr/>
        </p:nvSpPr>
        <p:spPr>
          <a:xfrm>
            <a:off x="617236" y="2914650"/>
            <a:ext cx="72237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정사영상에서 SAM3로 건물·수목·자동차를 추출하고, DSM의 지물을 제거한 뒤</a:t>
            </a:r>
            <a:br>
              <a:rPr b="0" i="0" lang="ko" sz="13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ko" sz="13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GDAL 보간으로 순수 지형 표고 모델(DEM)을 생성하는 데스크톱 애플리케이션</a:t>
            </a:r>
            <a:endParaRPr sz="1100"/>
          </a:p>
        </p:txBody>
      </p:sp>
      <p:sp>
        <p:nvSpPr>
          <p:cNvPr id="59" name="Google Shape;59;p13"/>
          <p:cNvSpPr txBox="1"/>
          <p:nvPr/>
        </p:nvSpPr>
        <p:spPr>
          <a:xfrm>
            <a:off x="617236" y="4389120"/>
            <a:ext cx="79095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PyQt6 데스크톱 앱 · v1.0.0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개요</a:t>
            </a:r>
            <a:endParaRPr sz="1100"/>
          </a:p>
        </p:txBody>
      </p:sp>
      <p:sp>
        <p:nvSpPr>
          <p:cNvPr id="66" name="Google Shape;66;p14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왜 DSM에서 DEM이 필요한가</a:t>
            </a:r>
            <a:endParaRPr sz="1100"/>
          </a:p>
        </p:txBody>
      </p:sp>
      <p:sp>
        <p:nvSpPr>
          <p:cNvPr id="67" name="Google Shape;67;p14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69" name="Google Shape;69;p14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 sz="1100"/>
          </a:p>
        </p:txBody>
      </p:sp>
      <p:sp>
        <p:nvSpPr>
          <p:cNvPr id="70" name="Google Shape;70;p14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DSM(수치표면모델)은 건물·수목·자동차 등 지표 위 모든 객체를 포함한 표면 모델입니다. 침수 분석·토목 설계·정밀 지형 해석에는 객체가 제거된 순수 지형(DEM)이 필요합니다.</a:t>
            </a:r>
            <a:endParaRPr sz="1100"/>
          </a:p>
        </p:txBody>
      </p:sp>
      <p:pic>
        <p:nvPicPr>
          <p:cNvPr descr="dsm_vs_dem.png" id="71" name="Google Shape;7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36" y="1837944"/>
            <a:ext cx="7909331" cy="229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617236" y="4170183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8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DSM(객체 포함) → SAM3 추출·제거·보간 → DEM(순수 지형)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한눈에 보기</a:t>
            </a:r>
            <a:endParaRPr sz="1100"/>
          </a:p>
        </p:txBody>
      </p:sp>
      <p:sp>
        <p:nvSpPr>
          <p:cNvPr id="79" name="Google Shape;79;p15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애플리케이션 한눈에 보기</a:t>
            </a:r>
            <a:endParaRPr sz="1100"/>
          </a:p>
        </p:txBody>
      </p:sp>
      <p:sp>
        <p:nvSpPr>
          <p:cNvPr id="80" name="Google Shape;80;p15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82" name="Google Shape;82;p15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 sz="1100"/>
          </a:p>
        </p:txBody>
      </p:sp>
      <p:sp>
        <p:nvSpPr>
          <p:cNvPr id="83" name="Google Shape;83;p15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노션 스타일 사이드바에서 화면을 전환하고, 하단의 처리 단계 안내로 전체 흐름을 한눈에 파악합니다.</a:t>
            </a:r>
            <a:endParaRPr sz="1100"/>
          </a:p>
        </p:txBody>
      </p:sp>
      <p:sp>
        <p:nvSpPr>
          <p:cNvPr id="84" name="Google Shape;84;p15"/>
          <p:cNvSpPr/>
          <p:nvPr/>
        </p:nvSpPr>
        <p:spPr>
          <a:xfrm>
            <a:off x="617236" y="1604772"/>
            <a:ext cx="2508494" cy="116586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변환 실행</a:t>
            </a:r>
            <a:endParaRPr sz="1100"/>
          </a:p>
          <a:p>
            <a:pPr indent="0" lvl="0" marL="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정사영상·DSM 입력 → 옵션 설정 → DEM 생성. 미리보기·QA 통계·로그를 한 화면에서 확인.</a:t>
            </a:r>
            <a:endParaRPr sz="1100"/>
          </a:p>
        </p:txBody>
      </p:sp>
      <p:sp>
        <p:nvSpPr>
          <p:cNvPr id="85" name="Google Shape;85;p15"/>
          <p:cNvSpPr/>
          <p:nvPr/>
        </p:nvSpPr>
        <p:spPr>
          <a:xfrm>
            <a:off x="3317760" y="1604772"/>
            <a:ext cx="2508494" cy="116586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지도 표시</a:t>
            </a:r>
            <a:endParaRPr sz="1100"/>
          </a:p>
          <a:p>
            <a:pPr indent="0" lvl="0" marL="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정사영상·DSM·DEM·추출 경계(SHP)를 인터랙티브 웹지도 위에 겹쳐 시각화.</a:t>
            </a:r>
            <a:endParaRPr sz="1100"/>
          </a:p>
        </p:txBody>
      </p:sp>
      <p:sp>
        <p:nvSpPr>
          <p:cNvPr id="86" name="Google Shape;86;p15"/>
          <p:cNvSpPr/>
          <p:nvPr/>
        </p:nvSpPr>
        <p:spPr>
          <a:xfrm>
            <a:off x="6018283" y="1604772"/>
            <a:ext cx="2508494" cy="116586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(SAM3)</a:t>
            </a:r>
            <a:endParaRPr sz="1100"/>
          </a:p>
          <a:p>
            <a:pPr indent="0" lvl="0" marL="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정사영상+경계 SHP로 데이터셋을 만들어 SAM3를 파인튜닝하고 새 체크포인트를 적용.</a:t>
            </a:r>
            <a:endParaRPr sz="1100"/>
          </a:p>
        </p:txBody>
      </p:sp>
      <p:sp>
        <p:nvSpPr>
          <p:cNvPr id="87" name="Google Shape;87;p15"/>
          <p:cNvSpPr/>
          <p:nvPr/>
        </p:nvSpPr>
        <p:spPr>
          <a:xfrm>
            <a:off x="617236" y="2921508"/>
            <a:ext cx="7909542" cy="411480"/>
          </a:xfrm>
          <a:prstGeom prst="roundRect">
            <a:avLst>
              <a:gd fmla="val 8000" name="adj"/>
            </a:avLst>
          </a:prstGeom>
          <a:solidFill>
            <a:srgbClr val="E7F1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◆  </a:t>
            </a:r>
            <a:r>
              <a:rPr b="0" i="0" lang="ko" sz="10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처리 단계  ①  정사영상·DSM 입력   →   ②  SAM3 추출   →   ③  객체 제거   →   ④  GDAL 보간   →   ⑤  QA·저장</a:t>
            </a:r>
            <a:endParaRPr sz="1100"/>
          </a:p>
        </p:txBody>
      </p:sp>
      <p:sp>
        <p:nvSpPr>
          <p:cNvPr id="88" name="Google Shape;88;p15"/>
          <p:cNvSpPr/>
          <p:nvPr/>
        </p:nvSpPr>
        <p:spPr>
          <a:xfrm>
            <a:off x="617236" y="2921508"/>
            <a:ext cx="48007" cy="411480"/>
          </a:xfrm>
          <a:prstGeom prst="rect">
            <a:avLst/>
          </a:prstGeom>
          <a:solidFill>
            <a:srgbClr val="2383E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워크플로우</a:t>
            </a:r>
            <a:endParaRPr sz="1100"/>
          </a:p>
        </p:txBody>
      </p:sp>
      <p:sp>
        <p:nvSpPr>
          <p:cNvPr id="95" name="Google Shape;95;p16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처리 파이프라인</a:t>
            </a:r>
            <a:endParaRPr sz="1100"/>
          </a:p>
        </p:txBody>
      </p:sp>
      <p:sp>
        <p:nvSpPr>
          <p:cNvPr id="96" name="Google Shape;96;p16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98" name="Google Shape;98;p16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endParaRPr sz="1100"/>
          </a:p>
        </p:txBody>
      </p:sp>
      <p:sp>
        <p:nvSpPr>
          <p:cNvPr id="99" name="Google Shape;99;p16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pipeline.run_conversion()이 입력부터 저장까지를 단일 진입점으로 오케스트레이션하며, 워커 스레드가 진행률을 실시간 보고합니다(사용자에게는 5단계로 안내).</a:t>
            </a:r>
            <a:endParaRPr sz="1100"/>
          </a:p>
        </p:txBody>
      </p:sp>
      <p:pic>
        <p:nvPicPr>
          <p:cNvPr descr="pipeline_flow.png" id="100" name="Google Shape;1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36" y="1837944"/>
            <a:ext cx="7909331" cy="197338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/>
        </p:nvSpPr>
        <p:spPr>
          <a:xfrm>
            <a:off x="617236" y="3852478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8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단계별 진행률 — 입력 8% · SAM3 55% · 제거 69% · 보간 86% · 저장 100%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단계 1 / 5</a:t>
            </a:r>
            <a:endParaRPr sz="1100"/>
          </a:p>
        </p:txBody>
      </p:sp>
      <p:sp>
        <p:nvSpPr>
          <p:cNvPr id="108" name="Google Shape;108;p17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정사영상·DSM 입력 및 정합 검사</a:t>
            </a:r>
            <a:endParaRPr sz="1100"/>
          </a:p>
        </p:txBody>
      </p:sp>
      <p:sp>
        <p:nvSpPr>
          <p:cNvPr id="109" name="Google Shape;109;p17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111" name="Google Shape;111;p17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05</a:t>
            </a:r>
            <a:endParaRPr sz="1100"/>
          </a:p>
        </p:txBody>
      </p:sp>
      <p:sp>
        <p:nvSpPr>
          <p:cNvPr id="112" name="Google Shape;112;p17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raster_io 모듈 — 래스터를 읽어 표준화하고 두 입력의 정합을 점검합니다.</a:t>
            </a:r>
            <a:endParaRPr sz="1100"/>
          </a:p>
        </p:txBody>
      </p:sp>
      <p:sp>
        <p:nvSpPr>
          <p:cNvPr id="113" name="Google Shape;113;p17"/>
          <p:cNvSpPr txBox="1"/>
          <p:nvPr/>
        </p:nvSpPr>
        <p:spPr>
          <a:xfrm>
            <a:off x="617236" y="1604772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정사영상 로드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read_orthophoto() — 1~4밴드를 (H,W,3) uint8 RGB로 표준화, 2~98 백분위 정규화, CRS·Affine 보존</a:t>
            </a:r>
            <a:endParaRPr sz="1100"/>
          </a:p>
        </p:txBody>
      </p:sp>
      <p:sp>
        <p:nvSpPr>
          <p:cNvPr id="114" name="Google Shape;114;p17"/>
          <p:cNvSpPr txBox="1"/>
          <p:nvPr/>
        </p:nvSpPr>
        <p:spPr>
          <a:xfrm>
            <a:off x="617236" y="1988820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DSM 로드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read_dsm() — 1밴드 float32 표고, NoData 값을 NaN으로 변환</a:t>
            </a:r>
            <a:endParaRPr sz="1100"/>
          </a:p>
        </p:txBody>
      </p:sp>
      <p:sp>
        <p:nvSpPr>
          <p:cNvPr id="115" name="Google Shape;115;p17"/>
          <p:cNvSpPr txBox="1"/>
          <p:nvPr/>
        </p:nvSpPr>
        <p:spPr>
          <a:xfrm>
            <a:off x="617236" y="2372868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정합 검사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check_alignment() — 형상(행·열)·좌표계(CRS)·해상도 비율 점검</a:t>
            </a:r>
            <a:endParaRPr sz="1100"/>
          </a:p>
        </p:txBody>
      </p:sp>
      <p:sp>
        <p:nvSpPr>
          <p:cNvPr id="116" name="Google Shape;116;p17"/>
          <p:cNvSpPr txBox="1"/>
          <p:nvPr/>
        </p:nvSpPr>
        <p:spPr>
          <a:xfrm>
            <a:off x="617236" y="2756915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자동 정렬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불일치 시 resample_mask_to()로 추출 마스크를 DSM 격자에 리샘플</a:t>
            </a:r>
            <a:endParaRPr sz="1100"/>
          </a:p>
        </p:txBody>
      </p:sp>
      <p:sp>
        <p:nvSpPr>
          <p:cNvPr id="117" name="Google Shape;117;p17"/>
          <p:cNvSpPr/>
          <p:nvPr/>
        </p:nvSpPr>
        <p:spPr>
          <a:xfrm>
            <a:off x="617236" y="3168396"/>
            <a:ext cx="7909542" cy="411480"/>
          </a:xfrm>
          <a:prstGeom prst="roundRect">
            <a:avLst>
              <a:gd fmla="val 8000" name="adj"/>
            </a:avLst>
          </a:prstGeom>
          <a:solidFill>
            <a:srgbClr val="E7F1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◆  </a:t>
            </a:r>
            <a:r>
              <a:rPr b="0" i="0" lang="ko" sz="10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입력은 GeoTIFF·VRT 등 GDAL 지원 포맷. 좌표계·해상도가 달라도 자동으로 정렬합니다.</a:t>
            </a:r>
            <a:endParaRPr sz="1100"/>
          </a:p>
        </p:txBody>
      </p:sp>
      <p:sp>
        <p:nvSpPr>
          <p:cNvPr id="118" name="Google Shape;118;p17"/>
          <p:cNvSpPr/>
          <p:nvPr/>
        </p:nvSpPr>
        <p:spPr>
          <a:xfrm>
            <a:off x="617236" y="3168396"/>
            <a:ext cx="48007" cy="411480"/>
          </a:xfrm>
          <a:prstGeom prst="rect">
            <a:avLst/>
          </a:prstGeom>
          <a:solidFill>
            <a:srgbClr val="2383E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단계 2 / 5</a:t>
            </a:r>
            <a:endParaRPr sz="1100"/>
          </a:p>
        </p:txBody>
      </p:sp>
      <p:sp>
        <p:nvSpPr>
          <p:cNvPr id="125" name="Google Shape;125;p18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SAM3로 건물·수목·자동차 추출</a:t>
            </a:r>
            <a:endParaRPr sz="1100"/>
          </a:p>
        </p:txBody>
      </p:sp>
      <p:sp>
        <p:nvSpPr>
          <p:cNvPr id="126" name="Google Shape;126;p18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128" name="Google Shape;128;p18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06</a:t>
            </a:r>
            <a:endParaRPr sz="1100"/>
          </a:p>
        </p:txBody>
      </p:sp>
      <p:sp>
        <p:nvSpPr>
          <p:cNvPr id="129" name="Google Shape;129;p18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sam3_extractor 모듈 — 텍스트 프롬프트 기반 세그멘테이션으로 지물 마스크와 신뢰도를 추출합니다.</a:t>
            </a:r>
            <a:endParaRPr sz="1100"/>
          </a:p>
        </p:txBody>
      </p:sp>
      <p:sp>
        <p:nvSpPr>
          <p:cNvPr id="130" name="Google Shape;130;p18"/>
          <p:cNvSpPr txBox="1"/>
          <p:nvPr/>
        </p:nvSpPr>
        <p:spPr>
          <a:xfrm>
            <a:off x="617236" y="1604772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타일 추론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대형 영상을 2048px 타일·256px 오버랩으로 분할 추론 — 대용량도 메모리 한계 없이 처리</a:t>
            </a:r>
            <a:endParaRPr sz="1100"/>
          </a:p>
        </p:txBody>
      </p:sp>
      <p:sp>
        <p:nvSpPr>
          <p:cNvPr id="131" name="Google Shape;131;p18"/>
          <p:cNvSpPr txBox="1"/>
          <p:nvPr/>
        </p:nvSpPr>
        <p:spPr>
          <a:xfrm>
            <a:off x="617236" y="1988820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텍스트 프롬프트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building·rooftop / tree·vegetation / car·vehicle 등 클래스별 프롬프트로 마스크+신뢰도 산출</a:t>
            </a:r>
            <a:endParaRPr sz="1100"/>
          </a:p>
        </p:txBody>
      </p:sp>
      <p:sp>
        <p:nvSpPr>
          <p:cNvPr id="132" name="Google Shape;132;p18"/>
          <p:cNvSpPr txBox="1"/>
          <p:nvPr/>
        </p:nvSpPr>
        <p:spPr>
          <a:xfrm>
            <a:off x="617236" y="2372868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신뢰도 병합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타일 겹침 영역은 최고 신뢰도 우선(max_confidence)으로 통합</a:t>
            </a:r>
            <a:endParaRPr sz="1100"/>
          </a:p>
        </p:txBody>
      </p:sp>
      <p:sp>
        <p:nvSpPr>
          <p:cNvPr id="133" name="Google Shape;133;p18"/>
          <p:cNvSpPr txBox="1"/>
          <p:nvPr/>
        </p:nvSpPr>
        <p:spPr>
          <a:xfrm>
            <a:off x="617236" y="2756915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엔진 자동 선택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sam3.pt 체크포인트가 있으면 실모델, 없으면 결정적 스텁 엔진으로 데모 동작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단계 3 / 5</a:t>
            </a:r>
            <a:endParaRPr sz="1100"/>
          </a:p>
        </p:txBody>
      </p:sp>
      <p:sp>
        <p:nvSpPr>
          <p:cNvPr id="140" name="Google Shape;140;p19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DSM에서 추출 객체 제거</a:t>
            </a:r>
            <a:endParaRPr sz="1100"/>
          </a:p>
        </p:txBody>
      </p:sp>
      <p:sp>
        <p:nvSpPr>
          <p:cNvPr id="141" name="Google Shape;141;p19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143" name="Google Shape;143;p19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07</a:t>
            </a:r>
            <a:endParaRPr sz="1100"/>
          </a:p>
        </p:txBody>
      </p:sp>
      <p:sp>
        <p:nvSpPr>
          <p:cNvPr id="144" name="Google Shape;144;p19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dem_generator.fuse_removal_mask() — 클래스별 마스크를 융합해 최종 제거 마스크를 만듭니다.</a:t>
            </a:r>
            <a:endParaRPr sz="1100"/>
          </a:p>
        </p:txBody>
      </p:sp>
      <p:sp>
        <p:nvSpPr>
          <p:cNvPr id="145" name="Google Shape;145;p19"/>
          <p:cNvSpPr txBox="1"/>
          <p:nvPr/>
        </p:nvSpPr>
        <p:spPr>
          <a:xfrm>
            <a:off x="617236" y="1604772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신뢰도 임계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건물은 신뢰도 ≥ 0.50만 채택, 수목·자동차는 추출 마스크를 그대로 사용</a:t>
            </a:r>
            <a:endParaRPr sz="1100"/>
          </a:p>
        </p:txBody>
      </p:sp>
      <p:sp>
        <p:nvSpPr>
          <p:cNvPr id="146" name="Google Shape;146;p19"/>
          <p:cNvSpPr txBox="1"/>
          <p:nvPr/>
        </p:nvSpPr>
        <p:spPr>
          <a:xfrm>
            <a:off x="617236" y="1988820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경계 팽창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dilation_px = 1 — 객체 외곽 누락을 막기 위해 제거 경계를 1px 확장</a:t>
            </a:r>
            <a:endParaRPr sz="1100"/>
          </a:p>
        </p:txBody>
      </p:sp>
      <p:sp>
        <p:nvSpPr>
          <p:cNvPr id="147" name="Google Shape;147;p19"/>
          <p:cNvSpPr txBox="1"/>
          <p:nvPr/>
        </p:nvSpPr>
        <p:spPr>
          <a:xfrm>
            <a:off x="617236" y="2372868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제거 마스크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(고신뢰 건물 ∪ 수목 ∪ 자동차) = 최종 removal_mask</a:t>
            </a:r>
            <a:endParaRPr sz="1100"/>
          </a:p>
        </p:txBody>
      </p:sp>
      <p:sp>
        <p:nvSpPr>
          <p:cNvPr id="148" name="Google Shape;148;p19"/>
          <p:cNvSpPr txBox="1"/>
          <p:nvPr/>
        </p:nvSpPr>
        <p:spPr>
          <a:xfrm>
            <a:off x="617236" y="2756915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NoData 처리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removal_mask 영역을 NaN으로 → &lt;dsm&gt;_pg_nodata.tif 중간 산출물로 저장</a:t>
            </a:r>
            <a:endParaRPr sz="1100"/>
          </a:p>
        </p:txBody>
      </p:sp>
      <p:sp>
        <p:nvSpPr>
          <p:cNvPr id="149" name="Google Shape;149;p19"/>
          <p:cNvSpPr/>
          <p:nvPr/>
        </p:nvSpPr>
        <p:spPr>
          <a:xfrm>
            <a:off x="617236" y="3168396"/>
            <a:ext cx="7909542" cy="411480"/>
          </a:xfrm>
          <a:prstGeom prst="roundRect">
            <a:avLst>
              <a:gd fmla="val 8000" name="adj"/>
            </a:avLst>
          </a:prstGeom>
          <a:solidFill>
            <a:srgbClr val="E3F1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0F7B6C"/>
                </a:solidFill>
                <a:latin typeface="Noto Sans KR"/>
                <a:ea typeface="Noto Sans KR"/>
                <a:cs typeface="Noto Sans KR"/>
                <a:sym typeface="Noto Sans KR"/>
              </a:rPr>
              <a:t>✔  </a:t>
            </a:r>
            <a:r>
              <a:rPr b="0" i="0" lang="ko" sz="10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추출한 건물·수목·자동차 경계는 동시에 셰이프파일(.shp)로 내보내 GIS에서 검증할 수 있습니다.</a:t>
            </a:r>
            <a:endParaRPr sz="1100"/>
          </a:p>
        </p:txBody>
      </p:sp>
      <p:sp>
        <p:nvSpPr>
          <p:cNvPr id="150" name="Google Shape;150;p19"/>
          <p:cNvSpPr/>
          <p:nvPr/>
        </p:nvSpPr>
        <p:spPr>
          <a:xfrm>
            <a:off x="617236" y="3168396"/>
            <a:ext cx="48007" cy="41148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단계 4 / 5</a:t>
            </a:r>
            <a:endParaRPr sz="1100"/>
          </a:p>
        </p:txBody>
      </p:sp>
      <p:sp>
        <p:nvSpPr>
          <p:cNvPr id="157" name="Google Shape;157;p20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GDAL 보간으로 DEM 생성</a:t>
            </a:r>
            <a:endParaRPr sz="1100"/>
          </a:p>
        </p:txBody>
      </p:sp>
      <p:sp>
        <p:nvSpPr>
          <p:cNvPr id="158" name="Google Shape;158;p20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160" name="Google Shape;160;p20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08</a:t>
            </a:r>
            <a:endParaRPr sz="1100"/>
          </a:p>
        </p:txBody>
      </p:sp>
      <p:sp>
        <p:nvSpPr>
          <p:cNvPr id="161" name="Google Shape;161;p20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dem_generator.interpolate_dem() — 제거 영역과 원본 NoData를 채워 연속적인 지형면을 생성합니다.</a:t>
            </a:r>
            <a:endParaRPr sz="1100"/>
          </a:p>
        </p:txBody>
      </p:sp>
      <p:graphicFrame>
        <p:nvGraphicFramePr>
          <p:cNvPr id="162" name="Google Shape;162;p20"/>
          <p:cNvGraphicFramePr/>
          <p:nvPr/>
        </p:nvGraphicFramePr>
        <p:xfrm>
          <a:off x="617236" y="16047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{42AADE43-5EBC-4259-8172-A036047B30FA}</a:tableStyleId>
              </a:tblPr>
              <a:tblGrid>
                <a:gridCol w="2098425"/>
                <a:gridCol w="1937025"/>
                <a:gridCol w="3874050"/>
              </a:tblGrid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보간 방법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2383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엔진 / 근거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2383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특징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2383E2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900" u="none" cap="none" strike="noStrike">
                          <a:solidFill>
                            <a:srgbClr val="37352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FillNodata (권장)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78777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rasterio.fill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78777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4방향 탐색 가중 보간 · 빠르고 안정적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900" u="none" cap="none" strike="noStrike">
                          <a:solidFill>
                            <a:srgbClr val="37352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IDW (역거리가중)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78777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거리 역수 평균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78777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반경 내 유효 픽셀 가중 · 계산량 중간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7F6F3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900" u="none" cap="none" strike="noStrike">
                          <a:solidFill>
                            <a:srgbClr val="37352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TIN (자연근방)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78777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scipy LinearND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78777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삼각분할 기반 · 정확하나 느림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900" u="none" cap="none" strike="noStrike">
                          <a:solidFill>
                            <a:srgbClr val="37352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RBF (Thin-plate)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78777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scipy RBF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78777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매우 매끄러움 · 대규모는 IDW로 자동 폴백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7F6F3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63;p20"/>
          <p:cNvSpPr/>
          <p:nvPr/>
        </p:nvSpPr>
        <p:spPr>
          <a:xfrm>
            <a:off x="617236" y="3223260"/>
            <a:ext cx="7909542" cy="411480"/>
          </a:xfrm>
          <a:prstGeom prst="roundRect">
            <a:avLst>
              <a:gd fmla="val 8000" name="adj"/>
            </a:avLst>
          </a:prstGeom>
          <a:solidFill>
            <a:srgbClr val="E7F1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◆  </a:t>
            </a:r>
            <a:r>
              <a:rPr b="0" i="0" lang="ko" sz="10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탐색 거리 max_search_distance = 100px, 평활 반복 0~20 으로 결과를 조정할 수 있습니다.</a:t>
            </a:r>
            <a:endParaRPr sz="1100"/>
          </a:p>
        </p:txBody>
      </p:sp>
      <p:sp>
        <p:nvSpPr>
          <p:cNvPr id="164" name="Google Shape;164;p20"/>
          <p:cNvSpPr/>
          <p:nvPr/>
        </p:nvSpPr>
        <p:spPr>
          <a:xfrm>
            <a:off x="617236" y="3223260"/>
            <a:ext cx="48007" cy="411480"/>
          </a:xfrm>
          <a:prstGeom prst="rect">
            <a:avLst/>
          </a:prstGeom>
          <a:solidFill>
            <a:srgbClr val="2383E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단계 5 / 5</a:t>
            </a:r>
            <a:endParaRPr sz="1100"/>
          </a:p>
        </p:txBody>
      </p:sp>
      <p:sp>
        <p:nvSpPr>
          <p:cNvPr id="171" name="Google Shape;171;p21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DEM 품질 검사 및 GeoTIFF 저장</a:t>
            </a:r>
            <a:endParaRPr sz="1100"/>
          </a:p>
        </p:txBody>
      </p:sp>
      <p:sp>
        <p:nvSpPr>
          <p:cNvPr id="172" name="Google Shape;172;p21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174" name="Google Shape;174;p21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09</a:t>
            </a:r>
            <a:endParaRPr sz="1100"/>
          </a:p>
        </p:txBody>
      </p:sp>
      <p:sp>
        <p:nvSpPr>
          <p:cNvPr id="175" name="Google Shape;175;p21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dem_generator.qa_dem() — 보간 결과를 정량 지표로 평가해 등급을 매기고, raster_io.write_dem()으로 저장합니다.</a:t>
            </a:r>
            <a:endParaRPr sz="1100"/>
          </a:p>
        </p:txBody>
      </p:sp>
      <p:sp>
        <p:nvSpPr>
          <p:cNvPr id="176" name="Google Shape;176;p21"/>
          <p:cNvSpPr/>
          <p:nvPr/>
        </p:nvSpPr>
        <p:spPr>
          <a:xfrm>
            <a:off x="617236" y="1604772"/>
            <a:ext cx="2535927" cy="788670"/>
          </a:xfrm>
          <a:prstGeom prst="roundRect">
            <a:avLst>
              <a:gd fmla="val 8000" name="adj"/>
            </a:avLst>
          </a:prstGeom>
          <a:solidFill>
            <a:srgbClr val="E3F1EF"/>
          </a:solidFill>
          <a:ln cap="flat" cmpd="sng" w="12700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0F7B6C"/>
                </a:solidFill>
                <a:latin typeface="Noto Sans KR"/>
                <a:ea typeface="Noto Sans KR"/>
                <a:cs typeface="Noto Sans KR"/>
                <a:sym typeface="Noto Sans KR"/>
              </a:rPr>
              <a:t>PASS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정상 · 모든 지표 통과</a:t>
            </a:r>
            <a:endParaRPr sz="1100"/>
          </a:p>
        </p:txBody>
      </p:sp>
      <p:sp>
        <p:nvSpPr>
          <p:cNvPr id="177" name="Google Shape;177;p21"/>
          <p:cNvSpPr/>
          <p:nvPr/>
        </p:nvSpPr>
        <p:spPr>
          <a:xfrm>
            <a:off x="3304044" y="1604772"/>
            <a:ext cx="2535927" cy="788670"/>
          </a:xfrm>
          <a:prstGeom prst="roundRect">
            <a:avLst>
              <a:gd fmla="val 8000" name="adj"/>
            </a:avLst>
          </a:prstGeom>
          <a:solidFill>
            <a:srgbClr val="FBF0E3"/>
          </a:solidFill>
          <a:ln cap="flat" cmpd="sng" w="12700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CB7B26"/>
                </a:solidFill>
                <a:latin typeface="Noto Sans KR"/>
                <a:ea typeface="Noto Sans KR"/>
                <a:cs typeface="Noto Sans KR"/>
                <a:sym typeface="Noto Sans KR"/>
              </a:rPr>
              <a:t>WARNING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주의 · 경계/스파이크 점검</a:t>
            </a:r>
            <a:endParaRPr sz="1100"/>
          </a:p>
        </p:txBody>
      </p:sp>
      <p:sp>
        <p:nvSpPr>
          <p:cNvPr id="178" name="Google Shape;178;p21"/>
          <p:cNvSpPr/>
          <p:nvPr/>
        </p:nvSpPr>
        <p:spPr>
          <a:xfrm>
            <a:off x="5990851" y="1604772"/>
            <a:ext cx="2535927" cy="788670"/>
          </a:xfrm>
          <a:prstGeom prst="roundRect">
            <a:avLst>
              <a:gd fmla="val 8000" name="adj"/>
            </a:avLst>
          </a:prstGeom>
          <a:solidFill>
            <a:srgbClr val="FBE4E4"/>
          </a:solidFill>
          <a:ln cap="flat" cmpd="sng" w="12700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E03E3E"/>
                </a:solidFill>
                <a:latin typeface="Noto Sans KR"/>
                <a:ea typeface="Noto Sans KR"/>
                <a:cs typeface="Noto Sans KR"/>
                <a:sym typeface="Noto Sans KR"/>
              </a:rPr>
              <a:t>FAIL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불합격 · 재처리 필요</a:t>
            </a:r>
            <a:endParaRPr sz="1100"/>
          </a:p>
        </p:txBody>
      </p:sp>
      <p:sp>
        <p:nvSpPr>
          <p:cNvPr id="179" name="Google Shape;179;p21"/>
          <p:cNvSpPr txBox="1"/>
          <p:nvPr/>
        </p:nvSpPr>
        <p:spPr>
          <a:xfrm>
            <a:off x="617236" y="2530601"/>
            <a:ext cx="790954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경사 연속성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제거 경계 전후 경사 비율 — 0.5 미만이면 FAIL</a:t>
            </a:r>
            <a:endParaRPr sz="1100"/>
          </a:p>
        </p:txBody>
      </p:sp>
      <p:sp>
        <p:nvSpPr>
          <p:cNvPr id="180" name="Google Shape;180;p21"/>
          <p:cNvSpPr txBox="1"/>
          <p:nvPr/>
        </p:nvSpPr>
        <p:spPr>
          <a:xfrm>
            <a:off x="617236" y="2887217"/>
            <a:ext cx="790954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스파이크·싱크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6σ 초과 고점 / 고립 저점 개수로 이상 진단</a:t>
            </a:r>
            <a:endParaRPr sz="1100"/>
          </a:p>
        </p:txBody>
      </p:sp>
      <p:sp>
        <p:nvSpPr>
          <p:cNvPr id="181" name="Google Shape;181;p21"/>
          <p:cNvSpPr txBox="1"/>
          <p:nvPr/>
        </p:nvSpPr>
        <p:spPr>
          <a:xfrm>
            <a:off x="617236" y="3243833"/>
            <a:ext cx="790954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NoData 잔여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미채움 픽셀 비율이 0.5% 초과면 FAIL</a:t>
            </a:r>
            <a:endParaRPr sz="1100"/>
          </a:p>
        </p:txBody>
      </p:sp>
      <p:sp>
        <p:nvSpPr>
          <p:cNvPr id="182" name="Google Shape;182;p21"/>
          <p:cNvSpPr txBox="1"/>
          <p:nvPr/>
        </p:nvSpPr>
        <p:spPr>
          <a:xfrm>
            <a:off x="617236" y="3600449"/>
            <a:ext cx="790954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산출물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_dem.tif(보간) · _dem_final.tif(최종) · sidecar .json · 경계 SHP 3종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기능</a:t>
            </a:r>
            <a:endParaRPr sz="1100"/>
          </a:p>
        </p:txBody>
      </p:sp>
      <p:sp>
        <p:nvSpPr>
          <p:cNvPr id="189" name="Google Shape;189;p22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지도 표시 — 인터랙티브 웹지도</a:t>
            </a:r>
            <a:endParaRPr sz="1100"/>
          </a:p>
        </p:txBody>
      </p:sp>
      <p:sp>
        <p:nvSpPr>
          <p:cNvPr id="190" name="Google Shape;190;p22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192" name="Google Shape;192;p22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 sz="1100"/>
          </a:p>
        </p:txBody>
      </p:sp>
      <p:sp>
        <p:nvSpPr>
          <p:cNvPr id="193" name="Google Shape;193;p22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ui/map_view.py — Leafmap(folium) 기반 Leaflet 지도를 QWebEngineView에 렌더링합니다.</a:t>
            </a:r>
            <a:endParaRPr sz="1100"/>
          </a:p>
        </p:txBody>
      </p:sp>
      <p:sp>
        <p:nvSpPr>
          <p:cNvPr id="194" name="Google Shape;194;p22"/>
          <p:cNvSpPr txBox="1"/>
          <p:nvPr/>
        </p:nvSpPr>
        <p:spPr>
          <a:xfrm>
            <a:off x="617236" y="1604772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레이어 토글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정사영상(RGB) · DSM · DEM(terrain 컬러맵) · 건물/수목/자동차 경계 SHP를 체크박스로 on/off</a:t>
            </a:r>
            <a:endParaRPr sz="1100"/>
          </a:p>
        </p:txBody>
      </p:sp>
      <p:sp>
        <p:nvSpPr>
          <p:cNvPr id="195" name="Google Shape;195;p22"/>
          <p:cNvSpPr txBox="1"/>
          <p:nvPr/>
        </p:nvSpPr>
        <p:spPr>
          <a:xfrm>
            <a:off x="617236" y="1988820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배경지도 5종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Google Hybrid·Satellite, VWorld 위성·일반, OpenStreetMap</a:t>
            </a:r>
            <a:endParaRPr sz="1100"/>
          </a:p>
        </p:txBody>
      </p:sp>
      <p:sp>
        <p:nvSpPr>
          <p:cNvPr id="196" name="Google Shape;196;p22"/>
          <p:cNvSpPr txBox="1"/>
          <p:nvPr/>
        </p:nvSpPr>
        <p:spPr>
          <a:xfrm>
            <a:off x="617236" y="2372868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좌표 통합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rasterio transform_bounds로 모든 레이어를 EPSG:4326으로 정렬하고 데이터 범위에 맞춰 fit</a:t>
            </a:r>
            <a:endParaRPr sz="1100"/>
          </a:p>
        </p:txBody>
      </p:sp>
      <p:sp>
        <p:nvSpPr>
          <p:cNvPr id="197" name="Google Shape;197;p22"/>
          <p:cNvSpPr/>
          <p:nvPr/>
        </p:nvSpPr>
        <p:spPr>
          <a:xfrm>
            <a:off x="617236" y="2784347"/>
            <a:ext cx="2545071" cy="411480"/>
          </a:xfrm>
          <a:prstGeom prst="roundRect">
            <a:avLst>
              <a:gd fmla="val 12000" name="adj"/>
            </a:avLst>
          </a:prstGeom>
          <a:solidFill>
            <a:srgbClr val="FF3B30"/>
          </a:solidFill>
          <a:ln cap="flat" cmpd="sng" w="9525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617236" y="3236975"/>
            <a:ext cx="254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건물 경계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600" u="none" cap="none" strike="noStrike">
                <a:solidFill>
                  <a:srgbClr val="9B9A97"/>
                </a:solidFill>
                <a:latin typeface="Consolas"/>
                <a:ea typeface="Consolas"/>
                <a:cs typeface="Consolas"/>
                <a:sym typeface="Consolas"/>
              </a:rPr>
              <a:t>#FF3B30</a:t>
            </a:r>
            <a:endParaRPr sz="1100"/>
          </a:p>
        </p:txBody>
      </p:sp>
      <p:sp>
        <p:nvSpPr>
          <p:cNvPr id="199" name="Google Shape;199;p22"/>
          <p:cNvSpPr/>
          <p:nvPr/>
        </p:nvSpPr>
        <p:spPr>
          <a:xfrm>
            <a:off x="3299471" y="2784347"/>
            <a:ext cx="2545071" cy="411480"/>
          </a:xfrm>
          <a:prstGeom prst="roundRect">
            <a:avLst>
              <a:gd fmla="val 12000" name="adj"/>
            </a:avLst>
          </a:prstGeom>
          <a:solidFill>
            <a:srgbClr val="2E7D32"/>
          </a:solidFill>
          <a:ln cap="flat" cmpd="sng" w="9525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3299471" y="3236975"/>
            <a:ext cx="254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수목 경계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600" u="none" cap="none" strike="noStrike">
                <a:solidFill>
                  <a:srgbClr val="9B9A97"/>
                </a:solidFill>
                <a:latin typeface="Consolas"/>
                <a:ea typeface="Consolas"/>
                <a:cs typeface="Consolas"/>
                <a:sym typeface="Consolas"/>
              </a:rPr>
              <a:t>#2E7D32</a:t>
            </a:r>
            <a:endParaRPr sz="1100"/>
          </a:p>
        </p:txBody>
      </p:sp>
      <p:sp>
        <p:nvSpPr>
          <p:cNvPr id="201" name="Google Shape;201;p22"/>
          <p:cNvSpPr/>
          <p:nvPr/>
        </p:nvSpPr>
        <p:spPr>
          <a:xfrm>
            <a:off x="5981706" y="2784347"/>
            <a:ext cx="2545071" cy="411480"/>
          </a:xfrm>
          <a:prstGeom prst="roundRect">
            <a:avLst>
              <a:gd fmla="val 12000" name="adj"/>
            </a:avLst>
          </a:prstGeom>
          <a:solidFill>
            <a:srgbClr val="FF9800"/>
          </a:solidFill>
          <a:ln cap="flat" cmpd="sng" w="9525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5981706" y="3236975"/>
            <a:ext cx="254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자동차 경계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600" u="none" cap="none" strike="noStrike">
                <a:solidFill>
                  <a:srgbClr val="9B9A97"/>
                </a:solidFill>
                <a:latin typeface="Consolas"/>
                <a:ea typeface="Consolas"/>
                <a:cs typeface="Consolas"/>
                <a:sym typeface="Consolas"/>
              </a:rPr>
              <a:t>#FF9800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솔루션 연계</a:t>
            </a:r>
            <a:endParaRPr sz="1100"/>
          </a:p>
        </p:txBody>
      </p:sp>
      <p:sp>
        <p:nvSpPr>
          <p:cNvPr id="209" name="Google Shape;209;p23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세 기능의 연계 흐름</a:t>
            </a:r>
            <a:endParaRPr sz="1100"/>
          </a:p>
        </p:txBody>
      </p:sp>
      <p:sp>
        <p:nvSpPr>
          <p:cNvPr id="210" name="Google Shape;210;p23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212" name="Google Shape;212;p23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  <a:endParaRPr sz="1100"/>
          </a:p>
        </p:txBody>
      </p:sp>
      <p:sp>
        <p:nvSpPr>
          <p:cNvPr id="213" name="Google Shape;213;p23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DSM→DEM 변환을 중심으로 — 학습(파인튜닝)이 추출 정확도를 끌어올려 DEM 보완 정확도를 높이고, 변환에 쓴 DSM 원본은 그늘막 최적입지 분석의 기초 입력으로 재활용됩니다.</a:t>
            </a:r>
            <a:endParaRPr sz="1100"/>
          </a:p>
        </p:txBody>
      </p:sp>
      <p:pic>
        <p:nvPicPr>
          <p:cNvPr descr="integration_flow.png" id="214" name="Google Shape;2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635" y="1837944"/>
            <a:ext cx="7156553" cy="275691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 txBox="1"/>
          <p:nvPr/>
        </p:nvSpPr>
        <p:spPr>
          <a:xfrm>
            <a:off x="617236" y="4636008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8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파인튜닝 → 변환 정확도 최적화 · DEM 보완 정확도 향상 · DSM 원본 → 그늘막 분석 기초 입력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확장 기능 · 정확도 최적화</a:t>
            </a:r>
            <a:endParaRPr sz="1100"/>
          </a:p>
        </p:txBody>
      </p:sp>
      <p:sp>
        <p:nvSpPr>
          <p:cNvPr id="222" name="Google Shape;222;p24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— SAM3 파인튜닝으로 추출 정확도 향상</a:t>
            </a:r>
            <a:endParaRPr sz="1100"/>
          </a:p>
        </p:txBody>
      </p:sp>
      <p:sp>
        <p:nvSpPr>
          <p:cNvPr id="223" name="Google Shape;223;p24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225" name="Google Shape;225;p24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12</a:t>
            </a:r>
            <a:endParaRPr sz="1100"/>
          </a:p>
        </p:txBody>
      </p:sp>
      <p:sp>
        <p:nvSpPr>
          <p:cNvPr id="226" name="Google Shape;226;p24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라벨된 정사영상으로 SAM3 가중치를 파인튜닝합니다. 추출이 정확해질수록 객체 제거·보간 품질이 올라가 결과 DEM의 보완 정확도가 향상됩니다.</a:t>
            </a:r>
            <a:endParaRPr sz="1100"/>
          </a:p>
        </p:txBody>
      </p:sp>
      <p:sp>
        <p:nvSpPr>
          <p:cNvPr id="227" name="Google Shape;227;p24"/>
          <p:cNvSpPr txBox="1"/>
          <p:nvPr/>
        </p:nvSpPr>
        <p:spPr>
          <a:xfrm>
            <a:off x="617236" y="1604772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1단계 · 데이터셋 준비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정사영상을 ~1008px 타일로 분할, 건물·수목·자동차 경계 셰이프파일을 COCO 라벨로 변환 → train/test 생성</a:t>
            </a:r>
            <a:endParaRPr sz="1100"/>
          </a:p>
        </p:txBody>
      </p:sp>
      <p:sp>
        <p:nvSpPr>
          <p:cNvPr id="228" name="Google Shape;228;p24"/>
          <p:cNvSpPr txBox="1"/>
          <p:nvPr/>
        </p:nvSpPr>
        <p:spPr>
          <a:xfrm>
            <a:off x="617236" y="1988820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2단계 · 학습 실행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단일 데이터셋 config 생성 후 파인튜닝(epoch·batch·해상도·GPU·경계마스크 학습), TensorBoard 모니터링</a:t>
            </a:r>
            <a:endParaRPr sz="1100"/>
          </a:p>
        </p:txBody>
      </p:sp>
      <p:sp>
        <p:nvSpPr>
          <p:cNvPr id="229" name="Google Shape;229;p24"/>
          <p:cNvSpPr txBox="1"/>
          <p:nvPr/>
        </p:nvSpPr>
        <p:spPr>
          <a:xfrm>
            <a:off x="617236" y="2372868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3단계 · 체크포인트 적용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학습된 .pt 를 sam3.pt 교체 또는 SAM3_CHECKPOINT 환경변수로 추론 엔진에 연결</a:t>
            </a:r>
            <a:endParaRPr sz="1100"/>
          </a:p>
        </p:txBody>
      </p:sp>
      <p:sp>
        <p:nvSpPr>
          <p:cNvPr id="230" name="Google Shape;230;p24"/>
          <p:cNvSpPr/>
          <p:nvPr/>
        </p:nvSpPr>
        <p:spPr>
          <a:xfrm>
            <a:off x="617236" y="2784347"/>
            <a:ext cx="7909542" cy="411480"/>
          </a:xfrm>
          <a:prstGeom prst="roundRect">
            <a:avLst>
              <a:gd fmla="val 8000" name="adj"/>
            </a:avLst>
          </a:prstGeom>
          <a:solidFill>
            <a:srgbClr val="E7F1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◆  </a:t>
            </a:r>
            <a:r>
              <a:rPr b="0" i="0" lang="ko" sz="10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파인튜닝 → SAM3 추출 정확도 ↑ → 객체 제거·보간 정확도 ↑ → DEM 보완 정확도 향상</a:t>
            </a:r>
            <a:endParaRPr sz="1100"/>
          </a:p>
        </p:txBody>
      </p:sp>
      <p:sp>
        <p:nvSpPr>
          <p:cNvPr id="231" name="Google Shape;231;p24"/>
          <p:cNvSpPr/>
          <p:nvPr/>
        </p:nvSpPr>
        <p:spPr>
          <a:xfrm>
            <a:off x="617236" y="2784347"/>
            <a:ext cx="48007" cy="411480"/>
          </a:xfrm>
          <a:prstGeom prst="rect">
            <a:avLst/>
          </a:prstGeom>
          <a:solidFill>
            <a:srgbClr val="2383E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확장 기능 · DSM 재활용</a:t>
            </a:r>
            <a:endParaRPr sz="1100"/>
          </a:p>
        </p:txBody>
      </p:sp>
      <p:sp>
        <p:nvSpPr>
          <p:cNvPr id="238" name="Google Shape;238;p25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그늘막 최적입지 분석 — DSM 원본 활용</a:t>
            </a:r>
            <a:endParaRPr sz="1100"/>
          </a:p>
        </p:txBody>
      </p:sp>
      <p:sp>
        <p:nvSpPr>
          <p:cNvPr id="239" name="Google Shape;239;p25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241" name="Google Shape;241;p25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13</a:t>
            </a:r>
            <a:endParaRPr sz="1100"/>
          </a:p>
        </p:txBody>
      </p:sp>
      <p:sp>
        <p:nvSpPr>
          <p:cNvPr id="242" name="Google Shape;242;p25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변환에 사용한 DSM 원본을 그대로 재활용해 여름 그늘막 설치 우선 입지를 도출합니다. DSM·건물 footprint 기반 '자연그늘(건물 그림자)'이 핵심 입력입니다.</a:t>
            </a:r>
            <a:endParaRPr sz="1100"/>
          </a:p>
        </p:txBody>
      </p:sp>
      <p:sp>
        <p:nvSpPr>
          <p:cNvPr id="243" name="Google Shape;243;p25"/>
          <p:cNvSpPr txBox="1"/>
          <p:nvPr/>
        </p:nvSpPr>
        <p:spPr>
          <a:xfrm>
            <a:off x="617236" y="1837944"/>
            <a:ext cx="790954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다변수 MCDA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동작구 100m 격자 3,672개 · 7개 피처(유동인구·지표온도·취약계층·기존그늘막·자연그늘·거리뷰결핍·교차로) 가중합</a:t>
            </a:r>
            <a:endParaRPr sz="1100"/>
          </a:p>
        </p:txBody>
      </p:sp>
      <p:sp>
        <p:nvSpPr>
          <p:cNvPr id="244" name="Google Shape;244;p25"/>
          <p:cNvSpPr txBox="1"/>
          <p:nvPr/>
        </p:nvSpPr>
        <p:spPr>
          <a:xfrm>
            <a:off x="617236" y="2194560"/>
            <a:ext cx="790954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DSM 기초 입력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DSM·건물 footprint로 오후 태양위치(고도 52°·방위 252°) 그림자를 시뮬레이션 → 자연그늘 피처</a:t>
            </a:r>
            <a:endParaRPr sz="1100"/>
          </a:p>
        </p:txBody>
      </p:sp>
      <p:sp>
        <p:nvSpPr>
          <p:cNvPr id="245" name="Google Shape;245;p25"/>
          <p:cNvSpPr txBox="1"/>
          <p:nvPr/>
        </p:nvSpPr>
        <p:spPr>
          <a:xfrm>
            <a:off x="617236" y="2551176"/>
            <a:ext cx="790954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정책 시나리오 6종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기본·고령자·폭염·유동인구·보행환경·교차로 — 모든 시나리오 공통 추천이 강건 입지</a:t>
            </a:r>
            <a:endParaRPr sz="1100"/>
          </a:p>
        </p:txBody>
      </p:sp>
      <p:sp>
        <p:nvSpPr>
          <p:cNvPr id="246" name="Google Shape;246;p25"/>
          <p:cNvSpPr txBox="1"/>
          <p:nvPr/>
        </p:nvSpPr>
        <p:spPr>
          <a:xfrm>
            <a:off x="617236" y="2907792"/>
            <a:ext cx="790954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산출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Folium 추천 지도(위성 배경지도 전환)·TOP 표·집중구역 검증·설치 근거</a:t>
            </a:r>
            <a:endParaRPr sz="1100"/>
          </a:p>
        </p:txBody>
      </p:sp>
      <p:sp>
        <p:nvSpPr>
          <p:cNvPr id="247" name="Google Shape;247;p25"/>
          <p:cNvSpPr/>
          <p:nvPr/>
        </p:nvSpPr>
        <p:spPr>
          <a:xfrm>
            <a:off x="617236" y="3291840"/>
            <a:ext cx="7909542" cy="411480"/>
          </a:xfrm>
          <a:prstGeom prst="roundRect">
            <a:avLst>
              <a:gd fmla="val 8000" name="adj"/>
            </a:avLst>
          </a:prstGeom>
          <a:solidFill>
            <a:srgbClr val="E3F1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0F7B6C"/>
                </a:solidFill>
                <a:latin typeface="Noto Sans KR"/>
                <a:ea typeface="Noto Sans KR"/>
                <a:cs typeface="Noto Sans KR"/>
                <a:sym typeface="Noto Sans KR"/>
              </a:rPr>
              <a:t>✔  </a:t>
            </a:r>
            <a:r>
              <a:rPr b="0" i="0" lang="ko" sz="10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DSM 원본 = 그늘막 분석의 기초 입력 — 변환 자산을 도시 정책 분석으로 확장</a:t>
            </a:r>
            <a:endParaRPr sz="1100"/>
          </a:p>
        </p:txBody>
      </p:sp>
      <p:sp>
        <p:nvSpPr>
          <p:cNvPr id="248" name="Google Shape;248;p25"/>
          <p:cNvSpPr/>
          <p:nvPr/>
        </p:nvSpPr>
        <p:spPr>
          <a:xfrm>
            <a:off x="617236" y="3291840"/>
            <a:ext cx="48007" cy="41148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디자인</a:t>
            </a:r>
            <a:endParaRPr sz="1100"/>
          </a:p>
        </p:txBody>
      </p:sp>
      <p:sp>
        <p:nvSpPr>
          <p:cNvPr id="255" name="Google Shape;255;p26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노션 스타일 UI/UX</a:t>
            </a:r>
            <a:endParaRPr sz="1100"/>
          </a:p>
        </p:txBody>
      </p:sp>
      <p:sp>
        <p:nvSpPr>
          <p:cNvPr id="256" name="Google Shape;256;p26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6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258" name="Google Shape;258;p26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14</a:t>
            </a:r>
            <a:endParaRPr sz="1100"/>
          </a:p>
        </p:txBody>
      </p:sp>
      <p:sp>
        <p:nvSpPr>
          <p:cNvPr id="259" name="Google Shape;259;p26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ui/theme.py Palette — 순백 배경·얇은 보더·단일 액센트로 복잡성을 숨긴 깔끔한 인터페이스.</a:t>
            </a:r>
            <a:endParaRPr sz="1100"/>
          </a:p>
        </p:txBody>
      </p:sp>
      <p:sp>
        <p:nvSpPr>
          <p:cNvPr id="260" name="Google Shape;260;p26"/>
          <p:cNvSpPr/>
          <p:nvPr/>
        </p:nvSpPr>
        <p:spPr>
          <a:xfrm>
            <a:off x="617236" y="1604772"/>
            <a:ext cx="1203954" cy="452628"/>
          </a:xfrm>
          <a:prstGeom prst="roundRect">
            <a:avLst>
              <a:gd fmla="val 12000" name="adj"/>
            </a:avLst>
          </a:prstGeom>
          <a:solidFill>
            <a:srgbClr val="2383E2"/>
          </a:solidFill>
          <a:ln cap="flat" cmpd="sng" w="9525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/>
          <p:cNvSpPr txBox="1"/>
          <p:nvPr/>
        </p:nvSpPr>
        <p:spPr>
          <a:xfrm>
            <a:off x="617236" y="2098548"/>
            <a:ext cx="120395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ACCENT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600" u="none" cap="none" strike="noStrike">
                <a:solidFill>
                  <a:srgbClr val="9B9A97"/>
                </a:solidFill>
                <a:latin typeface="Consolas"/>
                <a:ea typeface="Consolas"/>
                <a:cs typeface="Consolas"/>
                <a:sym typeface="Consolas"/>
              </a:rPr>
              <a:t>노션 블루</a:t>
            </a:r>
            <a:endParaRPr sz="1100"/>
          </a:p>
        </p:txBody>
      </p:sp>
      <p:sp>
        <p:nvSpPr>
          <p:cNvPr id="262" name="Google Shape;262;p26"/>
          <p:cNvSpPr/>
          <p:nvPr/>
        </p:nvSpPr>
        <p:spPr>
          <a:xfrm>
            <a:off x="1958354" y="1604772"/>
            <a:ext cx="1203954" cy="452628"/>
          </a:xfrm>
          <a:prstGeom prst="roundRect">
            <a:avLst>
              <a:gd fmla="val 12000" name="adj"/>
            </a:avLst>
          </a:prstGeom>
          <a:solidFill>
            <a:srgbClr val="37352F"/>
          </a:solidFill>
          <a:ln cap="flat" cmpd="sng" w="9525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"/>
          <p:cNvSpPr txBox="1"/>
          <p:nvPr/>
        </p:nvSpPr>
        <p:spPr>
          <a:xfrm>
            <a:off x="1958354" y="2098548"/>
            <a:ext cx="120395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TEXT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600" u="none" cap="none" strike="noStrike">
                <a:solidFill>
                  <a:srgbClr val="9B9A97"/>
                </a:solidFill>
                <a:latin typeface="Consolas"/>
                <a:ea typeface="Consolas"/>
                <a:cs typeface="Consolas"/>
                <a:sym typeface="Consolas"/>
              </a:rPr>
              <a:t>본문</a:t>
            </a:r>
            <a:endParaRPr sz="1100"/>
          </a:p>
        </p:txBody>
      </p:sp>
      <p:sp>
        <p:nvSpPr>
          <p:cNvPr id="264" name="Google Shape;264;p26"/>
          <p:cNvSpPr/>
          <p:nvPr/>
        </p:nvSpPr>
        <p:spPr>
          <a:xfrm>
            <a:off x="3299471" y="1604772"/>
            <a:ext cx="1203954" cy="452628"/>
          </a:xfrm>
          <a:prstGeom prst="roundRect">
            <a:avLst>
              <a:gd fmla="val 12000" name="adj"/>
            </a:avLst>
          </a:prstGeom>
          <a:solidFill>
            <a:srgbClr val="F7F6F3"/>
          </a:solidFill>
          <a:ln cap="flat" cmpd="sng" w="9525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6"/>
          <p:cNvSpPr txBox="1"/>
          <p:nvPr/>
        </p:nvSpPr>
        <p:spPr>
          <a:xfrm>
            <a:off x="3299471" y="2098548"/>
            <a:ext cx="120395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PANEL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600" u="none" cap="none" strike="noStrike">
                <a:solidFill>
                  <a:srgbClr val="9B9A97"/>
                </a:solidFill>
                <a:latin typeface="Consolas"/>
                <a:ea typeface="Consolas"/>
                <a:cs typeface="Consolas"/>
                <a:sym typeface="Consolas"/>
              </a:rPr>
              <a:t>패널</a:t>
            </a:r>
            <a:endParaRPr sz="1100"/>
          </a:p>
        </p:txBody>
      </p:sp>
      <p:sp>
        <p:nvSpPr>
          <p:cNvPr id="266" name="Google Shape;266;p26"/>
          <p:cNvSpPr/>
          <p:nvPr/>
        </p:nvSpPr>
        <p:spPr>
          <a:xfrm>
            <a:off x="4640589" y="1604772"/>
            <a:ext cx="1203954" cy="452628"/>
          </a:xfrm>
          <a:prstGeom prst="roundRect">
            <a:avLst>
              <a:gd fmla="val 12000" name="adj"/>
            </a:avLst>
          </a:prstGeom>
          <a:solidFill>
            <a:srgbClr val="0F7B6C"/>
          </a:solidFill>
          <a:ln cap="flat" cmpd="sng" w="9525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 txBox="1"/>
          <p:nvPr/>
        </p:nvSpPr>
        <p:spPr>
          <a:xfrm>
            <a:off x="4640589" y="2098548"/>
            <a:ext cx="120395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GREEN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600" u="none" cap="none" strike="noStrike">
                <a:solidFill>
                  <a:srgbClr val="9B9A97"/>
                </a:solidFill>
                <a:latin typeface="Consolas"/>
                <a:ea typeface="Consolas"/>
                <a:cs typeface="Consolas"/>
                <a:sym typeface="Consolas"/>
              </a:rPr>
              <a:t>성공</a:t>
            </a:r>
            <a:endParaRPr sz="1100"/>
          </a:p>
        </p:txBody>
      </p:sp>
      <p:sp>
        <p:nvSpPr>
          <p:cNvPr id="268" name="Google Shape;268;p26"/>
          <p:cNvSpPr/>
          <p:nvPr/>
        </p:nvSpPr>
        <p:spPr>
          <a:xfrm>
            <a:off x="5981706" y="1604772"/>
            <a:ext cx="1203954" cy="452628"/>
          </a:xfrm>
          <a:prstGeom prst="roundRect">
            <a:avLst>
              <a:gd fmla="val 12000" name="adj"/>
            </a:avLst>
          </a:prstGeom>
          <a:solidFill>
            <a:srgbClr val="CB7B26"/>
          </a:solidFill>
          <a:ln cap="flat" cmpd="sng" w="9525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6"/>
          <p:cNvSpPr txBox="1"/>
          <p:nvPr/>
        </p:nvSpPr>
        <p:spPr>
          <a:xfrm>
            <a:off x="5981706" y="2098548"/>
            <a:ext cx="120395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AMBER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600" u="none" cap="none" strike="noStrike">
                <a:solidFill>
                  <a:srgbClr val="9B9A97"/>
                </a:solidFill>
                <a:latin typeface="Consolas"/>
                <a:ea typeface="Consolas"/>
                <a:cs typeface="Consolas"/>
                <a:sym typeface="Consolas"/>
              </a:rPr>
              <a:t>경고</a:t>
            </a:r>
            <a:endParaRPr sz="1100"/>
          </a:p>
        </p:txBody>
      </p:sp>
      <p:sp>
        <p:nvSpPr>
          <p:cNvPr id="270" name="Google Shape;270;p26"/>
          <p:cNvSpPr/>
          <p:nvPr/>
        </p:nvSpPr>
        <p:spPr>
          <a:xfrm>
            <a:off x="7322825" y="1604772"/>
            <a:ext cx="1203954" cy="452628"/>
          </a:xfrm>
          <a:prstGeom prst="roundRect">
            <a:avLst>
              <a:gd fmla="val 12000" name="adj"/>
            </a:avLst>
          </a:prstGeom>
          <a:solidFill>
            <a:srgbClr val="E03E3E"/>
          </a:solidFill>
          <a:ln cap="flat" cmpd="sng" w="9525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 txBox="1"/>
          <p:nvPr/>
        </p:nvSpPr>
        <p:spPr>
          <a:xfrm>
            <a:off x="7322825" y="2098548"/>
            <a:ext cx="120395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RED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600" u="none" cap="none" strike="noStrike">
                <a:solidFill>
                  <a:srgbClr val="9B9A97"/>
                </a:solidFill>
                <a:latin typeface="Consolas"/>
                <a:ea typeface="Consolas"/>
                <a:cs typeface="Consolas"/>
                <a:sym typeface="Consolas"/>
              </a:rPr>
              <a:t>실패</a:t>
            </a:r>
            <a:endParaRPr sz="1100"/>
          </a:p>
        </p:txBody>
      </p:sp>
      <p:sp>
        <p:nvSpPr>
          <p:cNvPr id="272" name="Google Shape;272;p26"/>
          <p:cNvSpPr txBox="1"/>
          <p:nvPr/>
        </p:nvSpPr>
        <p:spPr>
          <a:xfrm>
            <a:off x="617236" y="2468879"/>
            <a:ext cx="790954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폰트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UI는 Segoe UI / Malgun Gothic, 본 발표자료는 Noto Sans KR</a:t>
            </a:r>
            <a:endParaRPr sz="1100"/>
          </a:p>
        </p:txBody>
      </p:sp>
      <p:sp>
        <p:nvSpPr>
          <p:cNvPr id="273" name="Google Shape;273;p26"/>
          <p:cNvSpPr txBox="1"/>
          <p:nvPr/>
        </p:nvSpPr>
        <p:spPr>
          <a:xfrm>
            <a:off x="617236" y="2825495"/>
            <a:ext cx="790954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상태 시각화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QA 등급을 PASS / WARNING / FAIL 색상으로 즉시 표현</a:t>
            </a:r>
            <a:endParaRPr sz="1100"/>
          </a:p>
        </p:txBody>
      </p:sp>
      <p:sp>
        <p:nvSpPr>
          <p:cNvPr id="274" name="Google Shape;274;p26"/>
          <p:cNvSpPr txBox="1"/>
          <p:nvPr/>
        </p:nvSpPr>
        <p:spPr>
          <a:xfrm>
            <a:off x="617236" y="3182111"/>
            <a:ext cx="790954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깊이 표현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그림자 대신 1px 보더 + 6~8px 라운드 코너로 정돈된 계층감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7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정리</a:t>
            </a:r>
            <a:endParaRPr sz="1100"/>
          </a:p>
        </p:txBody>
      </p:sp>
      <p:sp>
        <p:nvSpPr>
          <p:cNvPr id="281" name="Google Shape;281;p27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가치 및 산출물</a:t>
            </a:r>
            <a:endParaRPr sz="1100"/>
          </a:p>
        </p:txBody>
      </p:sp>
      <p:sp>
        <p:nvSpPr>
          <p:cNvPr id="282" name="Google Shape;282;p27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7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284" name="Google Shape;284;p27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15</a:t>
            </a:r>
            <a:endParaRPr sz="1100"/>
          </a:p>
        </p:txBody>
      </p:sp>
      <p:sp>
        <p:nvSpPr>
          <p:cNvPr id="285" name="Google Shape;285;p27"/>
          <p:cNvSpPr/>
          <p:nvPr/>
        </p:nvSpPr>
        <p:spPr>
          <a:xfrm>
            <a:off x="617236" y="1261872"/>
            <a:ext cx="1833363" cy="126873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엔드투엔드 자동화</a:t>
            </a:r>
            <a:endParaRPr sz="1100"/>
          </a:p>
          <a:p>
            <a:pPr indent="0" lvl="0" marL="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입력→추출→제거→보간→QA→저장을 사람 개입 없이 단일 실행</a:t>
            </a:r>
            <a:endParaRPr sz="1100"/>
          </a:p>
        </p:txBody>
      </p:sp>
      <p:sp>
        <p:nvSpPr>
          <p:cNvPr id="286" name="Google Shape;286;p27"/>
          <p:cNvSpPr/>
          <p:nvPr/>
        </p:nvSpPr>
        <p:spPr>
          <a:xfrm>
            <a:off x="2642629" y="1261872"/>
            <a:ext cx="1833363" cy="126873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타일 기반 확장성</a:t>
            </a:r>
            <a:endParaRPr sz="1100"/>
          </a:p>
          <a:p>
            <a:pPr indent="0" lvl="0" marL="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2048px 타일 처리로 대용량 영상도 안정적으로 변환</a:t>
            </a:r>
            <a:endParaRPr sz="1100"/>
          </a:p>
        </p:txBody>
      </p:sp>
      <p:sp>
        <p:nvSpPr>
          <p:cNvPr id="287" name="Google Shape;287;p27"/>
          <p:cNvSpPr/>
          <p:nvPr/>
        </p:nvSpPr>
        <p:spPr>
          <a:xfrm>
            <a:off x="4668022" y="1261872"/>
            <a:ext cx="1833363" cy="126873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QA 정량화</a:t>
            </a:r>
            <a:endParaRPr sz="1100"/>
          </a:p>
          <a:p>
            <a:pPr indent="0" lvl="0" marL="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경사연속성·스파이크·NoData를 등급(PASS/WARNING/FAIL)으로 표준화</a:t>
            </a:r>
            <a:endParaRPr sz="1100"/>
          </a:p>
        </p:txBody>
      </p:sp>
      <p:sp>
        <p:nvSpPr>
          <p:cNvPr id="288" name="Google Shape;288;p27"/>
          <p:cNvSpPr/>
          <p:nvPr/>
        </p:nvSpPr>
        <p:spPr>
          <a:xfrm>
            <a:off x="6693415" y="1261872"/>
            <a:ext cx="1833363" cy="126873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GIS 호환</a:t>
            </a:r>
            <a:endParaRPr sz="1100"/>
          </a:p>
          <a:p>
            <a:pPr indent="0" lvl="0" marL="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GeoTIFF DEM + 경계 SHP + 메타데이터 JSON 표준 산출</a:t>
            </a:r>
            <a:endParaRPr sz="1100"/>
          </a:p>
        </p:txBody>
      </p:sp>
      <p:sp>
        <p:nvSpPr>
          <p:cNvPr id="289" name="Google Shape;289;p27"/>
          <p:cNvSpPr txBox="1"/>
          <p:nvPr/>
        </p:nvSpPr>
        <p:spPr>
          <a:xfrm>
            <a:off x="617236" y="2681478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산출물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&lt;dsm&gt;_dem_final.tif · _dem.tif · _pg_nodata.tif · _nodata_bg.shp · sidecar .json · 건물/수목/자동차 .shp</a:t>
            </a:r>
            <a:endParaRPr sz="1100"/>
          </a:p>
        </p:txBody>
      </p:sp>
      <p:sp>
        <p:nvSpPr>
          <p:cNvPr id="290" name="Google Shape;290;p27"/>
          <p:cNvSpPr/>
          <p:nvPr/>
        </p:nvSpPr>
        <p:spPr>
          <a:xfrm>
            <a:off x="617236" y="3092958"/>
            <a:ext cx="7909542" cy="617219"/>
          </a:xfrm>
          <a:prstGeom prst="roundRect">
            <a:avLst>
              <a:gd fmla="val 8000" name="adj"/>
            </a:avLst>
          </a:prstGeom>
          <a:solidFill>
            <a:srgbClr val="E7F1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◆  </a:t>
            </a:r>
            <a:r>
              <a:rPr b="0" i="0" lang="ko" sz="10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DSM→DEM 변환 · SAM3 파인튜닝 · 그늘막 최적입지 분석을 하나의 데스크톱 앱으로 통합 — 변환 자산을 정확도 향상과 도시 정책 분석으로 확장합니다.</a:t>
            </a:r>
            <a:endParaRPr sz="1100"/>
          </a:p>
        </p:txBody>
      </p:sp>
      <p:sp>
        <p:nvSpPr>
          <p:cNvPr id="291" name="Google Shape;291;p27"/>
          <p:cNvSpPr/>
          <p:nvPr/>
        </p:nvSpPr>
        <p:spPr>
          <a:xfrm>
            <a:off x="617236" y="3092958"/>
            <a:ext cx="48007" cy="617219"/>
          </a:xfrm>
          <a:prstGeom prst="rect">
            <a:avLst/>
          </a:prstGeom>
          <a:solidFill>
            <a:srgbClr val="2383E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38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40080"/>
            <a:ext cx="8229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>
                <a:solidFill>
                  <a:srgbClr val="787774"/>
                </a:solidFill>
                <a:latin typeface="Noto Sans KR"/>
              </a:rPr>
              <a:t>데이터기반 도시설계 · 기말 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82296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400" b="1">
                <a:solidFill>
                  <a:srgbClr val="37352F"/>
                </a:solidFill>
                <a:latin typeface="Noto Sans KR"/>
              </a:rPr>
              <a:t>DSM → DEM Converter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54480"/>
            <a:ext cx="82296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400" b="1">
                <a:solidFill>
                  <a:srgbClr val="2383E2"/>
                </a:solidFill>
                <a:latin typeface="Noto Sans KR"/>
              </a:rPr>
              <a:t>&amp; 동작구 여름 그늘막 최적 입지 추천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286000"/>
            <a:ext cx="1828800" cy="38100"/>
          </a:xfrm>
          <a:prstGeom prst="rect">
            <a:avLst/>
          </a:prstGeom>
          <a:solidFill>
            <a:srgbClr val="238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514600"/>
            <a:ext cx="8229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787774"/>
                </a:solidFill>
                <a:latin typeface="Noto Sans KR"/>
              </a:rPr>
              <a:t>팀 구성 (3인)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88036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9525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/>
            <a:r>
              <a:rPr sz="1500" b="1">
                <a:solidFill>
                  <a:srgbClr val="37352F"/>
                </a:solidFill>
                <a:latin typeface="Noto Sans KR"/>
              </a:rPr>
              <a:t>문치국</a:t>
            </a:r>
          </a:p>
          <a:p>
            <a:pPr>
              <a:spcBef>
                <a:spcPts val="300"/>
              </a:spcBef>
            </a:pPr>
            <a:r>
              <a:rPr sz="900" b="0">
                <a:solidFill>
                  <a:srgbClr val="2383E2"/>
                </a:solidFill>
                <a:latin typeface="Noto Sans KR"/>
              </a:rPr>
              <a:t>GIS · 측량 · BIM 엔지니어</a:t>
            </a:r>
          </a:p>
          <a:p>
            <a:pPr>
              <a:spcBef>
                <a:spcPts val="600"/>
              </a:spcBef>
            </a:pPr>
            <a:r>
              <a:rPr sz="900" b="0">
                <a:solidFill>
                  <a:srgbClr val="787774"/>
                </a:solidFill>
                <a:latin typeface="Noto Sans KR"/>
              </a:rPr>
              <a:t>NGII 데이터 · DSM/DEM · 측량 도메인 자문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88036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9525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/>
            <a:r>
              <a:rPr sz="1500" b="1">
                <a:solidFill>
                  <a:srgbClr val="37352F"/>
                </a:solidFill>
                <a:latin typeface="Noto Sans KR"/>
              </a:rPr>
              <a:t>한영재</a:t>
            </a:r>
          </a:p>
          <a:p>
            <a:pPr>
              <a:spcBef>
                <a:spcPts val="300"/>
              </a:spcBef>
            </a:pPr>
            <a:r>
              <a:rPr sz="900" b="0">
                <a:solidFill>
                  <a:srgbClr val="2383E2"/>
                </a:solidFill>
                <a:latin typeface="Noto Sans KR"/>
              </a:rPr>
              <a:t>한화투자증권 · 채권 트레이더 / 인공지능융합대학원</a:t>
            </a:r>
          </a:p>
          <a:p>
            <a:pPr>
              <a:spcBef>
                <a:spcPts val="600"/>
              </a:spcBef>
            </a:pPr>
            <a:r>
              <a:rPr sz="900" b="0">
                <a:solidFill>
                  <a:srgbClr val="787774"/>
                </a:solidFill>
                <a:latin typeface="Noto Sans KR"/>
              </a:rPr>
              <a:t>그늘막 입지 분석 (MCDA + CV + GIS + 배낭 최적화) · 전체 시스템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1" y="288036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9525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/>
            <a:r>
              <a:rPr sz="1500" b="1">
                <a:solidFill>
                  <a:srgbClr val="37352F"/>
                </a:solidFill>
                <a:latin typeface="Noto Sans KR"/>
              </a:rPr>
              <a:t>원우식</a:t>
            </a:r>
          </a:p>
          <a:p>
            <a:pPr>
              <a:spcBef>
                <a:spcPts val="300"/>
              </a:spcBef>
            </a:pPr>
            <a:r>
              <a:rPr sz="900" b="0">
                <a:solidFill>
                  <a:srgbClr val="2383E2"/>
                </a:solidFill>
                <a:latin typeface="Noto Sans KR"/>
              </a:rPr>
              <a:t>SOCAR · ML/AI Engineer</a:t>
            </a:r>
          </a:p>
          <a:p>
            <a:pPr>
              <a:spcBef>
                <a:spcPts val="600"/>
              </a:spcBef>
            </a:pPr>
            <a:r>
              <a:rPr sz="900" b="0">
                <a:solidFill>
                  <a:srgbClr val="787774"/>
                </a:solidFill>
                <a:latin typeface="Noto Sans KR"/>
              </a:rPr>
              <a:t>SAM3 · GDAL 파이프라인 · DSM→DEM Converter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434840"/>
            <a:ext cx="8229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37352F"/>
                </a:solidFill>
                <a:latin typeface="Noto Sans KR"/>
              </a:rPr>
              <a:t>발표자 : 한영재 / 인공지능융합대학원 인공지능컴퓨팅 / 2025961227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709160"/>
            <a:ext cx="8229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9B9A97"/>
                </a:solidFill>
                <a:latin typeface="Noto Sans KR"/>
              </a:rPr>
              <a:t>2026년 5월 · 연세대 도시공학과 · 데이터기반 도시설계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790956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787774"/>
                </a:solidFill>
                <a:latin typeface="Noto Sans KR"/>
              </a:rPr>
              <a:t>연계 · 선정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79095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000" b="1">
                <a:solidFill>
                  <a:srgbClr val="37352F"/>
                </a:solidFill>
                <a:latin typeface="Noto Sans KR"/>
              </a:rPr>
              <a:t>왜 DSM 기반 그늘막 입지 분석인가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7909560" cy="952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261872"/>
            <a:ext cx="790956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787774"/>
                </a:solidFill>
                <a:latin typeface="Noto Sans KR"/>
              </a:rPr>
              <a:t>앞서 소개한 DSM→DEM Converter 의 자산을 그늘막 입지 분석에 재활용 — 같은 데이터에서 다른 가치를 뽑아낸 학제간 협업.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91640"/>
            <a:ext cx="3840480" cy="228600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9525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657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>
                <a:solidFill>
                  <a:srgbClr val="2383E2"/>
                </a:solidFill>
                <a:latin typeface="Noto Sans KR"/>
              </a:rPr>
              <a:t>DEM vs DSM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657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37352F"/>
                </a:solidFill>
                <a:latin typeface="Noto Sans KR"/>
              </a:rPr>
              <a:t>DEM — 객체 제거된 순수 지표 (지형 분석)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3657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37352F"/>
                </a:solidFill>
                <a:latin typeface="Noto Sans KR"/>
              </a:rPr>
              <a:t>DSM — 건물·수목 포함 표면 (그림자 분석)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51760"/>
            <a:ext cx="365760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그림자는 표면 객체(건물·수목)의 꼭대기가 광선을 가려야 생김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DEM은 객체가 없으므로 그림자 시뮬레이션 불가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DSM의 표면 = ray-cast 광선이 부딪힐 차폐물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nDSM = DSM − DEM = 객체 순높이 (그림자 입력)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691640"/>
            <a:ext cx="3913632" cy="228600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15875">
            <a:solidFill>
              <a:srgbClr val="238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1783080"/>
            <a:ext cx="3657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>
                <a:solidFill>
                  <a:srgbClr val="2383E2"/>
                </a:solidFill>
                <a:latin typeface="Noto Sans KR"/>
              </a:rPr>
              <a:t>친구 도구 → 우리 도구 자산 흐름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103120"/>
            <a:ext cx="36576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DSM(입력) — 그늘막 분석의 자연그늘 입력으로 재활용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SAM3 건물 마스크 — 우리 CV-A SAM 의 검증 자료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GDAL 보간 — CV-DSM ray-cast 결측치 보완에 응용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DEM(출력) — 지형 분석 전용 (그늘막엔 사용 X)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4069080"/>
            <a:ext cx="7909560" cy="685800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9525">
            <a:solidFill>
              <a:srgbClr val="CB7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75895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1">
                <a:solidFill>
                  <a:srgbClr val="CB7B26"/>
                </a:solidFill>
                <a:latin typeface="Noto Sans KR"/>
              </a:rPr>
              <a:t>📘 교수님 강의자료 13p 추천 — Deep Umbra (GAN 기반 일조 컴퓨테이션)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34840"/>
            <a:ext cx="75895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37352F"/>
                </a:solidFill>
                <a:latin typeface="Noto Sans KR"/>
              </a:rPr>
              <a:t>→ 본 프로젝트는 풀 GAN 학습 대신 DSM + 4시점 ray-cast 로 단순화 (핵심 정신: 다시점 시간 누적)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855464"/>
            <a:ext cx="790956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9B9A97"/>
                </a:solidFill>
                <a:latin typeface="Noto Sans KR"/>
              </a:rPr>
              <a:t>동작구 그늘막 입지 분석 · 데이터기반 도시설계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4855464"/>
            <a:ext cx="68580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900" b="0">
                <a:solidFill>
                  <a:srgbClr val="9B9A97"/>
                </a:solidFill>
                <a:latin typeface="Noto Sans K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790956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787774"/>
                </a:solidFill>
                <a:latin typeface="Noto Sans KR"/>
              </a:rPr>
              <a:t>보완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79095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000" b="1">
                <a:solidFill>
                  <a:srgbClr val="37352F"/>
                </a:solidFill>
                <a:latin typeface="Noto Sans KR"/>
              </a:rPr>
              <a:t>이전 방식 → DSM·교수님 추천·AI 튜닝으로 보완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7909560" cy="952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" y="1325880"/>
          <a:ext cx="7909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108960"/>
                <a:gridCol w="3337560"/>
              </a:tblGrid>
              <a:tr h="355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</a:rPr>
                        <a:t>항목</a:t>
                      </a:r>
                    </a:p>
                  </a:txBody>
                  <a:tcPr marT="36576" marB="36576" marL="73152">
                    <a:solidFill>
                      <a:srgbClr val="3735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</a:rPr>
                        <a:t>이전 (v1)</a:t>
                      </a:r>
                    </a:p>
                  </a:txBody>
                  <a:tcPr marT="36576" marB="36576" marL="73152">
                    <a:solidFill>
                      <a:srgbClr val="3735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</a:rPr>
                        <a:t>보완 (v2, 최종)</a:t>
                      </a:r>
                    </a:p>
                  </a:txBody>
                  <a:tcPr marT="36576" marB="36576" marL="73152">
                    <a:solidFill>
                      <a:srgbClr val="37352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352F"/>
                          </a:solidFill>
                          <a:latin typeface="Noto Sans KR"/>
                        </a:rPr>
                        <a:t>건물 입력</a:t>
                      </a:r>
                    </a:p>
                  </a:txBody>
                  <a:tcPr marT="36576" marB="36576" marL="73152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7352F"/>
                          </a:solidFill>
                          <a:latin typeface="Noto Sans KR"/>
                        </a:rPr>
                        <a:t>더미 19동 + 면적 추정 높이</a:t>
                      </a:r>
                    </a:p>
                  </a:txBody>
                  <a:tcPr marT="36576" marB="36576" marL="73152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7352F"/>
                          </a:solidFill>
                          <a:latin typeface="Noto Sans KR"/>
                        </a:rPr>
                        <a:t>SAM 30동 (CV-A) + NGII 실측 3,775동 (흑석동)</a:t>
                      </a:r>
                    </a:p>
                  </a:txBody>
                  <a:tcPr marT="36576" marB="36576" marL="73152"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352F"/>
                          </a:solidFill>
                          <a:latin typeface="Noto Sans KR"/>
                        </a:rPr>
                        <a:t>그림자 시뮬레이션</a:t>
                      </a:r>
                    </a:p>
                  </a:txBody>
                  <a:tcPr marT="36576" marB="36576" marL="73152"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7352F"/>
                          </a:solidFill>
                          <a:latin typeface="Noto Sans KR"/>
                        </a:rPr>
                        <a:t>오후 3시 단일 시점 평행이동</a:t>
                      </a:r>
                    </a:p>
                  </a:txBody>
                  <a:tcPr marT="36576" marB="36576" marL="73152"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7352F"/>
                          </a:solidFill>
                          <a:latin typeface="Noto Sans KR"/>
                        </a:rPr>
                        <a:t>DSM 4시점 ray-cast (Deep Umbra 영감)</a:t>
                      </a:r>
                    </a:p>
                  </a:txBody>
                  <a:tcPr marT="36576" marB="36576" marL="73152">
                    <a:solidFill>
                      <a:srgbClr val="F7F6F3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352F"/>
                          </a:solidFill>
                          <a:latin typeface="Noto Sans KR"/>
                        </a:rPr>
                        <a:t>그림자 안정성</a:t>
                      </a:r>
                    </a:p>
                  </a:txBody>
                  <a:tcPr marT="36576" marB="36576" marL="73152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7352F"/>
                          </a:solidFill>
                          <a:latin typeface="Noto Sans KR"/>
                        </a:rPr>
                        <a:t>결정론적 1회</a:t>
                      </a:r>
                    </a:p>
                  </a:txBody>
                  <a:tcPr marT="36576" marB="36576" marL="73152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83E2"/>
                          </a:solidFill>
                          <a:latin typeface="Noto Sans KR"/>
                        </a:rPr>
                        <a:t>Self-consistency 5회 평균 + 신뢰구간 (NEW)</a:t>
                      </a:r>
                    </a:p>
                  </a:txBody>
                  <a:tcPr marT="36576" marB="36576" marL="73152"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352F"/>
                          </a:solidFill>
                          <a:latin typeface="Noto Sans KR"/>
                        </a:rPr>
                        <a:t>보행로 필터</a:t>
                      </a:r>
                    </a:p>
                  </a:txBody>
                  <a:tcPr marT="36576" marB="36576" marL="73152"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7352F"/>
                          </a:solidFill>
                          <a:latin typeface="Noto Sans KR"/>
                        </a:rPr>
                        <a:t>더미 14개 라인 buffer 20m</a:t>
                      </a:r>
                    </a:p>
                  </a:txBody>
                  <a:tcPr marT="36576" marB="36576" marL="73152"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7352F"/>
                          </a:solidFill>
                          <a:latin typeface="Noto Sans KR"/>
                        </a:rPr>
                        <a:t>OSMnx walkable highway buffer 5m</a:t>
                      </a:r>
                    </a:p>
                  </a:txBody>
                  <a:tcPr marT="36576" marB="36576" marL="73152">
                    <a:solidFill>
                      <a:srgbClr val="F7F6F3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352F"/>
                          </a:solidFill>
                          <a:latin typeface="Noto Sans KR"/>
                        </a:rPr>
                        <a:t>건물 안 cut</a:t>
                      </a:r>
                    </a:p>
                  </a:txBody>
                  <a:tcPr marT="36576" marB="36576" marL="73152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7352F"/>
                          </a:solidFill>
                          <a:latin typeface="Noto Sans KR"/>
                        </a:rPr>
                        <a:t>없음</a:t>
                      </a:r>
                    </a:p>
                  </a:txBody>
                  <a:tcPr marT="36576" marB="36576" marL="73152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7352F"/>
                          </a:solidFill>
                          <a:latin typeface="Noto Sans KR"/>
                        </a:rPr>
                        <a:t>NGII 폴리곤 5m inset cut</a:t>
                      </a:r>
                    </a:p>
                  </a:txBody>
                  <a:tcPr marT="36576" marB="36576" marL="73152"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352F"/>
                          </a:solidFill>
                          <a:latin typeface="Noto Sans KR"/>
                        </a:rPr>
                        <a:t>결집 지점</a:t>
                      </a:r>
                    </a:p>
                  </a:txBody>
                  <a:tcPr marT="36576" marB="36576" marL="73152"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7352F"/>
                          </a:solidFill>
                          <a:latin typeface="Noto Sans KR"/>
                        </a:rPr>
                        <a:t>없음</a:t>
                      </a:r>
                    </a:p>
                  </a:txBody>
                  <a:tcPr marT="36576" marB="36576" marL="73152"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7352F"/>
                          </a:solidFill>
                          <a:latin typeface="Noto Sans KR"/>
                        </a:rPr>
                        <a:t>OSMnx 교차로 + 횡단보도 50m 근접</a:t>
                      </a:r>
                    </a:p>
                  </a:txBody>
                  <a:tcPr marT="36576" marB="36576" marL="73152">
                    <a:solidFill>
                      <a:srgbClr val="F7F6F3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352F"/>
                          </a:solidFill>
                          <a:latin typeface="Noto Sans KR"/>
                        </a:rPr>
                        <a:t>가중치</a:t>
                      </a:r>
                    </a:p>
                  </a:txBody>
                  <a:tcPr marT="36576" marB="36576" marL="73152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7352F"/>
                          </a:solidFill>
                          <a:latin typeface="Noto Sans KR"/>
                        </a:rPr>
                        <a:t>수동 7 피처</a:t>
                      </a:r>
                    </a:p>
                  </a:txBody>
                  <a:tcPr marT="36576" marB="36576" marL="73152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7352F"/>
                          </a:solidFill>
                          <a:latin typeface="Noto Sans KR"/>
                        </a:rPr>
                        <a:t>Bayesian Opt 자동 튜닝 (실측 18개 라벨, NEW)</a:t>
                      </a:r>
                    </a:p>
                  </a:txBody>
                  <a:tcPr marT="36576" marB="36576" marL="73152"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352F"/>
                          </a:solidFill>
                          <a:latin typeface="Noto Sans KR"/>
                        </a:rPr>
                        <a:t>정책 의사결정</a:t>
                      </a:r>
                    </a:p>
                  </a:txBody>
                  <a:tcPr marT="36576" marB="36576" marL="73152"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7352F"/>
                          </a:solidFill>
                          <a:latin typeface="Noto Sans KR"/>
                        </a:rPr>
                        <a:t>TOP10 정렬만</a:t>
                      </a:r>
                    </a:p>
                  </a:txBody>
                  <a:tcPr marT="36576" marB="36576" marL="73152"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7352F"/>
                          </a:solidFill>
                          <a:latin typeface="Noto Sans KR"/>
                        </a:rPr>
                        <a:t>예산 + 200m 분산 → 배낭 최적화</a:t>
                      </a:r>
                    </a:p>
                  </a:txBody>
                  <a:tcPr marT="36576" marB="36576" marL="73152">
                    <a:solidFill>
                      <a:srgbClr val="F7F6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" y="4617720"/>
            <a:ext cx="79095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1">
                <a:solidFill>
                  <a:srgbClr val="2383E2"/>
                </a:solidFill>
                <a:latin typeface="Noto Sans KR"/>
              </a:rPr>
              <a:t>→ 데이터 품질·시뮬레이션 정확도·정책 의사결정 3개 차원 동시 강화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4855464"/>
            <a:ext cx="790956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9B9A97"/>
                </a:solidFill>
                <a:latin typeface="Noto Sans KR"/>
              </a:rPr>
              <a:t>동작구 그늘막 입지 분석 · 데이터기반 도시설계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4855464"/>
            <a:ext cx="68580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900" b="0">
                <a:solidFill>
                  <a:srgbClr val="9B9A97"/>
                </a:solidFill>
                <a:latin typeface="Noto Sans K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790956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787774"/>
                </a:solidFill>
                <a:latin typeface="Noto Sans KR"/>
              </a:rPr>
              <a:t>입력 데이터 ·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79095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000" b="1">
                <a:solidFill>
                  <a:srgbClr val="37352F"/>
                </a:solidFill>
                <a:latin typeface="Noto Sans KR"/>
              </a:rPr>
              <a:t>9종 데이터를 7 피처로 통합 가중합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7909560" cy="952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25880"/>
            <a:ext cx="41148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2383E2"/>
                </a:solidFill>
                <a:latin typeface="Noto Sans KR"/>
              </a:rPr>
              <a:t>데이터 9종 (3 계층)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411480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기본 5종: 생활인구 / LST / 취약계층 / 기존그늘막 / 인도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CV 2종: V-World 항공 → SAM 건물 30동 (CV-A)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         Mapillary 거리뷰 1,302장 (CV-B)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외부 정밀 2종: NGII 흑석동 (DSM/DEM/건물 3,775동)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              OSMnx 도로망·교차로·횡단보도 306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325880"/>
            <a:ext cx="3685032" cy="1463040"/>
          </a:xfrm>
          <a:prstGeom prst="roundRect">
            <a:avLst>
              <a:gd name="adj" fmla="val 8000"/>
            </a:avLst>
          </a:prstGeom>
          <a:solidFill>
            <a:srgbClr val="37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417320"/>
            <a:ext cx="35204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1">
                <a:solidFill>
                  <a:srgbClr val="FFEE58"/>
                </a:solidFill>
                <a:latin typeface="Consolas"/>
              </a:rPr>
              <a:t>Score = Σ wᵢ × MinMax(Featureᵢ)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691640"/>
            <a:ext cx="35204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onsolas"/>
              </a:rPr>
              <a:t>0.18·pop + 0.18·lst + 0.18·vuln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920240"/>
            <a:ext cx="35204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onsolas"/>
              </a:rPr>
              <a:t>− 0.15·shade − 0.05·natural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148840"/>
            <a:ext cx="35204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onsolas"/>
              </a:rPr>
              <a:t>+ 0.12·sv_deficit + 0.20·intersection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423160"/>
            <a:ext cx="35204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800" b="0">
                <a:solidFill>
                  <a:srgbClr val="CB7B26"/>
                </a:solidFill>
                <a:latin typeface="Noto Sans KR"/>
              </a:rPr>
              <a:t>(p23: 학습 가중치는 자동 튜닝 — Bayesian Opt)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977639"/>
            <a:ext cx="790956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동작구 100m 격자 3,672 cells (EPSG:5179) · 보행로 + 건물 + 결집지 4단계 필터 → 330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시나리오 6 (기본·고령자·폭염·유동인구·보행환경·교차로) → 강건 입지 식별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855464"/>
            <a:ext cx="790956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9B9A97"/>
                </a:solidFill>
                <a:latin typeface="Noto Sans KR"/>
              </a:rPr>
              <a:t>동작구 그늘막 입지 분석 · 데이터기반 도시설계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4855464"/>
            <a:ext cx="68580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900" b="0">
                <a:solidFill>
                  <a:srgbClr val="9B9A97"/>
                </a:solidFill>
                <a:latin typeface="Noto Sans K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790956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787774"/>
                </a:solidFill>
                <a:latin typeface="Noto Sans KR"/>
              </a:rPr>
              <a:t>공간 필터링 + 컴퓨터비전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79095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000" b="1">
                <a:solidFill>
                  <a:srgbClr val="37352F"/>
                </a:solidFill>
                <a:latin typeface="Noto Sans KR"/>
              </a:rPr>
              <a:t>차도·건물·녹지 추천 방지 + 항공·거리뷰 통합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7909560" cy="952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325880"/>
            <a:ext cx="1600200" cy="1005840"/>
          </a:xfrm>
          <a:prstGeom prst="roundRect">
            <a:avLst>
              <a:gd name="adj" fmla="val 8000"/>
            </a:avLst>
          </a:prstGeom>
          <a:solidFill>
            <a:srgbClr val="787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KR"/>
              </a:rPr>
              <a:t>3,672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전체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67712" y="1325880"/>
            <a:ext cx="1600200" cy="1005840"/>
          </a:xfrm>
          <a:prstGeom prst="roundRect">
            <a:avLst>
              <a:gd name="adj" fmla="val 8000"/>
            </a:avLst>
          </a:prstGeom>
          <a:solidFill>
            <a:srgbClr val="CB7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KR"/>
              </a:rPr>
              <a:t>449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보행로 5m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13632" y="1325880"/>
            <a:ext cx="1600200" cy="1005840"/>
          </a:xfrm>
          <a:prstGeom prst="roundRect">
            <a:avLst>
              <a:gd name="adj" fmla="val 8000"/>
            </a:avLst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KR"/>
              </a:rPr>
              <a:t>434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건물 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59552" y="1325880"/>
            <a:ext cx="1600200" cy="1005840"/>
          </a:xfrm>
          <a:prstGeom prst="roundRect">
            <a:avLst>
              <a:gd name="adj" fmla="val 8000"/>
            </a:avLst>
          </a:prstGeom>
          <a:solidFill>
            <a:srgbClr val="0F7B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KR"/>
              </a:rPr>
              <a:t>330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결집지 50m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5472" y="1325880"/>
            <a:ext cx="1600200" cy="1005840"/>
          </a:xfrm>
          <a:prstGeom prst="roundRect">
            <a:avLst>
              <a:gd name="adj" fmla="val 8000"/>
            </a:avLst>
          </a:prstGeom>
          <a:solidFill>
            <a:srgbClr val="238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KR"/>
              </a:rPr>
              <a:t>10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606040"/>
            <a:ext cx="3886200" cy="219456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9525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97480"/>
            <a:ext cx="3657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2383E2"/>
                </a:solidFill>
                <a:latin typeface="Noto Sans KR"/>
              </a:rPr>
              <a:t>CV-A · 항공 + Mobile-SAM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36576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V-World WMTS z=15 · 48 타일 합성 (2048×1536)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Mobile-SAM zero-shot (Meta 2023, 40MB CPU)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면적·종횡비·밝기 필터 → 건물 30동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흑석동에선 NGII 3,775동이 자동 union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5152" y="2606040"/>
            <a:ext cx="3886200" cy="219456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9525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697480"/>
            <a:ext cx="3657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2383E2"/>
                </a:solidFill>
                <a:latin typeface="Noto Sans KR"/>
              </a:rPr>
              <a:t>CV-B · 거리뷰 + SegFormer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971800"/>
            <a:ext cx="36576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Mapillary 동작구 BBOX 4×4 → 1,302장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SegFormer-b0 (CityScapes 19 classes pretrained)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deficit = (도로+보도) × (1 − 건물 − 식생)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TOP10 평균 deficit 0.153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855464"/>
            <a:ext cx="790956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9B9A97"/>
                </a:solidFill>
                <a:latin typeface="Noto Sans KR"/>
              </a:rPr>
              <a:t>동작구 그늘막 입지 분석 · 데이터기반 도시설계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4855464"/>
            <a:ext cx="68580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900" b="0">
                <a:solidFill>
                  <a:srgbClr val="9B9A97"/>
                </a:solidFill>
                <a:latin typeface="Noto Sans K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790956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787774"/>
                </a:solidFill>
                <a:latin typeface="Noto Sans KR"/>
              </a:rPr>
              <a:t>CV-DSM · Self-consistency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79095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000" b="1">
                <a:solidFill>
                  <a:srgbClr val="37352F"/>
                </a:solidFill>
                <a:latin typeface="Noto Sans KR"/>
              </a:rPr>
              <a:t>DSM 4시점 ray-cast + ±변동 5회 신뢰구간 (강의 13p + 40p 동시 반영)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7909560" cy="952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25880"/>
            <a:ext cx="45720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강의 13p 추천 Deep Umbra (GAN) → DSM ray-cast 로 단순 이식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흑석동 DSM(표면) − DEM(지표) = nDSM (객체 순높이)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9시점 (09~17시 1시간 간격) shadow union → 누적 그림자 비율  (NEW: 4→9 확장)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309 격자 평균 누적 그림자 0.148 → natural 피처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시간 누적 정밀도 ↑ → 시나리오 간 분산 ↑ → 강건 입지 검증 더 엄격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325880"/>
            <a:ext cx="3319272" cy="320040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15875">
            <a:solidFill>
              <a:srgbClr val="238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49240" y="1417320"/>
            <a:ext cx="31089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2383E2"/>
                </a:solidFill>
                <a:latin typeface="Noto Sans KR"/>
              </a:rPr>
              <a:t>Self-consistency 5회 (NEW)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691640"/>
            <a:ext cx="31089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787774"/>
                </a:solidFill>
                <a:latin typeface="Noto Sans KR"/>
              </a:rPr>
              <a:t>강의 40p 권장 — 5회 반복 평균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965960"/>
            <a:ext cx="3108960" cy="2560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태양 위치 ±15분 시각, ±5° 방위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→ 5회 ray-cast 결과 평균 + std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신뢰구간 [mean−2σ, mean+2σ] 산출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안정적 격자 vs 변동 큰 격자 구분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평균 std 0.021 (낮음 = 안정적)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흑석동 309 격자에 적용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46120"/>
            <a:ext cx="4572000" cy="1463040"/>
          </a:xfrm>
          <a:prstGeom prst="roundRect">
            <a:avLst>
              <a:gd name="adj" fmla="val 8000"/>
            </a:avLst>
          </a:prstGeom>
          <a:solidFill>
            <a:srgbClr val="F0F8FF"/>
          </a:solidFill>
          <a:ln w="9525">
            <a:solidFill>
              <a:srgbClr val="238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42062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1">
                <a:solidFill>
                  <a:srgbClr val="2383E2"/>
                </a:solidFill>
                <a:latin typeface="Noto Sans KR"/>
              </a:rPr>
              <a:t>📁 산출물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11880"/>
            <a:ext cx="420624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heukseok_shadow_accum.tif (누적 그림자 래스터)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grid_heukseok_consistency.csv (격자별 mean/std/ci95)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흑석동 focus map v8 — 그림자 std 레이어 토글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855464"/>
            <a:ext cx="790956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9B9A97"/>
                </a:solidFill>
                <a:latin typeface="Noto Sans KR"/>
              </a:rPr>
              <a:t>동작구 그늘막 입지 분석 · 데이터기반 도시설계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4855464"/>
            <a:ext cx="68580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900" b="0">
                <a:solidFill>
                  <a:srgbClr val="9B9A97"/>
                </a:solidFill>
                <a:latin typeface="Noto Sans K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790956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787774"/>
                </a:solidFill>
                <a:latin typeface="Noto Sans KR"/>
              </a:rPr>
              <a:t>흑석동 정밀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79095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000" b="1">
                <a:solidFill>
                  <a:srgbClr val="37352F"/>
                </a:solidFill>
                <a:latin typeface="Noto Sans KR"/>
              </a:rPr>
              <a:t>NGII 실측 건물 3,775동 + 실측 그늘막 18개 + 신규 추천 TOP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7909560" cy="952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" y="1325880"/>
          <a:ext cx="4023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868680"/>
                <a:gridCol w="1051560"/>
                <a:gridCol w="1417320"/>
              </a:tblGrid>
              <a:tr h="29094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Rank</a:t>
                      </a:r>
                    </a:p>
                  </a:txBody>
                  <a:tcPr marT="18288" marB="18288" marL="45720">
                    <a:solidFill>
                      <a:srgbClr val="3735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score</a:t>
                      </a:r>
                    </a:p>
                  </a:txBody>
                  <a:tcPr marT="18288" marB="18288" marL="45720">
                    <a:solidFill>
                      <a:srgbClr val="3735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기존그늘막</a:t>
                      </a:r>
                    </a:p>
                  </a:txBody>
                  <a:tcPr marT="18288" marB="18288" marL="45720">
                    <a:solidFill>
                      <a:srgbClr val="3735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분류</a:t>
                      </a:r>
                    </a:p>
                  </a:txBody>
                  <a:tcPr marT="18288" marB="18288" marL="45720">
                    <a:solidFill>
                      <a:srgbClr val="37352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TOP1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+0.276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45.7m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● 보강</a:t>
                      </a:r>
                    </a:p>
                  </a:txBody>
                  <a:tcPr marT="18288" marB="18288" marL="45720"/>
                </a:tc>
              </a:tr>
              <a:tr h="29094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TOP2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+0.231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44.4m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● 보강</a:t>
                      </a:r>
                    </a:p>
                  </a:txBody>
                  <a:tcPr marT="18288" marB="18288" marL="45720"/>
                </a:tc>
              </a:tr>
              <a:tr h="29094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TOP3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+0.134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322.9m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E03E3E"/>
                          </a:solidFill>
                          <a:latin typeface="Noto Sans KR"/>
                        </a:rPr>
                        <a:t>⭐ 사각지대</a:t>
                      </a:r>
                    </a:p>
                  </a:txBody>
                  <a:tcPr marT="18288" marB="18288" marL="45720">
                    <a:solidFill>
                      <a:srgbClr val="FFF4E5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TOP4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+0.107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359.6m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E03E3E"/>
                          </a:solidFill>
                          <a:latin typeface="Noto Sans KR"/>
                        </a:rPr>
                        <a:t>⭐ 사각지대 (최대)</a:t>
                      </a:r>
                    </a:p>
                  </a:txBody>
                  <a:tcPr marT="18288" marB="18288" marL="45720">
                    <a:solidFill>
                      <a:srgbClr val="FFF4E5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TOP5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+0.100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234.8m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E03E3E"/>
                          </a:solidFill>
                          <a:latin typeface="Noto Sans KR"/>
                        </a:rPr>
                        <a:t>⭐ 사각지대</a:t>
                      </a:r>
                    </a:p>
                  </a:txBody>
                  <a:tcPr marT="18288" marB="18288" marL="45720">
                    <a:solidFill>
                      <a:srgbClr val="FFF4E5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TOP6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+0.072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98.5m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○ 중간</a:t>
                      </a:r>
                    </a:p>
                  </a:txBody>
                  <a:tcPr marT="18288" marB="18288" marL="45720"/>
                </a:tc>
              </a:tr>
              <a:tr h="29094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TOP7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+0.068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51.0m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● 보강</a:t>
                      </a:r>
                    </a:p>
                  </a:txBody>
                  <a:tcPr marT="18288" marB="18288" marL="45720"/>
                </a:tc>
              </a:tr>
              <a:tr h="29094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TOP8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+0.057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153.8m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E03E3E"/>
                          </a:solidFill>
                          <a:latin typeface="Noto Sans KR"/>
                        </a:rPr>
                        <a:t>⭐ 사각지대</a:t>
                      </a:r>
                    </a:p>
                  </a:txBody>
                  <a:tcPr marT="18288" marB="18288" marL="45720">
                    <a:solidFill>
                      <a:srgbClr val="FFF4E5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TOP9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+0.016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70.0m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○ 중간</a:t>
                      </a:r>
                    </a:p>
                  </a:txBody>
                  <a:tcPr marT="18288" marB="18288" marL="45720"/>
                </a:tc>
              </a:tr>
              <a:tr h="29095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TOP10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−0.008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29.2m</a:t>
                      </a:r>
                    </a:p>
                  </a:txBody>
                  <a:tcPr marT="18288" marB="18288" marL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● 보강</a:t>
                      </a:r>
                    </a:p>
                  </a:txBody>
                  <a:tcPr marT="18288" marB="18288" marL="45720"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97680" y="1325880"/>
            <a:ext cx="4233672" cy="182880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5875">
            <a:solidFill>
              <a:srgbClr val="CB7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17320"/>
            <a:ext cx="40233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CB7B26"/>
                </a:solidFill>
                <a:latin typeface="Noto Sans KR"/>
              </a:rPr>
              <a:t>⭐ 사각지대 4곳 — 정책 어필 1순위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691640"/>
            <a:ext cx="402336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TOP4 (37.49786, 126.96129) — 최대 359.6m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TOP3 (37.49874, 126.95789) — 322.9m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TOP5 (37.51138, 126.96120) — 234.8m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TOP8 (37.50328, 126.96465) — 153.8m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291840"/>
            <a:ext cx="4233672" cy="137160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9525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3383280"/>
            <a:ext cx="40233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2383E2"/>
                </a:solidFill>
                <a:latin typeface="Noto Sans KR"/>
              </a:rPr>
              <a:t>흑석동 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657600"/>
            <a:ext cx="402336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실측 그늘막 18개 (고정형 13 + 스마트형 5)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NGII 건물 3,775동 (층수·HEGT) + DSM 4시점 누적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그늘막 75% 영역 커버 → 정책: 다른 동 우선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55464"/>
            <a:ext cx="790956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9B9A97"/>
                </a:solidFill>
                <a:latin typeface="Noto Sans KR"/>
              </a:rPr>
              <a:t>동작구 그늘막 입지 분석 · 데이터기반 도시설계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4855464"/>
            <a:ext cx="68580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900" b="0">
                <a:solidFill>
                  <a:srgbClr val="9B9A97"/>
                </a:solidFill>
                <a:latin typeface="Noto Sans K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790956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787774"/>
                </a:solidFill>
                <a:latin typeface="Noto Sans KR"/>
              </a:rPr>
              <a:t>가중치 자동 튜닝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79095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000" b="1">
                <a:solidFill>
                  <a:srgbClr val="37352F"/>
                </a:solidFill>
                <a:latin typeface="Noto Sans KR"/>
              </a:rPr>
              <a:t>Bayesian Optimization (n=60) + 실측 그늘막 18개 역-라벨 학습 (NEW)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7909560" cy="952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325880"/>
            <a:ext cx="7909560" cy="685800"/>
          </a:xfrm>
          <a:prstGeom prst="roundRect">
            <a:avLst>
              <a:gd name="adj" fmla="val 8000"/>
            </a:avLst>
          </a:prstGeom>
          <a:solidFill>
            <a:srgbClr val="F0F8FF"/>
          </a:solidFill>
          <a:ln w="9525">
            <a:solidFill>
              <a:srgbClr val="238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75895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1">
                <a:solidFill>
                  <a:srgbClr val="2383E2"/>
                </a:solidFill>
                <a:latin typeface="Noto Sans KR"/>
              </a:rPr>
              <a:t>가설: 이미 그늘막이 설치된 위치는 score 가 낮아야 한다 (이미 충분히 커버됨)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75895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37352F"/>
                </a:solidFill>
                <a:latin typeface="Consolas"/>
              </a:rPr>
              <a:t>→ loss = mean( score(실측 그늘막 18개 근접 격자) )  — minimize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" y="2148840"/>
          <a:ext cx="79095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1691640"/>
                <a:gridCol w="2468880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피처</a:t>
                      </a:r>
                    </a:p>
                  </a:txBody>
                  <a:tcPr marT="18288" marB="18288" marL="54864">
                    <a:solidFill>
                      <a:srgbClr val="3735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수동 (직관)</a:t>
                      </a:r>
                    </a:p>
                  </a:txBody>
                  <a:tcPr marT="18288" marB="18288" marL="54864">
                    <a:solidFill>
                      <a:srgbClr val="3735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학습 (BayesOpt)</a:t>
                      </a:r>
                    </a:p>
                  </a:txBody>
                  <a:tcPr marT="18288" marB="18288" marL="54864">
                    <a:solidFill>
                      <a:srgbClr val="3735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변화</a:t>
                      </a:r>
                    </a:p>
                  </a:txBody>
                  <a:tcPr marT="18288" marB="18288" marL="54864">
                    <a:solidFill>
                      <a:srgbClr val="37352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7352F"/>
                          </a:solidFill>
                          <a:latin typeface="Noto Sans KR"/>
                        </a:rPr>
                        <a:t>popdens</a:t>
                      </a:r>
                    </a:p>
                  </a:txBody>
                  <a:tcPr marT="18288" marB="18288" marL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Consolas"/>
                        </a:rPr>
                        <a:t>+0.180</a:t>
                      </a:r>
                    </a:p>
                  </a:txBody>
                  <a:tcPr marT="18288" marB="18288" marL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Consolas"/>
                        </a:rPr>
                        <a:t>+0.260</a:t>
                      </a:r>
                    </a:p>
                  </a:txBody>
                  <a:tcPr marT="18288" marB="18288" marL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↑ 강조</a:t>
                      </a:r>
                    </a:p>
                  </a:txBody>
                  <a:tcPr marT="18288" marB="18288" marL="54864"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7352F"/>
                          </a:solidFill>
                          <a:latin typeface="Noto Sans KR"/>
                        </a:rPr>
                        <a:t>lst</a:t>
                      </a:r>
                    </a:p>
                  </a:txBody>
                  <a:tcPr marT="18288" marB="18288" marL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Consolas"/>
                        </a:rPr>
                        <a:t>+0.180</a:t>
                      </a:r>
                    </a:p>
                  </a:txBody>
                  <a:tcPr marT="18288" marB="18288" marL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Consolas"/>
                        </a:rPr>
                        <a:t>+0.318</a:t>
                      </a:r>
                    </a:p>
                  </a:txBody>
                  <a:tcPr marT="18288" marB="18288" marL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E03E3E"/>
                          </a:solidFill>
                          <a:latin typeface="Noto Sans KR"/>
                        </a:rPr>
                        <a:t>↑↑ 폭염 우선</a:t>
                      </a:r>
                    </a:p>
                  </a:txBody>
                  <a:tcPr marT="18288" marB="18288" marL="54864">
                    <a:solidFill>
                      <a:srgbClr val="FFF4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7352F"/>
                          </a:solidFill>
                          <a:latin typeface="Noto Sans KR"/>
                        </a:rPr>
                        <a:t>vuln</a:t>
                      </a:r>
                    </a:p>
                  </a:txBody>
                  <a:tcPr marT="18288" marB="18288" marL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Consolas"/>
                        </a:rPr>
                        <a:t>+0.180</a:t>
                      </a:r>
                    </a:p>
                  </a:txBody>
                  <a:tcPr marT="18288" marB="18288" marL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Consolas"/>
                        </a:rPr>
                        <a:t>+0.061</a:t>
                      </a:r>
                    </a:p>
                  </a:txBody>
                  <a:tcPr marT="18288" marB="18288" marL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↓ 약화</a:t>
                      </a:r>
                    </a:p>
                  </a:txBody>
                  <a:tcPr marT="18288" marB="18288" marL="54864"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7352F"/>
                          </a:solidFill>
                          <a:latin typeface="Noto Sans KR"/>
                        </a:rPr>
                        <a:t>shade (페널티)</a:t>
                      </a:r>
                    </a:p>
                  </a:txBody>
                  <a:tcPr marT="18288" marB="18288" marL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Consolas"/>
                        </a:rPr>
                        <a:t>−0.150</a:t>
                      </a:r>
                    </a:p>
                  </a:txBody>
                  <a:tcPr marT="18288" marB="18288" marL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Consolas"/>
                        </a:rPr>
                        <a:t>−0.295</a:t>
                      </a:r>
                    </a:p>
                  </a:txBody>
                  <a:tcPr marT="18288" marB="18288" marL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E03E3E"/>
                          </a:solidFill>
                          <a:latin typeface="Noto Sans KR"/>
                        </a:rPr>
                        <a:t>↑↑ 강화 (가설 부합)</a:t>
                      </a:r>
                    </a:p>
                  </a:txBody>
                  <a:tcPr marT="18288" marB="18288" marL="54864">
                    <a:solidFill>
                      <a:srgbClr val="FFF4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7352F"/>
                          </a:solidFill>
                          <a:latin typeface="Noto Sans KR"/>
                        </a:rPr>
                        <a:t>natural (페널티)</a:t>
                      </a:r>
                    </a:p>
                  </a:txBody>
                  <a:tcPr marT="18288" marB="18288" marL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Consolas"/>
                        </a:rPr>
                        <a:t>−0.050</a:t>
                      </a:r>
                    </a:p>
                  </a:txBody>
                  <a:tcPr marT="18288" marB="18288" marL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Consolas"/>
                        </a:rPr>
                        <a:t>−0.178</a:t>
                      </a:r>
                    </a:p>
                  </a:txBody>
                  <a:tcPr marT="18288" marB="18288" marL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E03E3E"/>
                          </a:solidFill>
                          <a:latin typeface="Noto Sans KR"/>
                        </a:rPr>
                        <a:t>↑↑ 강화 (가설 부합)</a:t>
                      </a:r>
                    </a:p>
                  </a:txBody>
                  <a:tcPr marT="18288" marB="18288" marL="54864">
                    <a:solidFill>
                      <a:srgbClr val="FFF4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7352F"/>
                          </a:solidFill>
                          <a:latin typeface="Noto Sans KR"/>
                        </a:rPr>
                        <a:t>streetview_deficit</a:t>
                      </a:r>
                    </a:p>
                  </a:txBody>
                  <a:tcPr marT="18288" marB="18288" marL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Consolas"/>
                        </a:rPr>
                        <a:t>+0.120</a:t>
                      </a:r>
                    </a:p>
                  </a:txBody>
                  <a:tcPr marT="18288" marB="18288" marL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Consolas"/>
                        </a:rPr>
                        <a:t>+0.000</a:t>
                      </a:r>
                    </a:p>
                  </a:txBody>
                  <a:tcPr marT="18288" marB="18288" marL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↓ 무력화</a:t>
                      </a:r>
                    </a:p>
                  </a:txBody>
                  <a:tcPr marT="18288" marB="18288" marL="54864"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7352F"/>
                          </a:solidFill>
                          <a:latin typeface="Noto Sans KR"/>
                        </a:rPr>
                        <a:t>intersection_density</a:t>
                      </a:r>
                    </a:p>
                  </a:txBody>
                  <a:tcPr marT="18288" marB="18288" marL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Consolas"/>
                        </a:rPr>
                        <a:t>+0.200</a:t>
                      </a:r>
                    </a:p>
                  </a:txBody>
                  <a:tcPr marT="18288" marB="18288" marL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Consolas"/>
                        </a:rPr>
                        <a:t>+0.255</a:t>
                      </a:r>
                    </a:p>
                  </a:txBody>
                  <a:tcPr marT="18288" marB="18288" marL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↑ 강조</a:t>
                      </a:r>
                    </a:p>
                  </a:txBody>
                  <a:tcPr marT="18288" marB="18288" marL="54864"/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1792" y="4434840"/>
            <a:ext cx="7909560" cy="411480"/>
          </a:xfrm>
          <a:prstGeom prst="roundRect">
            <a:avLst>
              <a:gd name="adj" fmla="val 8000"/>
            </a:avLst>
          </a:prstGeom>
          <a:solidFill>
            <a:srgbClr val="37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498848"/>
            <a:ext cx="75895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1">
                <a:solidFill>
                  <a:srgbClr val="FFEE58"/>
                </a:solidFill>
                <a:latin typeface="Noto Sans KR"/>
              </a:rPr>
              <a:t>검증: 실측 위치 평균 score   0.087 (수동) → −0.122 (학습)   Δ −0.21 — 학습이 실측 위치를 덜 추천 = 가설 부합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855464"/>
            <a:ext cx="790956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9B9A97"/>
                </a:solidFill>
                <a:latin typeface="Noto Sans KR"/>
              </a:rPr>
              <a:t>동작구 그늘막 입지 분석 · 데이터기반 도시설계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4855464"/>
            <a:ext cx="68580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900" b="0">
                <a:solidFill>
                  <a:srgbClr val="9B9A97"/>
                </a:solidFill>
                <a:latin typeface="Noto Sans K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790956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787774"/>
                </a:solidFill>
                <a:latin typeface="Noto Sans KR"/>
              </a:rPr>
              <a:t>OSMnx · 시나리오 · 강건 입지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79095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000" b="1">
                <a:solidFill>
                  <a:srgbClr val="37352F"/>
                </a:solidFill>
                <a:latin typeface="Noto Sans KR"/>
              </a:rPr>
              <a:t>도로망·교차로·횡단보도 통합 + 6 정책 시나리오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7909560" cy="952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325880"/>
            <a:ext cx="3840480" cy="164592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9525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3657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2383E2"/>
                </a:solidFill>
                <a:latin typeface="Noto Sans KR"/>
              </a:rPr>
              <a:t>OSMnx (보행자 결집 지점)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365760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walkable highway edges — 보행로 5m 필터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교차로 노드 (street_count ≥ 3)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횡단보도 306 (highway/footway/crossing 3종 통합)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결집지 union → 80m 내 개수 (피처) + 50m 근접 (필터)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30952" y="1325880"/>
          <a:ext cx="3657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685800"/>
                <a:gridCol w="685800"/>
              </a:tblGrid>
              <a:tr h="2351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</a:rPr>
                        <a:t>시나리오</a:t>
                      </a:r>
                    </a:p>
                  </a:txBody>
                  <a:tcPr marT="18288" marB="18288" marL="36576">
                    <a:solidFill>
                      <a:srgbClr val="3735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</a:rPr>
                        <a:t>강조</a:t>
                      </a:r>
                    </a:p>
                  </a:txBody>
                  <a:tcPr marT="18288" marB="18288" marL="36576">
                    <a:solidFill>
                      <a:srgbClr val="3735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</a:rPr>
                        <a:t>최고</a:t>
                      </a:r>
                    </a:p>
                  </a:txBody>
                  <a:tcPr marT="18288" marB="18288" marL="36576">
                    <a:solidFill>
                      <a:srgbClr val="3735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</a:rPr>
                        <a:t>유니크</a:t>
                      </a:r>
                    </a:p>
                  </a:txBody>
                  <a:tcPr marT="18288" marB="18288" marL="36576">
                    <a:solidFill>
                      <a:srgbClr val="37352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7352F"/>
                          </a:solidFill>
                          <a:latin typeface="Noto Sans KR"/>
                        </a:rPr>
                        <a:t>기본</a:t>
                      </a:r>
                    </a:p>
                  </a:txBody>
                  <a:tcPr marT="18288" marB="18288" marL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균형 18/18/18</a:t>
                      </a:r>
                    </a:p>
                  </a:txBody>
                  <a:tcPr marT="18288" marB="18288" marL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0.551</a:t>
                      </a:r>
                    </a:p>
                  </a:txBody>
                  <a:tcPr marT="18288" marB="18288" marL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0</a:t>
                      </a:r>
                    </a:p>
                  </a:txBody>
                  <a:tcPr marT="18288" marB="18288" marL="36576"/>
                </a:tc>
              </a:tr>
              <a:tr h="2351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7352F"/>
                          </a:solidFill>
                          <a:latin typeface="Noto Sans KR"/>
                        </a:rPr>
                        <a:t>고령자</a:t>
                      </a:r>
                    </a:p>
                  </a:txBody>
                  <a:tcPr marT="18288" marB="18288" marL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vuln 0.38</a:t>
                      </a:r>
                    </a:p>
                  </a:txBody>
                  <a:tcPr marT="18288" marB="18288" marL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0.518</a:t>
                      </a:r>
                    </a:p>
                  </a:txBody>
                  <a:tcPr marT="18288" marB="18288" marL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0</a:t>
                      </a:r>
                    </a:p>
                  </a:txBody>
                  <a:tcPr marT="18288" marB="18288" marL="36576"/>
                </a:tc>
              </a:tr>
              <a:tr h="2351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7352F"/>
                          </a:solidFill>
                          <a:latin typeface="Noto Sans KR"/>
                        </a:rPr>
                        <a:t>폭염</a:t>
                      </a:r>
                    </a:p>
                  </a:txBody>
                  <a:tcPr marT="18288" marB="18288" marL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lst 0.38</a:t>
                      </a:r>
                    </a:p>
                  </a:txBody>
                  <a:tcPr marT="18288" marB="18288" marL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0.607</a:t>
                      </a:r>
                    </a:p>
                  </a:txBody>
                  <a:tcPr marT="18288" marB="18288" marL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1</a:t>
                      </a:r>
                    </a:p>
                  </a:txBody>
                  <a:tcPr marT="18288" marB="18288" marL="36576"/>
                </a:tc>
              </a:tr>
              <a:tr h="2351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7352F"/>
                          </a:solidFill>
                          <a:latin typeface="Noto Sans KR"/>
                        </a:rPr>
                        <a:t>유동인구</a:t>
                      </a:r>
                    </a:p>
                  </a:txBody>
                  <a:tcPr marT="18288" marB="18288" marL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pop 0.38</a:t>
                      </a:r>
                    </a:p>
                  </a:txBody>
                  <a:tcPr marT="18288" marB="18288" marL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0.648</a:t>
                      </a:r>
                    </a:p>
                  </a:txBody>
                  <a:tcPr marT="18288" marB="18288" marL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3</a:t>
                      </a:r>
                    </a:p>
                  </a:txBody>
                  <a:tcPr marT="18288" marB="18288" marL="36576"/>
                </a:tc>
              </a:tr>
              <a:tr h="2351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7352F"/>
                          </a:solidFill>
                          <a:latin typeface="Noto Sans KR"/>
                        </a:rPr>
                        <a:t>보행환경</a:t>
                      </a:r>
                    </a:p>
                  </a:txBody>
                  <a:tcPr marT="18288" marB="18288" marL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sv_deficit 0.32</a:t>
                      </a:r>
                    </a:p>
                  </a:txBody>
                  <a:tcPr marT="18288" marB="18288" marL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0.589</a:t>
                      </a:r>
                    </a:p>
                  </a:txBody>
                  <a:tcPr marT="18288" marB="18288" marL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0</a:t>
                      </a:r>
                    </a:p>
                  </a:txBody>
                  <a:tcPr marT="18288" marB="18288" marL="36576"/>
                </a:tc>
              </a:tr>
              <a:tr h="235134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7352F"/>
                          </a:solidFill>
                          <a:latin typeface="Noto Sans KR"/>
                        </a:rPr>
                        <a:t>교차로</a:t>
                      </a:r>
                    </a:p>
                  </a:txBody>
                  <a:tcPr marT="18288" marB="18288" marL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intersection 0.40</a:t>
                      </a:r>
                    </a:p>
                  </a:txBody>
                  <a:tcPr marT="18288" marB="18288" marL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0.474</a:t>
                      </a:r>
                    </a:p>
                  </a:txBody>
                  <a:tcPr marT="18288" marB="18288" marL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7352F"/>
                          </a:solidFill>
                          <a:latin typeface="Noto Sans KR"/>
                        </a:rPr>
                        <a:t>0</a:t>
                      </a:r>
                    </a:p>
                  </a:txBody>
                  <a:tcPr marT="18288" marB="18288" marL="36576"/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1792" y="3200400"/>
            <a:ext cx="7909560" cy="1554480"/>
          </a:xfrm>
          <a:prstGeom prst="roundRect">
            <a:avLst>
              <a:gd name="adj" fmla="val 8000"/>
            </a:avLst>
          </a:prstGeom>
          <a:solidFill>
            <a:srgbClr val="FFF0F0"/>
          </a:solidFill>
          <a:ln w="15875">
            <a:solidFill>
              <a:srgbClr val="E0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75895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E03E3E"/>
                </a:solidFill>
                <a:latin typeface="Noto Sans KR"/>
              </a:rPr>
              <a:t>⭐ 강건 입지 — 6 시나리오 모두 공통 추천 (정책 관점 불변)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11880"/>
            <a:ext cx="75895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 b="1">
                <a:solidFill>
                  <a:srgbClr val="37352F"/>
                </a:solidFill>
                <a:latin typeface="Noto Sans KR"/>
              </a:rPr>
              <a:t>#1  37.4907, 126.9647   동작대로 사당-이수 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39"/>
            <a:ext cx="75895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 b="1">
                <a:solidFill>
                  <a:srgbClr val="37352F"/>
                </a:solidFill>
                <a:latin typeface="Noto Sans KR"/>
              </a:rPr>
              <a:t>#2  37.4898, 126.9670   동작대로 사당역 인근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34840"/>
            <a:ext cx="75895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787774"/>
                </a:solidFill>
                <a:latin typeface="Noto Sans KR"/>
              </a:rPr>
              <a:t>→ 예산 제약 시 최우선 설치 대상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855464"/>
            <a:ext cx="790956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9B9A97"/>
                </a:solidFill>
                <a:latin typeface="Noto Sans KR"/>
              </a:rPr>
              <a:t>동작구 그늘막 입지 분석 · 데이터기반 도시설계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4855464"/>
            <a:ext cx="68580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900" b="0">
                <a:solidFill>
                  <a:srgbClr val="9B9A97"/>
                </a:solidFill>
                <a:latin typeface="Noto Sans K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790956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787774"/>
                </a:solidFill>
                <a:latin typeface="Noto Sans KR"/>
              </a:rPr>
              <a:t>사각지대 + 예산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79095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000" b="1">
                <a:solidFill>
                  <a:srgbClr val="37352F"/>
                </a:solidFill>
                <a:latin typeface="Noto Sans KR"/>
              </a:rPr>
              <a:t>흑석동 사각지대 4곳 + 예산 4천만원 배낭 최적 배치 5곳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7909560" cy="952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325880"/>
            <a:ext cx="3840480" cy="246888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5875">
            <a:solidFill>
              <a:srgbClr val="CB7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3657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CB7B26"/>
                </a:solidFill>
                <a:latin typeface="Noto Sans KR"/>
              </a:rPr>
              <a:t>흑석동 사각지대 TOP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3657600" cy="2103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TOP4 (37.49786, 126.96129) — 359.6m  (최대)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TOP3 (37.49874, 126.95789) — 322.9m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TOP5 (37.51138, 126.96120) — 234.8m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TOP8 (37.50328, 126.96465) — 153.8m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기존 그늘막 18개와 비교 — 정책 어필 1순위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325880"/>
            <a:ext cx="3319272" cy="246888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15875">
            <a:solidFill>
              <a:srgbClr val="238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417320"/>
            <a:ext cx="31089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2383E2"/>
                </a:solidFill>
                <a:latin typeface="Noto Sans KR"/>
              </a:rPr>
              <a:t>예산 4천만원 최적 배치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691640"/>
            <a:ext cx="31089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800" b="0">
                <a:solidFill>
                  <a:srgbClr val="787774"/>
                </a:solidFill>
                <a:latin typeface="Noto Sans KR"/>
              </a:rPr>
              <a:t>PuLP 정수 선형계획법 (CBC, Optimal)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965960"/>
            <a:ext cx="310896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단가 800만원/개 → 최대 5개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공간 분산 ≥ 200m (29쌍 제약)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선정 5: 이수역·이수북·사당동·사당남·노량진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총 score 1.852, 예산 100% 사용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931920"/>
            <a:ext cx="7909560" cy="685800"/>
          </a:xfrm>
          <a:prstGeom prst="roundRect">
            <a:avLst>
              <a:gd name="adj" fmla="val 8000"/>
            </a:avLst>
          </a:prstGeom>
          <a:solidFill>
            <a:srgbClr val="37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23360"/>
            <a:ext cx="75895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1">
                <a:solidFill>
                  <a:srgbClr val="FFEE58"/>
                </a:solidFill>
                <a:latin typeface="Noto Sans KR"/>
              </a:rPr>
              <a:t>TOP10 단순 정렬 vs 배낭 최적화 — 200m 분산 제약으로 같은 곳 몰림 방지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97680"/>
            <a:ext cx="75895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Noto Sans KR"/>
              </a:rPr>
              <a:t>→ 노량진역이 자동 포함되며 정책 효용 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855464"/>
            <a:ext cx="790956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9B9A97"/>
                </a:solidFill>
                <a:latin typeface="Noto Sans KR"/>
              </a:rPr>
              <a:t>동작구 그늘막 입지 분석 · 데이터기반 도시설계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4855464"/>
            <a:ext cx="68580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900" b="0">
                <a:solidFill>
                  <a:srgbClr val="9B9A97"/>
                </a:solidFill>
                <a:latin typeface="Noto Sans KR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790956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787774"/>
                </a:solidFill>
                <a:latin typeface="Noto Sans KR"/>
              </a:rPr>
              <a:t>결론 ·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79095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000" b="1">
                <a:solidFill>
                  <a:srgbClr val="37352F"/>
                </a:solidFill>
                <a:latin typeface="Noto Sans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7909560" cy="952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25880"/>
            <a:ext cx="39319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E03E3E"/>
                </a:solidFill>
                <a:latin typeface="Noto Sans KR"/>
              </a:rPr>
              <a:t>현재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393192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5종 기본 데이터 중 4종 더미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LST 래스터 직접 파싱 미연결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SAM 추출 건물 추정 높이 (NGII는 실측)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예산 단가 800만원/개 가정 (실 단가 확보 시 교체)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325880"/>
            <a:ext cx="39319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2383E2"/>
                </a:solidFill>
                <a:latin typeface="Noto Sans KR"/>
              </a:rPr>
              <a:t>다음 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393192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서울 열린데이터 API 연결 (P0)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동작구 전 동 실측 그늘막 (흑석동만 확보)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CV-D 멀티모달 VLM (강의 40~42p Reason-then-Estimate)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타 자치구 확장 (BBOX·NGII 교체)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520440"/>
            <a:ext cx="7909560" cy="1188720"/>
          </a:xfrm>
          <a:prstGeom prst="roundRect">
            <a:avLst>
              <a:gd name="adj" fmla="val 8000"/>
            </a:avLst>
          </a:prstGeom>
          <a:solidFill>
            <a:srgbClr val="37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75895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>
                <a:solidFill>
                  <a:srgbClr val="FFEE58"/>
                </a:solidFill>
                <a:latin typeface="Noto Sans KR"/>
              </a:rPr>
              <a:t>DSM → DEM Converter 의 자산 (DSM·SAM3·GDAL) 을 재활용해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75895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KR"/>
              </a:rPr>
              <a:t>그늘막 입지를 MCDA + CV + Self-consistency + Bayesian Opt + 배낭 최적화로 도출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0"/>
            <a:ext cx="75895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Noto Sans KR"/>
              </a:rPr>
              <a:t>→ 강건 입지 2 + 흑석동 사각지대 4 + 예산 4천만원 최적 배치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855464"/>
            <a:ext cx="790956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9B9A97"/>
                </a:solidFill>
                <a:latin typeface="Noto Sans KR"/>
              </a:rPr>
              <a:t>동작구 그늘막 입지 분석 · 데이터기반 도시설계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4855464"/>
            <a:ext cx="68580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900" b="0">
                <a:solidFill>
                  <a:srgbClr val="9B9A97"/>
                </a:solidFill>
                <a:latin typeface="Noto Sans KR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790956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787774"/>
                </a:solidFill>
                <a:latin typeface="Noto Sans KR"/>
              </a:rPr>
              <a:t>첨부 자료 · 자동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79095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000" b="1">
                <a:solidFill>
                  <a:srgbClr val="37352F"/>
                </a:solidFill>
                <a:latin typeface="Noto Sans KR"/>
              </a:rPr>
              <a:t>인터랙티브 지도 + 한 페이지 통합 보고서 (단일 HTML)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7909560" cy="952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25880"/>
            <a:ext cx="79095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787774"/>
                </a:solidFill>
                <a:latin typeface="Noto Sans KR"/>
              </a:rPr>
              <a:t>본 PPTX 와 함께 동봉되는 두 개의 HTML — 브라우저에서 열어 검토 가능.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91640"/>
            <a:ext cx="3931920" cy="2743200"/>
          </a:xfrm>
          <a:prstGeom prst="roundRect">
            <a:avLst>
              <a:gd name="adj" fmla="val 8000"/>
            </a:avLst>
          </a:prstGeom>
          <a:solidFill>
            <a:srgbClr val="37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657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FFEE58"/>
                </a:solidFill>
                <a:latin typeface="Noto Sans KR"/>
              </a:rPr>
              <a:t>📎 첨부 ① 흑석동 인터랙티브 지도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657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output/heukseok_focus.html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3657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Noto Sans KR"/>
              </a:rPr>
              <a:t>지도 레이어 (토글):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365760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보행 도로 + 교차로 + 횡단보도 (OSMnx)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NGII 건물 3,775동 (층수별 색)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기존 그늘막 18개 (검정/진청 우산)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수동 vs 학습 가중치 TOP10 비교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그림자 표준편차 (Self-consistency)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6592" y="1691640"/>
            <a:ext cx="3794760" cy="274320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15875">
            <a:solidFill>
              <a:srgbClr val="238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1783080"/>
            <a:ext cx="3657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2383E2"/>
                </a:solidFill>
                <a:latin typeface="Noto Sans KR"/>
              </a:rPr>
              <a:t>📎 첨부 ② 자동 실험 보고서 (NEW)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103120"/>
            <a:ext cx="3657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37352F"/>
                </a:solidFill>
                <a:latin typeface="Consolas"/>
              </a:rPr>
              <a:t>output/report.html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423160"/>
            <a:ext cx="3657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787774"/>
                </a:solidFill>
                <a:latin typeface="Noto Sans KR"/>
              </a:rPr>
              <a:t>한 페이지에 모든 산출물 통합: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697480"/>
            <a:ext cx="365760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요약 카드 4종 (강건/시나리오/배낭/산출물)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시나리오 비교 표 + 강건 입지 카드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1차 발표 3대 구역 검증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BayesOpt 학습 가중치 비교표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4개 지도 iframe 임베드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산출물 파일 목록 19종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498848"/>
            <a:ext cx="7909560" cy="457200"/>
          </a:xfrm>
          <a:prstGeom prst="roundRect">
            <a:avLst>
              <a:gd name="adj" fmla="val 8000"/>
            </a:avLst>
          </a:prstGeom>
          <a:solidFill>
            <a:srgbClr val="F0F8FF"/>
          </a:solidFill>
          <a:ln w="9525">
            <a:solidFill>
              <a:srgbClr val="238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572000"/>
            <a:ext cx="75895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1">
                <a:solidFill>
                  <a:srgbClr val="2383E2"/>
                </a:solidFill>
                <a:latin typeface="Noto Sans KR"/>
              </a:rPr>
              <a:t>💡 자동 생성: PYTHONPATH=. python scripts/build_report.py → output/report.html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855464"/>
            <a:ext cx="790956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9B9A97"/>
                </a:solidFill>
                <a:latin typeface="Noto Sans KR"/>
              </a:rPr>
              <a:t>동작구 그늘막 입지 분석 · 데이터기반 도시설계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4855464"/>
            <a:ext cx="68580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900" b="0">
                <a:solidFill>
                  <a:srgbClr val="9B9A97"/>
                </a:solidFill>
                <a:latin typeface="Noto Sans KR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
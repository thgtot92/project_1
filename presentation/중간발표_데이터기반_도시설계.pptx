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[1p · 표지 · 60초]</a:t>
            </a:r>
          </a:p>
          <a:p>
            <a:r>
              <a:t>- 안녕하세요. 중간 발표 시작하겠습니다.</a:t>
            </a:r>
          </a:p>
          <a:p>
            <a:r>
              <a:t>- 데이터기반 도시설계 기말 프로젝트의 진행 상황을 공유드립니다.</a:t>
            </a:r>
          </a:p>
          <a:p>
            <a:r>
              <a:t>- 3인 학제간 팀입니다: GIS 엔지니어 문치국, ML/AI 엔지니어 원우식, 그리고 발표자 한영재.</a:t>
            </a:r>
          </a:p>
          <a:p>
            <a:r>
              <a:t>- 두 개의 트랙(DSM→DEM Converter + 그늘막 입지 분석)을 동시 진행 중이며,</a:t>
            </a:r>
          </a:p>
          <a:p>
            <a:r>
              <a:t>  오늘은 전체 결과보다 진행 과정·역할 분담·향후 계획을 중심으로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[2p · 개요 · 60초]</a:t>
            </a:r>
          </a:p>
          <a:p>
            <a:r>
              <a:t>- 본 프로젝트는 두 개의 트랙으로 진행됩니다.</a:t>
            </a:r>
          </a:p>
          <a:p>
            <a:r>
              <a:t>- 트랙 1: 친구 두 분이 만든 DSM → DEM Converter. 정사영상에서 SAM3 로 객체를 추출하고</a:t>
            </a:r>
          </a:p>
          <a:p>
            <a:r>
              <a:t>  GDAL 로 보간해 순수 지형 모델(DEM)을 생성하는 도구입니다.</a:t>
            </a:r>
          </a:p>
          <a:p>
            <a:r>
              <a:t>- 트랙 2: 제가 담당하는 그늘막 입지 분석. 트랙 1 에서 사용한 DSM 원본을 그대로 재활용해</a:t>
            </a:r>
          </a:p>
          <a:p>
            <a:r>
              <a:t>  동작구 여름 그늘막 최적 입지를 추천합니다.</a:t>
            </a:r>
          </a:p>
          <a:p>
            <a:r>
              <a:t>- 핵심 연결고리: 같은 DSM 자산을 두 도구가 다른 가치로 변환 — 학제간 협업의 핵심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[3p · 팀 구성 · 90초]</a:t>
            </a:r>
          </a:p>
          <a:p>
            <a:r>
              <a:t>- 각자의 전문성을 모듈로 분리해 협업했습니다.</a:t>
            </a:r>
          </a:p>
          <a:p>
            <a:r>
              <a:t>- 문치국: GIS 측량 BIM 엔지니어. NGII 흑석동 DSM·DEM·건물 shp 데이터를 확보하고</a:t>
            </a:r>
          </a:p>
          <a:p>
            <a:r>
              <a:t>  측량 도메인 자문을 담당. 데이터 정합성을 검증해 줍니다.</a:t>
            </a:r>
          </a:p>
          <a:p>
            <a:r>
              <a:t>- 원우식: SOCAR ML/AI Engineer. DSM→DEM Converter 의 실제 개발을 담당.</a:t>
            </a:r>
          </a:p>
          <a:p>
            <a:r>
              <a:t>  SAM3 객체 추출, GDAL 보간, QA 지표 모두 그가 구현했습니다.</a:t>
            </a:r>
          </a:p>
          <a:p>
            <a:r>
              <a:t>- 한영재: 금융 데이터에서 다변수 최적화를 다루던 경험을 도시 공간에 이식.</a:t>
            </a:r>
          </a:p>
          <a:p>
            <a:r>
              <a:t>  그늘막 입지 분석의 전체 시스템 (MCDA + CV + GIS + 자동 튜닝 + 배낭 최적화) 통합.</a:t>
            </a:r>
          </a:p>
          <a:p>
            <a:r>
              <a:t>- 협업 방식: 두 트랙 독립 개발 → 공통 자산(DSM·SAM3 마스크) 공유 → 최종 발표 시 통합.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[4p · 일정 · 60초]</a:t>
            </a:r>
          </a:p>
          <a:p>
            <a:r>
              <a:t>- 4월에 착수 후 역할을 분담했습니다.</a:t>
            </a:r>
          </a:p>
          <a:p>
            <a:r>
              <a:t>- 4~5월 동안 두 트랙 병렬 개발. 트랙 1은 SAM3 통합과 GDAL 보간까지,</a:t>
            </a:r>
          </a:p>
          <a:p>
            <a:r>
              <a:t>  트랙 2는 MCDA Score 식과 CV-A/B 모듈까지 완성.</a:t>
            </a:r>
          </a:p>
          <a:p>
            <a:r>
              <a:t>- 5월 말부터 DSM 자산 공유와 통합 작업을 시작.</a:t>
            </a:r>
          </a:p>
          <a:p>
            <a:r>
              <a:t>- 오늘 6월 4일이 중간 점검 발표.</a:t>
            </a:r>
          </a:p>
          <a:p>
            <a:r>
              <a:t>- 앞으로 약 2주: 6/11 자율학습 주간 동안 보완 작업, 6/18 최종 발표.</a:t>
            </a:r>
          </a:p>
          <a:p>
            <a:r>
              <a:t>- 자율학습 기간에 트랙 1은 SAM3 파인튜닝, 트랙 2는 CV-D 멀티모달 VLM 도입 계획.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[5p · 트랙 1 · 75초]</a:t>
            </a:r>
          </a:p>
          <a:p>
            <a:r>
              <a:t>- DSM→DEM Converter 는 PyQt6 데스크톱 앱으로 완성됐습니다.</a:t>
            </a:r>
          </a:p>
          <a:p>
            <a:r>
              <a:t>- 5단계 파이프라인 모두 구현 완료:</a:t>
            </a:r>
          </a:p>
          <a:p>
            <a:r>
              <a:t>  STEP 1 입력·정합 (raster_io 모듈)</a:t>
            </a:r>
          </a:p>
          <a:p>
            <a:r>
              <a:t>  STEP 2 SAM3 추출 (건물·수목·자동차 마스크 + 신뢰도)</a:t>
            </a:r>
          </a:p>
          <a:p>
            <a:r>
              <a:t>  STEP 3 객체 제거 (마스크 융합)</a:t>
            </a:r>
          </a:p>
          <a:p>
            <a:r>
              <a:t>  STEP 4 GDAL 보간 (탐색 100px + 평활화 0~20 반복)</a:t>
            </a:r>
          </a:p>
          <a:p>
            <a:r>
              <a:t>  STEP 5 QA 평가 + GeoTIFF 저장</a:t>
            </a:r>
          </a:p>
          <a:p>
            <a:r>
              <a:t>- 기술 스택: PyQt6, SAM3, GDAL, rasterio, folium.</a:t>
            </a:r>
          </a:p>
          <a:p>
            <a:r>
              <a:t>- 인터랙티브 지도 (Leafmap + Folium) 와 노션 스타일 UI 까지 완료.</a:t>
            </a:r>
          </a:p>
          <a:p>
            <a:r>
              <a:t>- 남은 작업: 테스트 데이터셋 확장, SAM3 파인튜닝 실험, 최종 데모 시나리오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[6p · 트랙 2 · 75초]</a:t>
            </a:r>
          </a:p>
          <a:p>
            <a:r>
              <a:t>- 그늘막 입지 분석은 12개 모듈로 구성된 7 피처 MCDA 시스템입니다.</a:t>
            </a:r>
          </a:p>
          <a:p>
            <a:r>
              <a:t>- 구현 완료: 격자 3,672 → 4단계 필터 → 330 후보 → 6 시나리오 비교 → 강건 입지.</a:t>
            </a:r>
          </a:p>
          <a:p>
            <a:r>
              <a:t>- CV-A 는 Mobile-SAM 으로 항공사진에서 건물 30동 자동 추출.</a:t>
            </a:r>
          </a:p>
          <a:p>
            <a:r>
              <a:t>- CV-B 는 SegFormer 로 거리뷰 1,302장 분석.</a:t>
            </a:r>
          </a:p>
          <a:p>
            <a:r>
              <a:t>- CV-DSM 은 강의 13p 추천 Deep Umbra 영감으로 4시점 ray-cast.</a:t>
            </a:r>
          </a:p>
          <a:p>
            <a:r>
              <a:t>- Self-consistency 5회 평균 (강의 40p) 으로 결과 안정성 검증.</a:t>
            </a:r>
          </a:p>
          <a:p>
            <a:r>
              <a:t>- Bayesian Optimization 으로 가중치 자동 튜닝.</a:t>
            </a:r>
          </a:p>
          <a:p>
            <a:r>
              <a:t>- PuLP 정수 선형계획법으로 예산 4천만원 배낭 최적화 — 5개 격자 선정.</a:t>
            </a:r>
          </a:p>
          <a:p>
            <a:r>
              <a:t>- 핵심 결과: 강건 입지 2곳, 흑석동 사각지대 4곳 식별, 학습된 shade 페널티 가설 부합.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[7p · 연계 · 75초]</a:t>
            </a:r>
          </a:p>
          <a:p>
            <a:r>
              <a:t>- 두 트랙의 핵심 연결고리는 DSM 원본 자산입니다.</a:t>
            </a:r>
          </a:p>
          <a:p>
            <a:r>
              <a:t>- 트랙 1 에서 만든 자산: SAM3 건물 마스크 (객체 추출), GDAL 보간 알고리즘, DEM (지형 분석용), QA 등급 표준.</a:t>
            </a:r>
          </a:p>
          <a:p>
            <a:r>
              <a:t>- 트랙 2 가 활용: DSM 그대로 ray-cast 그림자 입력으로 사용,</a:t>
            </a:r>
          </a:p>
          <a:p>
            <a:r>
              <a:t>  SAM3 마스크는 CV-A SAM 추출의 검증 자료, GDAL 은 결측치 보완에 응용.</a:t>
            </a:r>
          </a:p>
          <a:p>
            <a:r>
              <a:t>- 단, DEM 은 트랙 2 에서 사용 안 함 — 객체 제거된 지표만 있어 그림자 시뮬레이션이 불가능.</a:t>
            </a:r>
          </a:p>
          <a:p>
            <a:r>
              <a:t>- 교수님이 강의 13p 에 우리 프로젝트 옆에 직접 인용한 Deep Umbra 논문 (GAN 일조 컴퓨테이션) 을</a:t>
            </a:r>
          </a:p>
          <a:p>
            <a:r>
              <a:t>  ray-cast 로 단순 이식한 것이 핵심 학술 정합성 포인트입니다.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[8p · 다음 단계 · 60초]</a:t>
            </a:r>
          </a:p>
          <a:p>
            <a:r>
              <a:t>- 6/4 중간 발표 이후 약 2주 동안 마무리 작업이 남았습니다.</a:t>
            </a:r>
          </a:p>
          <a:p>
            <a:r>
              <a:t>- 트랙 1: 테스트 확장, SAM3 파인튜닝, 데모 시나리오 정리.</a:t>
            </a:r>
          </a:p>
          <a:p>
            <a:r>
              <a:t>- 트랙 2: 서울 열린데이터 API 연결, CV-D 멀티모달 VLM 시도, 발표 슬라이드 정리.</a:t>
            </a:r>
          </a:p>
          <a:p>
            <a:r>
              <a:t>- 통합 마일스톤:</a:t>
            </a:r>
          </a:p>
          <a:p>
            <a:r>
              <a:t>  · 두 트랙 산출물을 한 PPTX 로 통합 (현재 26장 → 정리)</a:t>
            </a:r>
          </a:p>
          <a:p>
            <a:r>
              <a:t>  · 발표 시연: DSM→DEM 라이브 + 그늘막 인터랙티브 지도 시연</a:t>
            </a:r>
          </a:p>
          <a:p>
            <a:r>
              <a:t>  · 스피커 노트와 예상 질문 대비 완료</a:t>
            </a:r>
          </a:p>
          <a:p>
            <a:r>
              <a:t>  · 발표 역할 분담 확정</a:t>
            </a:r>
          </a:p>
          <a:p>
            <a:r>
              <a:t>- 6/18 최종 발표에서 더 완성된 결과로 다시 뵙겠습니다.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>
                <a:solidFill>
                  <a:srgbClr val="787774"/>
                </a:solidFill>
                <a:latin typeface="Noto Sans KR"/>
              </a:rPr>
              <a:t>데이터기반 도시설계 · 중간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8229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37352F"/>
                </a:solidFill>
                <a:latin typeface="Noto Sans KR"/>
              </a:rPr>
              <a:t>DSM → DEM Converter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8229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2383E2"/>
                </a:solidFill>
                <a:latin typeface="Noto Sans KR"/>
              </a:rPr>
              <a:t>&amp; 동작구 여름 그늘막 입지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40280"/>
            <a:ext cx="1828800" cy="3810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468880"/>
            <a:ext cx="7909560" cy="50292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7680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0">
                <a:solidFill>
                  <a:srgbClr val="37352F"/>
                </a:solidFill>
                <a:latin typeface="Noto Sans KR"/>
              </a:rPr>
              <a:t>중간 점검 발표 (2026-06-04) — 진행 상황·역할 분담·향후 계획 공유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2004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18872"/>
          <a:lstStyle/>
          <a:p>
            <a:pPr algn="ctr"/>
            <a:r>
              <a:rPr sz="1400" b="1">
                <a:solidFill>
                  <a:srgbClr val="37352F"/>
                </a:solidFill>
                <a:latin typeface="Noto Sans KR"/>
              </a:rPr>
              <a:t>문치국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2383E2"/>
                </a:solidFill>
                <a:latin typeface="Noto Sans KR"/>
              </a:rPr>
              <a:t>GIS · 측량 · BIM 엔지니어</a:t>
            </a:r>
          </a:p>
          <a:p>
            <a:pPr>
              <a:spcBef>
                <a:spcPts val="500"/>
              </a:spcBef>
            </a:pPr>
            <a:r>
              <a:rPr sz="800" b="0">
                <a:solidFill>
                  <a:srgbClr val="787774"/>
                </a:solidFill>
                <a:latin typeface="Noto Sans KR"/>
              </a:rPr>
              <a:t>NGII 데이터 · DSM/DEM · 측량 도메인 자문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32004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18872"/>
          <a:lstStyle/>
          <a:p>
            <a:pPr algn="ctr"/>
            <a:r>
              <a:rPr sz="1400" b="1">
                <a:solidFill>
                  <a:srgbClr val="37352F"/>
                </a:solidFill>
                <a:latin typeface="Noto Sans KR"/>
              </a:rPr>
              <a:t>한영재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2383E2"/>
                </a:solidFill>
                <a:latin typeface="Noto Sans KR"/>
              </a:rPr>
              <a:t>한화투자증권 · 채권 트레이더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2383E2"/>
                </a:solidFill>
                <a:latin typeface="Noto Sans KR"/>
              </a:rPr>
              <a:t>인공지능융합대학원</a:t>
            </a:r>
          </a:p>
          <a:p>
            <a:pPr>
              <a:spcBef>
                <a:spcPts val="500"/>
              </a:spcBef>
            </a:pPr>
            <a:r>
              <a:rPr sz="800" b="0">
                <a:solidFill>
                  <a:srgbClr val="787774"/>
                </a:solidFill>
                <a:latin typeface="Noto Sans KR"/>
              </a:rPr>
              <a:t>그늘막 입지 분석 · 전체 시스템 통합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32004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18872"/>
          <a:lstStyle/>
          <a:p>
            <a:pPr algn="ctr"/>
            <a:r>
              <a:rPr sz="1400" b="1">
                <a:solidFill>
                  <a:srgbClr val="37352F"/>
                </a:solidFill>
                <a:latin typeface="Noto Sans KR"/>
              </a:rPr>
              <a:t>원우식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2383E2"/>
                </a:solidFill>
                <a:latin typeface="Noto Sans KR"/>
              </a:rPr>
              <a:t>SOCAR · ML/AI Engineer</a:t>
            </a:r>
          </a:p>
          <a:p>
            <a:pPr>
              <a:spcBef>
                <a:spcPts val="500"/>
              </a:spcBef>
            </a:pPr>
            <a:r>
              <a:rPr sz="800" b="0">
                <a:solidFill>
                  <a:srgbClr val="787774"/>
                </a:solidFill>
                <a:latin typeface="Noto Sans KR"/>
              </a:rPr>
              <a:t>SAM3 · GDAL · DSM→DEM Converter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61772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발표자 : 한영재 / 인공지능융합대학원 인공지능컴퓨팅 / 2025961227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864608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2026년 6월 · 연세대 도시공학과 · 데이터기반 도시설계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두 개의 트랙으로 진행 중인 학제간 프로젝트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79095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동일한 DSM 자산을 두 가지 가치로 변환하는 학제간 협업 프로젝트.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83080"/>
            <a:ext cx="3794760" cy="246888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Noto Sans KR"/>
              </a:rPr>
              <a:t>트랙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2383E2"/>
                </a:solidFill>
                <a:latin typeface="Noto Sans KR"/>
              </a:rPr>
              <a:t>DSM → DEM Converter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787774"/>
                </a:solidFill>
                <a:latin typeface="Noto Sans KR"/>
              </a:rPr>
              <a:t>정사영상에서 SAM3로 객체 추출 → GDAL 보간 → 순수 지형 DEM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5661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담당: 문치국 + 원우식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기술: PyQt6 · SAM3 · GDAL · rasterio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산출: DEM GeoTIFF + 인터랙티브 지도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용도: 침수·토목 설계 등 지형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1783080"/>
            <a:ext cx="3794760" cy="246888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874519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Noto Sans KR"/>
              </a:rPr>
              <a:t>트랙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2383E2"/>
                </a:solidFill>
                <a:latin typeface="Noto Sans KR"/>
              </a:rPr>
              <a:t>그늘막 입지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4231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787774"/>
                </a:solidFill>
                <a:latin typeface="Noto Sans KR"/>
              </a:rPr>
              <a:t>DSM 원본을 재활용해 동작구 여름 그늘막 최적 입지 추천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743200"/>
            <a:ext cx="35661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담당: 한영재 (메인)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기술: MCDA · CV(SAM·SegFormer) · OSMnx · PuLP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산출: TOP 추천 + 인터랙티브 지도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용도: 정책 의사결정 (예산 4천만원 배치 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434840"/>
            <a:ext cx="7909560" cy="41148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FFEE58"/>
                </a:solidFill>
                <a:latin typeface="Noto Sans KR"/>
              </a:rPr>
              <a:t>🔗 연결고리: 같은 DSM 자산을 두 도구가 다른 용도로 활용 — 학제간 협업의 핵심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3인 학제간 협업 — 각자의 전문성을 모듈로 분리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325880"/>
          <a:ext cx="7909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40690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팀원</a:t>
                      </a:r>
                    </a:p>
                  </a:txBody>
                  <a:tcPr marT="54864" marB="54864" marL="91440">
                    <a:solidFill>
                      <a:srgbClr val="3735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전문 분야</a:t>
                      </a:r>
                    </a:p>
                  </a:txBody>
                  <a:tcPr marT="54864" marB="54864" marL="91440">
                    <a:solidFill>
                      <a:srgbClr val="3735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</a:rPr>
                        <a:t>본 프로젝트 담당</a:t>
                      </a:r>
                    </a:p>
                  </a:txBody>
                  <a:tcPr marT="54864" marB="54864" marL="91440">
                    <a:solidFill>
                      <a:srgbClr val="37352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383E2"/>
                          </a:solidFill>
                          <a:latin typeface="Noto Sans KR"/>
                        </a:rPr>
                        <a:t>문치국</a:t>
                      </a:r>
                    </a:p>
                  </a:txBody>
                  <a:tcPr marT="54864" marB="54864" marL="91440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787774"/>
                          </a:solidFill>
                          <a:latin typeface="Noto Sans KR"/>
                        </a:rPr>
                        <a:t>GIS · 측량 · BIM 엔지니어</a:t>
                      </a:r>
                    </a:p>
                  </a:txBody>
                  <a:tcPr marT="54864" marB="54864" marL="91440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NGII 데이터 확보 (DSM·DEM·건물 shp)</a:t>
                      </a:r>
                    </a:p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측량 도메인 자문 · DSM/DEM 정합 검증</a:t>
                      </a:r>
                    </a:p>
                  </a:txBody>
                  <a:tcPr marT="54864" marB="54864" marL="91440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383E2"/>
                          </a:solidFill>
                          <a:latin typeface="Noto Sans KR"/>
                        </a:rPr>
                        <a:t>원우식</a:t>
                      </a:r>
                    </a:p>
                  </a:txBody>
                  <a:tcPr marT="54864" marB="54864" marL="91440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787774"/>
                          </a:solidFill>
                          <a:latin typeface="Noto Sans KR"/>
                        </a:rPr>
                        <a:t>SOCAR ML/AI Engineer</a:t>
                      </a:r>
                    </a:p>
                  </a:txBody>
                  <a:tcPr marT="54864" marB="54864" marL="91440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DSM→DEM Converter 개발</a:t>
                      </a:r>
                    </a:p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SAM3 객체 추출 · GDAL 보간 · QA</a:t>
                      </a:r>
                    </a:p>
                  </a:txBody>
                  <a:tcPr marT="54864" marB="54864" marL="91440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383E2"/>
                          </a:solidFill>
                          <a:latin typeface="Noto Sans KR"/>
                        </a:rPr>
                        <a:t>한영재</a:t>
                      </a:r>
                    </a:p>
                  </a:txBody>
                  <a:tcPr marT="54864" marB="54864" marL="91440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787774"/>
                          </a:solidFill>
                          <a:latin typeface="Noto Sans KR"/>
                        </a:rPr>
                        <a:t>한화 채권 트레이더 +</a:t>
                      </a:r>
                    </a:p>
                    <a:p>
                      <a:r>
                        <a:rPr sz="900" b="0">
                          <a:solidFill>
                            <a:srgbClr val="787774"/>
                          </a:solidFill>
                          <a:latin typeface="Noto Sans KR"/>
                        </a:rPr>
                        <a:t>인공지능융합대학원 컴퓨팅</a:t>
                      </a:r>
                    </a:p>
                  </a:txBody>
                  <a:tcPr marT="54864" marB="54864" marL="91440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그늘막 입지 분석 전체 시스템 통합</a:t>
                      </a:r>
                    </a:p>
                    <a:p>
                      <a:r>
                        <a:rPr sz="900" b="0">
                          <a:solidFill>
                            <a:srgbClr val="37352F"/>
                          </a:solidFill>
                          <a:latin typeface="Noto Sans KR"/>
                        </a:rPr>
                        <a:t>MCDA · CV-A/B · Self-consistency · BayesOpt · 배낭 최적화</a:t>
                      </a:r>
                    </a:p>
                  </a:txBody>
                  <a:tcPr marT="54864" marB="54864" marL="91440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" y="4251960"/>
            <a:ext cx="7909560" cy="54864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💡 협업: 두 트랙 독립 개발 → 공통 자산(DSM·SAM3 마스크) 공유 → 최종 발표 시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일정 · 마일스톤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4월 착수 → 6월 4일 중간 → 6월 18일 최종 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188720"/>
            <a:ext cx="457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0">
                <a:solidFill>
                  <a:srgbClr val="9B9A97"/>
                </a:solidFill>
                <a:latin typeface="Noto Sans KR"/>
              </a:rPr>
              <a:t>4월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188720"/>
            <a:ext cx="457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0">
                <a:solidFill>
                  <a:srgbClr val="9B9A97"/>
                </a:solidFill>
                <a:latin typeface="Noto Sans KR"/>
              </a:rPr>
              <a:t>5월 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188720"/>
            <a:ext cx="457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0">
                <a:solidFill>
                  <a:srgbClr val="9B9A97"/>
                </a:solidFill>
                <a:latin typeface="Noto Sans KR"/>
              </a:rPr>
              <a:t>6/18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14630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착수·역할 분담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14630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00" b="0">
                <a:solidFill>
                  <a:srgbClr val="9B9A97"/>
                </a:solidFill>
                <a:latin typeface="Noto Sans KR"/>
              </a:rPr>
              <a:t>4월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71600"/>
            <a:ext cx="5943600" cy="320040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371600"/>
            <a:ext cx="891540" cy="320040"/>
          </a:xfrm>
          <a:prstGeom prst="rect">
            <a:avLst/>
          </a:prstGeom>
          <a:solidFill>
            <a:srgbClr val="78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74520"/>
            <a:ext cx="14630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트랙 1 개발 (DSM→DEM)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84832"/>
            <a:ext cx="14630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00" b="0">
                <a:solidFill>
                  <a:srgbClr val="9B9A97"/>
                </a:solidFill>
                <a:latin typeface="Noto Sans KR"/>
              </a:rPr>
              <a:t>4~5월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828800"/>
            <a:ext cx="5943600" cy="320040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828800"/>
            <a:ext cx="2674620" cy="32004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331720"/>
            <a:ext cx="14630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트랙 2 개발 (그늘막)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542032"/>
            <a:ext cx="14630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00" b="0">
                <a:solidFill>
                  <a:srgbClr val="9B9A97"/>
                </a:solidFill>
                <a:latin typeface="Noto Sans KR"/>
              </a:rPr>
              <a:t>4~5월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286000"/>
            <a:ext cx="5943600" cy="320040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286000"/>
            <a:ext cx="3268980" cy="32004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788920"/>
            <a:ext cx="14630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DSM 자산 공유·통합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999232"/>
            <a:ext cx="14630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00" b="0">
                <a:solidFill>
                  <a:srgbClr val="9B9A97"/>
                </a:solidFill>
                <a:latin typeface="Noto Sans KR"/>
              </a:rPr>
              <a:t>5월 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43200"/>
            <a:ext cx="5943600" cy="320040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54980" y="2743200"/>
            <a:ext cx="1188719" cy="320040"/>
          </a:xfrm>
          <a:prstGeom prst="rect">
            <a:avLst/>
          </a:prstGeom>
          <a:solidFill>
            <a:srgbClr val="CB7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246120"/>
            <a:ext cx="14630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중간 점검 발표 (오늘)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3456432"/>
            <a:ext cx="14630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00" b="0">
                <a:solidFill>
                  <a:srgbClr val="9B9A97"/>
                </a:solidFill>
                <a:latin typeface="Noto Sans KR"/>
              </a:rPr>
              <a:t>6/4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200400"/>
            <a:ext cx="5943600" cy="320040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19" y="3200400"/>
            <a:ext cx="475488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703320"/>
            <a:ext cx="14630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37352F"/>
                </a:solidFill>
                <a:latin typeface="Noto Sans KR"/>
              </a:rPr>
              <a:t>보완·문서·발표 준비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913632"/>
            <a:ext cx="146304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700" b="0">
                <a:solidFill>
                  <a:srgbClr val="9B9A97"/>
                </a:solidFill>
                <a:latin typeface="Noto Sans KR"/>
              </a:rPr>
              <a:t>6/4~6/18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22008" y="3657600"/>
            <a:ext cx="1307591" cy="320040"/>
          </a:xfrm>
          <a:prstGeom prst="rect">
            <a:avLst/>
          </a:prstGeom>
          <a:solidFill>
            <a:srgbClr val="78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65392" y="1280160"/>
            <a:ext cx="38100" cy="310896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1051560"/>
            <a:ext cx="82296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1">
                <a:solidFill>
                  <a:srgbClr val="E03E3E"/>
                </a:solidFill>
                <a:latin typeface="Noto Sans KR"/>
              </a:rPr>
              <a:t>▼ 오늘 (6/4)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트랙 1 — DSM → DEM 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정사영상에서 객체 추출 → 보간 → 순수 지형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7909560" cy="502920"/>
          </a:xfrm>
          <a:prstGeom prst="roundRect">
            <a:avLst>
              <a:gd name="adj" fmla="val 8000"/>
            </a:avLst>
          </a:prstGeom>
          <a:solidFill>
            <a:srgbClr val="0F7B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KR"/>
              </a:rPr>
              <a:t>✓ 진행 상황: 5단계 파이프라인 완성 + UI/UX 완료 + 솔루션 연계 흐름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11680"/>
            <a:ext cx="1536192" cy="15087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18872"/>
          <a:lstStyle/>
          <a:p>
            <a:pPr algn="ctr"/>
            <a:r>
              <a:rPr sz="800" b="1">
                <a:solidFill>
                  <a:srgbClr val="2383E2"/>
                </a:solidFill>
                <a:latin typeface="Noto Sans KR"/>
              </a:rPr>
              <a:t>STEP 1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37352F"/>
                </a:solidFill>
                <a:latin typeface="Noto Sans KR"/>
              </a:rPr>
              <a:t>입력·정합</a:t>
            </a:r>
          </a:p>
          <a:p>
            <a:pPr>
              <a:spcBef>
                <a:spcPts val="300"/>
              </a:spcBef>
            </a:pPr>
            <a:r>
              <a:rPr sz="700" b="0">
                <a:solidFill>
                  <a:srgbClr val="787774"/>
                </a:solidFill>
                <a:latin typeface="Noto Sans KR"/>
              </a:rPr>
              <a:t>raster_io · 표준화 · 정합 검사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1992" y="2011680"/>
            <a:ext cx="1536192" cy="15087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18872"/>
          <a:lstStyle/>
          <a:p>
            <a:pPr algn="ctr"/>
            <a:r>
              <a:rPr sz="800" b="1">
                <a:solidFill>
                  <a:srgbClr val="2383E2"/>
                </a:solidFill>
                <a:latin typeface="Noto Sans KR"/>
              </a:rPr>
              <a:t>STEP 2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37352F"/>
                </a:solidFill>
                <a:latin typeface="Noto Sans KR"/>
              </a:rPr>
              <a:t>SAM3 추출</a:t>
            </a:r>
          </a:p>
          <a:p>
            <a:pPr>
              <a:spcBef>
                <a:spcPts val="300"/>
              </a:spcBef>
            </a:pPr>
            <a:r>
              <a:rPr sz="700" b="0">
                <a:solidFill>
                  <a:srgbClr val="787774"/>
                </a:solidFill>
                <a:latin typeface="Noto Sans KR"/>
              </a:rPr>
              <a:t>건물·수목·자동차 마스크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2" y="2011680"/>
            <a:ext cx="1536192" cy="15087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18872"/>
          <a:lstStyle/>
          <a:p>
            <a:pPr algn="ctr"/>
            <a:r>
              <a:rPr sz="800" b="1">
                <a:solidFill>
                  <a:srgbClr val="2383E2"/>
                </a:solidFill>
                <a:latin typeface="Noto Sans KR"/>
              </a:rPr>
              <a:t>STEP 3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37352F"/>
                </a:solidFill>
                <a:latin typeface="Noto Sans KR"/>
              </a:rPr>
              <a:t>객체 제거</a:t>
            </a:r>
          </a:p>
          <a:p>
            <a:pPr>
              <a:spcBef>
                <a:spcPts val="300"/>
              </a:spcBef>
            </a:pPr>
            <a:r>
              <a:rPr sz="700" b="0">
                <a:solidFill>
                  <a:srgbClr val="787774"/>
                </a:solidFill>
                <a:latin typeface="Noto Sans KR"/>
              </a:rPr>
              <a:t>신뢰도 임계 + 마스크 융합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2392" y="2011680"/>
            <a:ext cx="1536192" cy="15087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18872"/>
          <a:lstStyle/>
          <a:p>
            <a:pPr algn="ctr"/>
            <a:r>
              <a:rPr sz="800" b="1">
                <a:solidFill>
                  <a:srgbClr val="2383E2"/>
                </a:solidFill>
                <a:latin typeface="Noto Sans KR"/>
              </a:rPr>
              <a:t>STEP 4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37352F"/>
                </a:solidFill>
                <a:latin typeface="Noto Sans KR"/>
              </a:rPr>
              <a:t>GDAL 보간</a:t>
            </a:r>
          </a:p>
          <a:p>
            <a:pPr>
              <a:spcBef>
                <a:spcPts val="300"/>
              </a:spcBef>
            </a:pPr>
            <a:r>
              <a:rPr sz="700" b="0">
                <a:solidFill>
                  <a:srgbClr val="787774"/>
                </a:solidFill>
                <a:latin typeface="Noto Sans KR"/>
              </a:rPr>
              <a:t>탐색 100px + 평활화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2592" y="2011680"/>
            <a:ext cx="1536192" cy="15087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18872"/>
          <a:lstStyle/>
          <a:p>
            <a:pPr algn="ctr"/>
            <a:r>
              <a:rPr sz="800" b="1">
                <a:solidFill>
                  <a:srgbClr val="2383E2"/>
                </a:solidFill>
                <a:latin typeface="Noto Sans KR"/>
              </a:rPr>
              <a:t>STEP 5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37352F"/>
                </a:solidFill>
                <a:latin typeface="Noto Sans KR"/>
              </a:rPr>
              <a:t>QA·저장</a:t>
            </a:r>
          </a:p>
          <a:p>
            <a:pPr>
              <a:spcBef>
                <a:spcPts val="300"/>
              </a:spcBef>
            </a:pPr>
            <a:r>
              <a:rPr sz="700" b="0">
                <a:solidFill>
                  <a:srgbClr val="787774"/>
                </a:solidFill>
                <a:latin typeface="Noto Sans KR"/>
              </a:rPr>
              <a:t>정량 지표 + GeoTIFF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703320"/>
            <a:ext cx="3794760" cy="105156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2383E2"/>
                </a:solidFill>
                <a:latin typeface="Noto Sans KR"/>
              </a:rPr>
              <a:t>🛠 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37352F"/>
                </a:solidFill>
                <a:latin typeface="Consolas"/>
              </a:rPr>
              <a:t>PyQt6 · SAM3 · GDAL · rasterio · folium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800" b="0">
                <a:solidFill>
                  <a:srgbClr val="787774"/>
                </a:solidFill>
                <a:latin typeface="Noto Sans KR"/>
              </a:rPr>
              <a:t>확장: SAM3 파인튜닝 → 추출 정확도 향상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3703320"/>
            <a:ext cx="3794760" cy="105156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9525">
            <a:solidFill>
              <a:srgbClr val="CB7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79476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CB7B26"/>
                </a:solidFill>
                <a:latin typeface="Noto Sans KR"/>
              </a:rPr>
              <a:t>📋 남은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023360"/>
            <a:ext cx="3657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테스트 데이터셋 확장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SAM3 파인튜닝 실험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최종 발표용 데모 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트랙 2 — 그늘막 입지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DSM 재활용 + 다기준 의사결정으로 최적 입지 추천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7909560" cy="502920"/>
          </a:xfrm>
          <a:prstGeom prst="roundRect">
            <a:avLst>
              <a:gd name="adj" fmla="val 8000"/>
            </a:avLst>
          </a:prstGeom>
          <a:solidFill>
            <a:srgbClr val="0F7B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KR"/>
              </a:rPr>
              <a:t>✓ 진행 상황: 7 피처 MCDA + CV-A/B + Self-consistency + BayesOpt + 배낭 최적화 통합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65960"/>
            <a:ext cx="38404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구현 완료 모듈 (12개)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40280"/>
            <a:ext cx="3840480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STEP 0 격자 생성 (3,672 cells)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STEP 1 Score 7 피처 가중합 (MCDA)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STEP 2 공간 필터 4단계 (보행로·건물·결집지)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STEP 3 6 시나리오 민감도 → 강건 입지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CV-A V-World + Mobile-SAM (건물 30동)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CV-B Mapillary + SegFormer (그늘 결핍)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CV-DSM 4시점 ray-cast (Deep Umbra 영감)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Self-consistency 5회 (강의 40p)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Bayesian Opt 가중치 자동 튜닝 (NEW)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PuLP 예산 배낭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6592" y="1965960"/>
            <a:ext cx="3794760" cy="27432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📊 현재까지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31720"/>
            <a:ext cx="3657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동작구 3,672 격자 → 330 후보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강건 입지 2곳 (동작대로 사당-이수)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흑석동 사각지대 4곳 식별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  · TOP4 최대 359.6m (기존 그늘막 대비)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예산 4,000만원 → 5개 배낭 최적 배치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  · status=Optimal, 200m 분산 만족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학습 가중치: shade −0.15→−0.30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  · 실측 18개 검증 부합 (Δ−0.21)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두 트랙의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같은 DSM 자산을 두 도구가 다른 가치로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8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542032"/>
            <a:ext cx="1828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DSM 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34640"/>
            <a:ext cx="1828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Noto Sans KR"/>
              </a:rPr>
              <a:t>(공통 자산)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Noto Sans KR"/>
              </a:rPr>
              <a:t>트랙 1 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24688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SAM3 건물 마스크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GDAL 보간 알고리즘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DEM (지형 분석용)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QA 등급 표준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8152" y="18288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1587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920240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2383E2"/>
                </a:solidFill>
                <a:latin typeface="Noto Sans KR"/>
              </a:rPr>
              <a:t>트랙 2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24688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DSM → ray-cast 그림자 입력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SAM3 마스크 → CV-A 검증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GDAL → 결측치 보완 응용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7352F"/>
                </a:solidFill>
                <a:latin typeface="Noto Sans KR"/>
              </a:rPr>
              <a:t>•  DEM 은 사용 X (그림자 X)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83280" y="2606040"/>
            <a:ext cx="274320" cy="274320"/>
          </a:xfrm>
          <a:prstGeom prst="rightArrow">
            <a:avLst/>
          </a:prstGeom>
          <a:solidFill>
            <a:srgbClr val="78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486400" y="2606040"/>
            <a:ext cx="274320" cy="274320"/>
          </a:xfrm>
          <a:prstGeom prst="rightArrow">
            <a:avLst/>
          </a:prstGeom>
          <a:solidFill>
            <a:srgbClr val="238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" y="3840480"/>
            <a:ext cx="7909560" cy="868680"/>
          </a:xfrm>
          <a:prstGeom prst="roundRect">
            <a:avLst>
              <a:gd name="adj" fmla="val 8000"/>
            </a:avLst>
          </a:prstGeom>
          <a:solidFill>
            <a:srgbClr val="37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FFEE58"/>
                </a:solidFill>
                <a:latin typeface="Noto Sans KR"/>
              </a:rPr>
              <a:t>🎓 강의 13p 추천 Deep Umbra (GAN 일조) 를 ray-cast 로 단순 이식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24528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→ 도시공학 + ML/AI + 도메인(트레이딩 사고법) 의 학제간 협업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98848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Noto Sans KR"/>
              </a:rPr>
              <a:t>한 사람만으로는 만들 수 없는 결과물 — DSM 자산 재활용이 핵심 연결고리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9768"/>
            <a:ext cx="790956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0">
                <a:solidFill>
                  <a:srgbClr val="787774"/>
                </a:solidFill>
                <a:latin typeface="Noto Sans KR"/>
              </a:rPr>
              <a:t>남은 작업 · 최종 발표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79095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1">
                <a:solidFill>
                  <a:srgbClr val="37352F"/>
                </a:solidFill>
                <a:latin typeface="Noto Sans KR"/>
              </a:rPr>
              <a:t>6/4 중간 점검 → 6/18 최종 발표 (자율학습 1주 포함 약 2주)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7909560" cy="952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3840480" cy="18288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9525">
            <a:solidFill>
              <a:srgbClr val="CB7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CB7B26"/>
                </a:solidFill>
                <a:latin typeface="Noto Sans KR"/>
              </a:rPr>
              <a:t>트랙 1 — 남은 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6576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테스트 데이터셋 확장 · 정확도 측정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SAM3 파인튜닝 실험 (정확도 향상)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최종 발표용 데모 시나리오 정리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QA 등급 지표 문서화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6592" y="1325880"/>
            <a:ext cx="3794760" cy="1828800"/>
          </a:xfrm>
          <a:prstGeom prst="roundRect">
            <a:avLst>
              <a:gd name="adj" fmla="val 8000"/>
            </a:avLst>
          </a:prstGeom>
          <a:solidFill>
            <a:srgbClr val="F0F8FF"/>
          </a:solidFill>
          <a:ln w="9525">
            <a:solidFill>
              <a:srgbClr val="238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383E2"/>
                </a:solidFill>
                <a:latin typeface="Noto Sans KR"/>
              </a:rPr>
              <a:t>트랙 2 — 남은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6576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서울 열린데이터 API 연결 (실데이터 5종)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CV-D 멀티모달 VLM 시도 (강의 40~42p)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동작구 전 동 실측 그늘막 수집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발표 슬라이드 추가 자료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291840"/>
            <a:ext cx="7909560" cy="1417320"/>
          </a:xfrm>
          <a:prstGeom prst="roundRect">
            <a:avLst>
              <a:gd name="adj" fmla="val 8000"/>
            </a:avLst>
          </a:prstGeom>
          <a:solidFill>
            <a:srgbClr val="F7F6F3"/>
          </a:solidFill>
          <a:ln w="9525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75895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37352F"/>
                </a:solidFill>
                <a:latin typeface="Noto Sans KR"/>
              </a:rPr>
              <a:t>🎯 6/18 최종 발표 통합 마일스톤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758952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두 트랙 산출물을 한 PPTX 로 통합 (현재 26장 → 추가 정리)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발표 시연: DSM→DEM 변환 (라이브) + 그늘막 추천 지도 (인터랙티브 HTML)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스피커 노트 + 시연 시나리오 + 예상 질문 대비 완료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37352F"/>
                </a:solidFill>
                <a:latin typeface="Noto Sans KR"/>
              </a:rPr>
              <a:t>•  조원 1인 발표 / 2인 시연 보조 — 역할 분담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855464"/>
            <a:ext cx="790956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9B9A97"/>
                </a:solidFill>
                <a:latin typeface="Noto Sans KR"/>
              </a:rPr>
              <a:t>중간 발표 · 데이터기반 도시설계 · 한영재·문치국·원우식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855464"/>
            <a:ext cx="685800" cy="2103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/>
            <a:r>
              <a:rPr sz="900" b="0">
                <a:solidFill>
                  <a:srgbClr val="9B9A97"/>
                </a:solidFill>
                <a:latin typeface="Noto Sans KR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
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[표지 · 30초]</a:t>
            </a:r>
          </a:p>
          <a:p>
            <a:r>
              <a:t>- 인공지능융합대학원 한영재 / 2025961227</a:t>
            </a:r>
          </a:p>
          <a:p>
            <a:r>
              <a:t>- 후크: 그늘막 입지를 민원·직관이 아닌 데이터의 논리로 결정</a:t>
            </a:r>
          </a:p>
          <a:p>
            <a:r>
              <a:t>- MCDA 코어 + CV 3종 + GIS 2종 = 9개 외부 데이터 통합</a:t>
            </a:r>
          </a:p>
          <a:p>
            <a:r>
              <a:t>- 코드: github.com/thgtot92/project_1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[문제 정의 · 접근 · 45초]</a:t>
            </a:r>
          </a:p>
          <a:p>
            <a:r>
              <a:t>- 핵심 메시지: 데이터 통합 + 다기준 의사결정으로 객관적 최적 입지 도출</a:t>
            </a:r>
          </a:p>
          <a:p>
            <a:r>
              <a:t>- 기존 방식 한계: 민원 기반 → 이미 커버된 곳 중복, 사각지대 누락</a:t>
            </a:r>
          </a:p>
          <a:p>
            <a:r>
              <a:t>- 우리 방식: 9종 데이터 → 7 피처 가중합 → 다단계 필터 → 6 시나리오 비교 → 강건 입지</a:t>
            </a:r>
          </a:p>
          <a:p>
            <a:r>
              <a:t>- 중요: CV·GIS는 Score를 대체하지 않음. 입력 데이터 품질만 끌어올림. 설명가능성 유지</a:t>
            </a:r>
          </a:p>
          <a:p/>
          <a:p>
            <a:r>
              <a:t>예상 질문: 왜 딥러닝으로 Score 학습 안 했나? → 정답 라벨 없음 + 설명가능성 의도적 선택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[파이프라인 개요 · 60초]</a:t>
            </a:r>
          </a:p>
          <a:p>
            <a:r>
              <a:t>- 5단계: 격자(3672) → Score(7피처 가중합) → 필터(330) → 시나리오(6) → 근거+시각화</a:t>
            </a:r>
          </a:p>
          <a:p>
            <a:r>
              <a:t>- 첫 실행 ~10분, 캐시 이후 ~30초</a:t>
            </a:r>
          </a:p>
          <a:p>
            <a:r>
              <a:t>- 9종 데이터, 7 피처, 4단계 필터, 6 시나리오 — 핵심 수치 강조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[입력 데이터 9종 · 60초]</a:t>
            </a:r>
          </a:p>
          <a:p>
            <a:r>
              <a:t>- 3 계층 구조 강조: 기본 5종 (CSV·shp), CV 2종 (외부 API), 외부 정밀 2종 (NGII·OSM)</a:t>
            </a:r>
          </a:p>
          <a:p>
            <a:r>
              <a:t>- 5종 기본 데이터 중 4종 더미. data_loader.py 가 실데이터 자동 전환</a:t>
            </a:r>
          </a:p>
          <a:p>
            <a:r>
              <a:t>- 외부 API: 첫 1회 호출 후 디스크 캐시. 발표 도중 호출 X</a:t>
            </a:r>
          </a:p>
          <a:p/>
          <a:p>
            <a:r>
              <a:t>예상 질문: 더미로 발표 신뢰성? → 동작구 실제 거점 기반 가우시안. 실데이터 자동 전환 구조라 인프라 검증용 충분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[Score 식 7 피처 · 60초]</a:t>
            </a:r>
          </a:p>
          <a:p>
            <a:r>
              <a:t>- 한 줄 공식: Score = 0.18 pop + 0.18 lst + 0.18 vuln − 0.15 shade − 0.05 natural + 0.12 sv + 0.20 inter</a:t>
            </a:r>
          </a:p>
          <a:p>
            <a:r>
              <a:t>- 양수 합 0.86, 음수 -0.20. MinMax [0,1] 정규화 후 가중합</a:t>
            </a:r>
          </a:p>
          <a:p>
            <a:r>
              <a:t>- 시나리오마다 가중치 재배분. 가중치 절대정답은 없음</a:t>
            </a:r>
          </a:p>
          <a:p>
            <a:r>
              <a:t>- Streamlit 슬라이더로 즉시 조정 가능 (다음 다음 슬라이드에서 시연)</a:t>
            </a:r>
          </a:p>
          <a:p/>
          <a:p>
            <a:r>
              <a:t>예상 질문: 가중치 어떻게 정함? → 도메인 직관 + 시나리오 민감도. 6개 시나리오 모두에서 살아남는 입지가 강건 입지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[공간 필터링 4단계 · 60초]</a:t>
            </a:r>
          </a:p>
          <a:p>
            <a:r>
              <a:t>- 단순 Score만으론 건물 위·녹지에 점 같은 시각적 오류 발생</a:t>
            </a:r>
          </a:p>
          <a:p>
            <a:r>
              <a:t>- 4단계 컷: 보행로 5m → 그늘막 150m 외 → 건물 안 컷 → 결집지 50m 근접</a:t>
            </a:r>
          </a:p>
          <a:p>
            <a:r>
              <a:t>- 3,672 → 449 → 446 → 434 → 330 (약 9%만 살아남음)</a:t>
            </a:r>
          </a:p>
          <a:p>
            <a:r>
              <a:t>- 슬라이드 6 의 지도(shade_map.html)는 실시간 임베드. 필요시 직접 클릭/줌 시연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[CV-A · SAM · 60초]</a:t>
            </a:r>
          </a:p>
          <a:p>
            <a:r>
              <a:t>- V-World WMTS z=15 → 48 타일 합성 (2048×1536)</a:t>
            </a:r>
          </a:p>
          <a:p>
            <a:r>
              <a:t>- Mobile-SAM (Meta 2023): 40MB CPU 추론, zero-shot</a:t>
            </a:r>
          </a:p>
          <a:p>
            <a:r>
              <a:t>- 필터: 면적·종횡비·밝기 3중 → 30동 추출</a:t>
            </a:r>
          </a:p>
          <a:p>
            <a:r>
              <a:t>- 흑석동에서는 NGII 3,775동이 자동 union → SAM 30동의 125배 정밀</a:t>
            </a:r>
          </a:p>
          <a:p/>
          <a:p>
            <a:r>
              <a:t>예상 질문: YOLO 대신 SAM 이유? → zero-shot, 라벨 불필요. YOLO 는 학습 데이터 비용 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[CV-B · SegFormer · 60초]</a:t>
            </a:r>
          </a:p>
          <a:p>
            <a:r>
              <a:t>- Mapillary BBOX 4×4 검색 → 1,302장 발견. Meta 소유 오픈 거리뷰</a:t>
            </a:r>
          </a:p>
          <a:p>
            <a:r>
              <a:t>- 후보 19격자에 nearest 매핑, 격자당 ≤3장</a:t>
            </a:r>
          </a:p>
          <a:p>
            <a:r>
              <a:t>- SegFormer-b0 (HuggingFace) CityScapes 19 classes pretrained</a:t>
            </a:r>
          </a:p>
          <a:p>
            <a:r>
              <a:t>- 그늘 결핍 = (보도+도로) × (1 − 건물 − 식생)</a:t>
            </a:r>
          </a:p>
          <a:p>
            <a:r>
              <a:t>- TOP10 평균 deficit 0.153 → Score 6번째 피처</a:t>
            </a:r>
          </a:p>
          <a:p>
            <a:r>
              <a:t>- 선행연구: MIT Treepedia, Place Pulse 2.0</a:t>
            </a:r>
          </a:p>
          <a:p/>
          <a:p>
            <a:r>
              <a:t>예상 질문: 거리뷰 시기 다른데? → 정적 요소 비율은 안정적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[CV-DSM · Deep Umbra 영감 · 75초 — 강의 13p 핵심]</a:t>
            </a:r>
          </a:p>
          <a:p>
            <a:r>
              <a:t>- 강의자료 13p 에 우리 프로젝트 옆에 Deep Umbra 논문 박혀 있었음 (evl.uic.edu/shadows)</a:t>
            </a:r>
          </a:p>
          <a:p>
            <a:r>
              <a:t>- Deep Umbra: GAN 으로 일조/그림자 누적 맵 생성. RMSE 0.063, SSIM 0.90</a:t>
            </a:r>
          </a:p>
          <a:p>
            <a:r>
              <a:t>- 우리는 풀 GAN 학습 대신 DSM 실측 + 4시점 ray-cast 로 단순화</a:t>
            </a:r>
          </a:p>
          <a:p>
            <a:r>
              <a:t>- DSM(표면) − DEM(지표) = nDSM(객체 높이)</a:t>
            </a:r>
          </a:p>
          <a:p>
            <a:r>
              <a:t>- 4시점 (10·12·14·16시) shadow union → 누적 비율 [0,1]</a:t>
            </a:r>
          </a:p>
          <a:p>
            <a:r>
              <a:t>- 흑석동 309격자에 평균 누적 0.157 → 단일 시점보다 훨씬 정밀</a:t>
            </a:r>
          </a:p>
          <a:p>
            <a:r>
              <a:t>- NGII 흑석동 실측 건물 3,775동도 동시 통합</a:t>
            </a:r>
          </a:p>
          <a:p/>
          <a:p>
            <a:r>
              <a:t>예상 질문: 왜 풀 GAN 안 썼나? → 학습 시간/데이터 부담. 4시점 ray-cast 로 같은 메시지. GAN 으로 확장 여지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[OSMnx · 교차로 + 횡단보도 · 60초]</a:t>
            </a:r>
          </a:p>
          <a:p>
            <a:r>
              <a:t>- OSMnx: OpenStreetMap Overpass API Python 래퍼</a:t>
            </a:r>
          </a:p>
          <a:p>
            <a:r>
              <a:t>- walkable highway 그래프 → street_count ≥ 3 노드 = 교차로</a:t>
            </a:r>
          </a:p>
          <a:p>
            <a:r>
              <a:t>- 한국 OSM 의 함정: 횡단보도가 highway=crossing 보다 footway=crossing 우세</a:t>
            </a:r>
          </a:p>
          <a:p>
            <a:r>
              <a:t>- 처음에 흑석동 횡단보도 0개로 떴다가, 다중 태그 검색으로 해결</a:t>
            </a:r>
          </a:p>
          <a:p>
            <a:r>
              <a:t>- highway · footway · crossing 3종 통합 → 306개 횡단보도 발견</a:t>
            </a:r>
          </a:p>
          <a:p>
            <a:r>
              <a:t>- 결집지점 union → 격자별 80m 내 개수(피처) + 50m 근접(필터)</a:t>
            </a:r>
          </a:p>
          <a:p>
            <a:r>
              <a:t>- 효과: 노량진역-수산시장이 처음으로 TOP10 진입</a:t>
            </a:r>
          </a:p>
          <a:p/>
          <a:p>
            <a:r>
              <a:t>예상 질문: OSM 신뢰성? → 인구 밀집 지역은 충실. NGII 도로대장 비교는 향후 과제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[시나리오 6 + 강건 입지 · 75초]</a:t>
            </a:r>
          </a:p>
          <a:p>
            <a:r>
              <a:t>- 6 시나리오: 기본/고령자/폭염/유동인구/보행환경/교차로</a:t>
            </a:r>
          </a:p>
          <a:p>
            <a:r>
              <a:t>- 동일 피처 위에 가중치만 바꿔 재스코어 = 정책 민감도 분석</a:t>
            </a:r>
          </a:p>
          <a:p>
            <a:r>
              <a:t>- 유동인구 시나리오 최고 0.648 score</a:t>
            </a:r>
          </a:p>
          <a:p>
            <a:r>
              <a:t>- 강건 입지 2곳: 동작대로 사당-이수 축 (37.4907, 126.9647) + 사당역 인근 (37.4898, 126.9670)</a:t>
            </a:r>
          </a:p>
          <a:p>
            <a:r>
              <a:t>- "정책 관점이 바뀌어도 정답이 안 바뀌는 곳" = 예산 제약 최우선</a:t>
            </a:r>
          </a:p>
          <a:p>
            <a:r>
              <a:t>- 흑석동 한강변은 이전 강건 입지였으나 교차로 시나리오 추가로 탈락 → 더 엄격한 검증 통과한 사당-이수의 강건성 ↑</a:t>
            </a:r>
          </a:p>
          <a:p/>
          <a:p>
            <a:r>
              <a:t>예상 질문: 2곳만이면 너무 적지 않나? → 6 시나리오 합의 자체가 어려운 일. 2곳 살아남았다는 게 의미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[1차 발표 3대 구역 검증 · 45초]</a:t>
            </a:r>
          </a:p>
          <a:p>
            <a:r>
              <a:t>- 1차 발표 때 노량진·사당-이수·상도로 3대 후보 제시</a:t>
            </a:r>
          </a:p>
          <a:p>
            <a:r>
              <a:t>- 알고리즘이 얼마나 재현했는지 자기 검증</a:t>
            </a:r>
          </a:p>
          <a:p>
            <a:r>
              <a:t>- 노량진: △ → ✓ (횡단보도 통합 후 신규 진입)</a:t>
            </a:r>
          </a:p>
          <a:p>
            <a:r>
              <a:t>- 사당-이수: ✓ TOP1·2·4·5 차지</a:t>
            </a:r>
          </a:p>
          <a:p>
            <a:r>
              <a:t>- 상도로: ✓ → △ (보행로 5m 강화로 컷, 정책적 재검토 필요)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[흑석동 실측 vs 신규 추천 · 75초 — 핵심 임팩트]</a:t>
            </a:r>
          </a:p>
          <a:p>
            <a:r>
              <a:t>- 이 슬라이드가 이번 프로젝트 최대 임팩트 포인트</a:t>
            </a:r>
          </a:p>
          <a:p>
            <a:r>
              <a:t>- 사용자 제공 실측 그늘막 18개 (고정 13 + 스마트 5, 2019~2023)와 알고리즘 TOP10 비교</a:t>
            </a:r>
          </a:p>
          <a:p>
            <a:r>
              <a:t>- 3 카테고리 분류: 사각지대(&gt;150m) / 중간 / 보강(&lt;60m)</a:t>
            </a:r>
          </a:p>
          <a:p>
            <a:r>
              <a:t>- 사각지대 4곳: TOP3·4·5·8</a:t>
            </a:r>
          </a:p>
          <a:p>
            <a:r>
              <a:t>- TOP4 (37.49786, 126.96129) 최대 사각지대 359.6m — 정책 어필 1순위</a:t>
            </a:r>
          </a:p>
          <a:p>
            <a:r>
              <a:t>- 정책: 흑석동은 그늘막 75% 영역 커버, 다른 동 우선. 흑석동 내부 추가는 사각지대 4곳</a:t>
            </a:r>
          </a:p>
          <a:p/>
          <a:p>
            <a:r>
              <a:t>예상 질문: 사각지대인데 score 낮으면 추천 가치? → 그늘막 0이라 shade 페널티 0. 거리뷰·DSM 보강 시 score 같이 상승 가능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[예산 제약 최적화 · 60초 — NEW]</a:t>
            </a:r>
          </a:p>
          <a:p>
            <a:r>
              <a:t>- 정책 직답: "예산 N원 = 그늘막 K개 = 어디?"</a:t>
            </a:r>
          </a:p>
          <a:p>
            <a:r>
              <a:t>- PuLP 정수 선형계획법 (CBC 솔버, 무료)</a:t>
            </a:r>
          </a:p>
          <a:p>
            <a:r>
              <a:t>- 목표: max Σ score_i · x_i</a:t>
            </a:r>
          </a:p>
          <a:p>
            <a:r>
              <a:t>- 제약: 예산(Σ cost·x ≤ B) + 공간 분산(가까운 격자 동시선택 X)</a:t>
            </a:r>
          </a:p>
          <a:p>
            <a:r>
              <a:t>- 후보 풀 50개 → 200m 이격 제약 29쌍 active</a:t>
            </a:r>
          </a:p>
          <a:p>
            <a:r>
              <a:t>- 결과: status=Optimal, 5개 선정, 총 score 1.852, 예산 100% 사용</a:t>
            </a:r>
          </a:p>
          <a:p>
            <a:r>
              <a:t>- 선정 분포: 사당-이수 4 + 노량진 1 (자동 분산)</a:t>
            </a:r>
          </a:p>
          <a:p>
            <a:r>
              <a:t>- TOP10 단순 정렬과 다른 점: 200m 이격으로 같은 곳 몰림 방지</a:t>
            </a:r>
          </a:p>
          <a:p/>
          <a:p>
            <a:r>
              <a:t>예상 질문: 단가 800만원 근거? → 더미. 실 단가 확보 시 즉시 교체. 단가가 달라도 비례적으로 K개 결정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[Streamlit 대시보드 · 45초 — 시연용]</a:t>
            </a:r>
          </a:p>
          <a:p>
            <a:r>
              <a:t>- streamlit run app.py → http://localhost:8501</a:t>
            </a:r>
          </a:p>
          <a:p>
            <a:r>
              <a:t>- 사이드바: 시나리오 프리셋 + 7개 가중치 슬라이더</a:t>
            </a:r>
          </a:p>
          <a:p>
            <a:r>
              <a:t>- 본문: Folium 지도 + TOP10 표 + 통계</a:t>
            </a:r>
          </a:p>
          <a:p>
            <a:r>
              <a:t>- 캐싱: 격자·피처 1회, 슬라이더는 가중합만 (밀리초)</a:t>
            </a:r>
          </a:p>
          <a:p>
            <a:r>
              <a:t>- 발표 중 "vuln 더 올리면?" 질문에 즉답</a:t>
            </a:r>
          </a:p>
          <a:p>
            <a:r>
              <a:t>- 시간 여유 있으면 별도 창에서 슬라이더 1~2개 움직여 시연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[한계 + 한 줄 요약 · 45초]</a:t>
            </a:r>
          </a:p>
          <a:p>
            <a:r>
              <a:t>- 한계: 4종 기본 데이터 더미 / LST 래스터 미연결 / SAM 추정 높이 / 단가 800만원 가정</a:t>
            </a:r>
          </a:p>
          <a:p>
            <a:r>
              <a:t>- 다음 단계: API 연결 / 전 동 실측 / Streamlit 시각화 / 타 자치구 확장 (BBOX 교체)</a:t>
            </a:r>
          </a:p>
          <a:p>
            <a:r>
              <a:t>- 한 줄 요약: 항공·거리뷰·DSM·도로망·실측 + MCDA + 배낭 최적화로 강건 2 + 사각지대 4 + 예산 5곳</a:t>
            </a:r>
          </a:p>
          <a:p>
            <a:r>
              <a:t>- "감사합니다. 질문 받겠습니다."</a:t>
            </a:r>
          </a:p>
          <a:p/>
          <a:p>
            <a:r>
              <a:t>예상 질문:</a:t>
            </a:r>
          </a:p>
          <a:p>
            <a:r>
              <a:t>- 타 자치구 적용? → BBOX·NGII 교체. 가중치 재튜닝 필요</a:t>
            </a:r>
          </a:p>
          <a:p>
            <a:r>
              <a:t>- 코드? → github.com/thgtot92/project_1 (MIT)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동작구 여름 그늘막 최적 입지 추천 시스템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BBBBBB"/>
                </a:solidFill>
                <a:latin typeface="맑은 고딕"/>
              </a:rPr>
              <a:t>MCDA × 컴퓨터비전(SAM·SegFormer) × DSM(Deep Umbra) × OSMnx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657600"/>
            <a:ext cx="1828800" cy="508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CCCC"/>
                </a:solidFill>
                <a:latin typeface="맑은 고딕"/>
              </a:rPr>
              <a:t>데이터기반 도시설계 · 기말 프로젝트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389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AAAA"/>
                </a:solidFill>
                <a:latin typeface="맑은 고딕"/>
              </a:rPr>
              <a:t>한영재 / 인공지능융합대학원 인공지능컴퓨팅 / 2025961227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937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AEE5"/>
                </a:solidFill>
                <a:latin typeface="맑은 고딕"/>
              </a:rPr>
              <a:t>Repo: github.com/thgtot92/project_1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94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맑은 고딕"/>
              </a:rPr>
              <a:t>2026년 5월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09728" cy="73152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12121"/>
                </a:solidFill>
                <a:latin typeface="맑은 고딕"/>
              </a:rPr>
              <a:t>문제 정의 · 접근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맑은 고딕"/>
              </a:rPr>
              <a:t>어디에 설치할 것인가 — 민원·직관이 아닌 데이터의 논리로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212121"/>
                </a:solidFill>
                <a:latin typeface="맑은 고딕"/>
              </a:rPr>
              <a:t>• 그늘막은 유한한 예산 → 어느 격자에 '폭염스트레스 × 유동인구 × 취약계층' 효용 최대인가?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12121"/>
                </a:solidFill>
                <a:latin typeface="맑은 고딕"/>
              </a:rPr>
              <a:t>• 기존 방식: 민원·직관 → 공간적 편향, 이미 커버된 곳 중복 설치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212121"/>
                </a:solidFill>
                <a:latin typeface="맑은 고딕"/>
              </a:rPr>
              <a:t>• 제안: 다변수 가중합 + 다단계 공간 필터 + 다정책 시나리오 + 4종 외부 데이터 통합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840480"/>
            <a:ext cx="10972800" cy="2103120"/>
          </a:xfrm>
          <a:prstGeom prst="roundRect">
            <a:avLst/>
          </a:prstGeom>
          <a:solidFill>
            <a:srgbClr val="F5F8FD"/>
          </a:solidFill>
          <a:ln w="1905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l"/>
            <a:r>
              <a:rPr sz="1900" b="1">
                <a:solidFill>
                  <a:srgbClr val="1E88E5"/>
                </a:solidFill>
                <a:latin typeface="맑은 고딕"/>
              </a:rPr>
              <a:t>다기준 의사결정 (MCDA) 기반 입지 추천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212121"/>
                </a:solidFill>
                <a:latin typeface="맑은 고딕"/>
              </a:rPr>
              <a:t>• 다변수 가중합 + Min-Max 정규화로 객관적 점수 산출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212121"/>
                </a:solidFill>
                <a:latin typeface="맑은 고딕"/>
              </a:rPr>
              <a:t>• 공간 제약 4단계 (보행로·건물·교차로·기존그늘막)로 실제 설치 가능 위치만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212121"/>
                </a:solidFill>
                <a:latin typeface="맑은 고딕"/>
              </a:rPr>
              <a:t>• 6 시나리오 민감도 분석 → 정책 관점 불변 강건 입지 식별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212121"/>
                </a:solidFill>
                <a:latin typeface="맑은 고딕"/>
              </a:rPr>
              <a:t>• 컴퓨터비전·GIS는 'Score를 대체'하는 게 아니라 '입력 데이터 품질을 끌어올림'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맑은 고딕"/>
              </a:rPr>
              <a:t>동작구 여름 그늘막 최적 입지 추천 시스템 · 한영재 · 2025961227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맑은 고딕"/>
              </a:rPr>
              <a:t>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09728" cy="73152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12121"/>
                </a:solidFill>
                <a:latin typeface="맑은 고딕"/>
              </a:rPr>
              <a:t>파이프라인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맑은 고딕"/>
              </a:rPr>
              <a:t>9종 데이터 → 7 피처 → 4단계 필터 → 6 시나리오 → TOP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828800"/>
            <a:ext cx="2194560" cy="301752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82880"/>
          <a:lstStyle/>
          <a:p>
            <a:pPr algn="ctr"/>
            <a:r>
              <a:rPr sz="1100" b="1">
                <a:solidFill>
                  <a:srgbClr val="555555"/>
                </a:solidFill>
                <a:latin typeface="맑은 고딕"/>
              </a:rPr>
              <a:t>STEP 0</a:t>
            </a:r>
          </a:p>
          <a:p>
            <a:pPr>
              <a:spcBef>
                <a:spcPts val="300"/>
              </a:spcBef>
            </a:pPr>
            <a:r>
              <a:rPr sz="2000" b="1">
                <a:solidFill>
                  <a:srgbClr val="212121"/>
                </a:solidFill>
                <a:latin typeface="맑은 고딕"/>
              </a:rPr>
              <a:t>격자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555555"/>
                </a:solidFill>
                <a:latin typeface="맑은 고딕"/>
              </a:rPr>
              <a:t>동작구 100m 격자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555555"/>
                </a:solidFill>
                <a:latin typeface="맑은 고딕"/>
              </a:rPr>
              <a:t>3,672 cells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542032" y="3154680"/>
            <a:ext cx="164592" cy="274320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651760" y="1828800"/>
            <a:ext cx="2194560" cy="301752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82880"/>
          <a:lstStyle/>
          <a:p>
            <a:pPr algn="ctr"/>
            <a:r>
              <a:rPr sz="1100" b="1">
                <a:solidFill>
                  <a:srgbClr val="1E88E5"/>
                </a:solidFill>
                <a:latin typeface="맑은 고딕"/>
              </a:rPr>
              <a:t>STEP 1</a:t>
            </a:r>
          </a:p>
          <a:p>
            <a:pPr>
              <a:spcBef>
                <a:spcPts val="300"/>
              </a:spcBef>
            </a:pPr>
            <a:r>
              <a:rPr sz="2000" b="1">
                <a:solidFill>
                  <a:srgbClr val="212121"/>
                </a:solidFill>
                <a:latin typeface="맑은 고딕"/>
              </a:rPr>
              <a:t>Score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555555"/>
                </a:solidFill>
                <a:latin typeface="맑은 고딕"/>
              </a:rPr>
              <a:t>7 피처 가중합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555555"/>
                </a:solidFill>
                <a:latin typeface="맑은 고딕"/>
              </a:rPr>
              <a:t>MinMax 정규화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828032" y="3154680"/>
            <a:ext cx="164592" cy="274320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937760" y="1828800"/>
            <a:ext cx="2194560" cy="301752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FB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82880"/>
          <a:lstStyle/>
          <a:p>
            <a:pPr algn="ctr"/>
            <a:r>
              <a:rPr sz="1100" b="1">
                <a:solidFill>
                  <a:srgbClr val="FB8C00"/>
                </a:solidFill>
                <a:latin typeface="맑은 고딕"/>
              </a:rPr>
              <a:t>STEP 2</a:t>
            </a:r>
          </a:p>
          <a:p>
            <a:pPr>
              <a:spcBef>
                <a:spcPts val="300"/>
              </a:spcBef>
            </a:pPr>
            <a:r>
              <a:rPr sz="2000" b="1">
                <a:solidFill>
                  <a:srgbClr val="212121"/>
                </a:solidFill>
                <a:latin typeface="맑은 고딕"/>
              </a:rPr>
              <a:t>필터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555555"/>
                </a:solidFill>
                <a:latin typeface="맑은 고딕"/>
              </a:rPr>
              <a:t>보행로 5m → 그늘막 →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555555"/>
                </a:solidFill>
                <a:latin typeface="맑은 고딕"/>
              </a:rPr>
              <a:t>건물컷 → 결집지 50m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555555"/>
                </a:solidFill>
                <a:latin typeface="맑은 고딕"/>
              </a:rPr>
              <a:t>3,672 → 330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114032" y="3154680"/>
            <a:ext cx="164592" cy="274320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223760" y="1828800"/>
            <a:ext cx="2194560" cy="301752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82880"/>
          <a:lstStyle/>
          <a:p>
            <a:pPr algn="ctr"/>
            <a:r>
              <a:rPr sz="1100" b="1">
                <a:solidFill>
                  <a:srgbClr val="E53935"/>
                </a:solidFill>
                <a:latin typeface="맑은 고딕"/>
              </a:rPr>
              <a:t>STEP 3</a:t>
            </a:r>
          </a:p>
          <a:p>
            <a:pPr>
              <a:spcBef>
                <a:spcPts val="300"/>
              </a:spcBef>
            </a:pPr>
            <a:r>
              <a:rPr sz="2000" b="1">
                <a:solidFill>
                  <a:srgbClr val="212121"/>
                </a:solidFill>
                <a:latin typeface="맑은 고딕"/>
              </a:rPr>
              <a:t>시나리오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555555"/>
                </a:solidFill>
                <a:latin typeface="맑은 고딕"/>
              </a:rPr>
              <a:t>6 프리셋 × TOP10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555555"/>
                </a:solidFill>
                <a:latin typeface="맑은 고딕"/>
              </a:rPr>
              <a:t>강건입지 식별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400032" y="3154680"/>
            <a:ext cx="164592" cy="274320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509760" y="1828800"/>
            <a:ext cx="2194560" cy="301752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82880"/>
          <a:lstStyle/>
          <a:p>
            <a:pPr algn="ctr"/>
            <a:r>
              <a:rPr sz="1100" b="1">
                <a:solidFill>
                  <a:srgbClr val="43A047"/>
                </a:solidFill>
                <a:latin typeface="맑은 고딕"/>
              </a:rPr>
              <a:t>STEP 4</a:t>
            </a:r>
          </a:p>
          <a:p>
            <a:pPr>
              <a:spcBef>
                <a:spcPts val="300"/>
              </a:spcBef>
            </a:pPr>
            <a:r>
              <a:rPr sz="2000" b="1">
                <a:solidFill>
                  <a:srgbClr val="212121"/>
                </a:solidFill>
                <a:latin typeface="맑은 고딕"/>
              </a:rPr>
              <a:t>근거+시각화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555555"/>
                </a:solidFill>
                <a:latin typeface="맑은 고딕"/>
              </a:rPr>
              <a:t>LLM 자연어 근거 +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555555"/>
                </a:solidFill>
                <a:latin typeface="맑은 고딕"/>
              </a:rPr>
              <a:t>Folium 지도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212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맑은 고딕"/>
              </a:rPr>
              <a:t>외부 데이터: V-World 위성 · Mapillary 거리뷰 · 흑석동 DSM/DEM/NGII · OSMnx 도로망/교차로/횡단보도 · 흑석동 실측 그늘막 18개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00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맑은 고딕"/>
              </a:rPr>
              <a:t>동작구 여름 그늘막 최적 입지 추천 시스템 · 한영재 · 2025961227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맑은 고딕"/>
              </a:rPr>
              <a:t>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09728" cy="73152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12121"/>
                </a:solidFill>
                <a:latin typeface="맑은 고딕"/>
              </a:rPr>
              <a:t>입력 데이터 (9종, 3 계층)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맑은 고딕"/>
              </a:rPr>
              <a:t>기본 5종 + 컴퓨터비전 2종 + 흑석동 정밀·OSMnx 2종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645920"/>
          <a:ext cx="10972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3200400"/>
                <a:gridCol w="3474720"/>
                <a:gridCol w="320040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데이터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출처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용도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기본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생활인구 (시간대별)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SKT 서울열린데이터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popdens 피처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기본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지표면 온도 LST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서울연구원 Landsat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lst 피처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기본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취약계층 비율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KOSIS 동별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vuln 피처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기본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기존 그늘막 위치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서울열린데이터 / 사용자제공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shade 페널티 + 비교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기본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인도·횡단보도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국가공간정보포털 (현재 더미)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보행로 입력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CV-A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V-World 항공사진 WMTS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V-World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Mobile-SAM → 건물 30동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CV-B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Mapillary 거리뷰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Mapillary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SegFormer → 그늘 결핍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흑석동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NGII DSM·DEM·건물 3,775동·경계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국토지리정보원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DSM 누적 그림자·실측 건물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OSMnx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OSM 도로망·교차로·횡단보도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Overpass API (OSMnx)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보행로 필터·결집지 밀도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5852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맑은 고딕"/>
              </a:rPr>
              <a:t>⚙ 5종 기본 데이터는 더미↔실데이터 자동 스위칭 · 외부 API는 첫 1회 호출 후 디스크 캐시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맑은 고딕"/>
              </a:rPr>
              <a:t>동작구 여름 그늘막 최적 입지 추천 시스템 · 한영재 · 2025961227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맑은 고딕"/>
              </a:rPr>
              <a:t>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09728" cy="73152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12121"/>
                </a:solidFill>
                <a:latin typeface="맑은 고딕"/>
              </a:rPr>
              <a:t>알고리즘 · Score 식 (7 피처)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맑은 고딕"/>
              </a:rPr>
              <a:t>각 피처 MinMax [0,1] 정규화 후 가중합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10972800" cy="1463040"/>
          </a:xfrm>
          <a:prstGeom prst="round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/>
            <a:r>
              <a:rPr sz="1800" b="1">
                <a:solidFill>
                  <a:srgbClr val="FFEE58"/>
                </a:solidFill>
                <a:latin typeface="맑은 고딕"/>
              </a:rPr>
              <a:t>Score = 0.18·popdens + 0.18·lst + 0.18·vuln</a:t>
            </a:r>
          </a:p>
          <a:p>
            <a:pPr algn="ctr"/>
            <a:r>
              <a:rPr sz="1500" b="1">
                <a:solidFill>
                  <a:srgbClr val="FFEE58"/>
                </a:solidFill>
                <a:latin typeface="맑은 고딕"/>
              </a:rPr>
              <a:t>− 0.15·shade − 0.05·natural + 0.12·streetview_deficit + 0.20·intersection_density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29184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212121"/>
                </a:solidFill>
                <a:latin typeface="맑은 고딕"/>
              </a:rPr>
              <a:t>• popdens (+0.18) — 시간대 가중 유동인구 (9~18시, 오후 1~3시 1.0 피크)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212121"/>
                </a:solidFill>
                <a:latin typeface="맑은 고딕"/>
              </a:rPr>
              <a:t>• lst (+0.18) — 지표면 온도, 오후 피크 가중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212121"/>
                </a:solidFill>
                <a:latin typeface="맑은 고딕"/>
              </a:rPr>
              <a:t>• vuln (+0.18) — 고령자·어린이 비율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212121"/>
                </a:solidFill>
                <a:latin typeface="맑은 고딕"/>
              </a:rPr>
              <a:t>• shade (−0.15) — 기존 그늘막 반경 150m 내 커버리지 (이미 된 곳 감점)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212121"/>
                </a:solidFill>
                <a:latin typeface="맑은 고딕"/>
              </a:rPr>
              <a:t>• natural (−0.05) — CV-A SAM 30동 + NGII 흑석동 3,775동 + 흑석동 DSM 4시점 누적 (Deep Umbra)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212121"/>
                </a:solidFill>
                <a:latin typeface="맑은 고딕"/>
              </a:rPr>
              <a:t>• streetview_deficit (+0.12) — CV-B SegFormer 거리뷰: (보도+도로) × (1−건물−식생)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212121"/>
                </a:solidFill>
                <a:latin typeface="맑은 고딕"/>
              </a:rPr>
              <a:t>• intersection_density (+0.20) — OSMnx 교차로 + 횡단보도 반경 80m 내 개수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852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88E5"/>
                </a:solidFill>
                <a:latin typeface="맑은 고딕"/>
              </a:rPr>
              <a:t>🎚 Streamlit 대시보드(app.py)에서 슬라이더로 실시간 조정 + 시나리오 6개 프리셋 내장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맑은 고딕"/>
              </a:rPr>
              <a:t>동작구 여름 그늘막 최적 입지 추천 시스템 · 한영재 · 2025961227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맑은 고딕"/>
              </a:rPr>
              <a:t>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09728" cy="73152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12121"/>
                </a:solidFill>
                <a:latin typeface="맑은 고딕"/>
              </a:rPr>
              <a:t>공간 필터링 — 4단계 다중 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맑은 고딕"/>
              </a:rPr>
              <a:t>잘못된 위치(차도·건물·녹지·외진곳)에 그늘막 추천 방지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828800"/>
            <a:ext cx="2194560" cy="2286000"/>
          </a:xfrm>
          <a:prstGeom prst="round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800" b="1">
                <a:solidFill>
                  <a:srgbClr val="FFFFFF"/>
                </a:solidFill>
                <a:latin typeface="맑은 고딕"/>
              </a:rPr>
              <a:t>3,672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맑은 고딕"/>
              </a:rPr>
              <a:t>전체 격자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60" y="1828800"/>
            <a:ext cx="2194560" cy="2286000"/>
          </a:xfrm>
          <a:prstGeom prst="roundRect">
            <a:avLst/>
          </a:prstGeom>
          <a:solidFill>
            <a:srgbClr val="F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800" b="1">
                <a:solidFill>
                  <a:srgbClr val="FFFFFF"/>
                </a:solidFill>
                <a:latin typeface="맑은 고딕"/>
              </a:rPr>
              <a:t>449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맑은 고딕"/>
              </a:rPr>
              <a:t>보행로 5m 이내
(OSMnx)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37760" y="1828800"/>
            <a:ext cx="2194560" cy="2286000"/>
          </a:xfrm>
          <a:prstGeom prst="round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800" b="1">
                <a:solidFill>
                  <a:srgbClr val="FFFFFF"/>
                </a:solidFill>
                <a:latin typeface="맑은 고딕"/>
              </a:rPr>
              <a:t>434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맑은 고딕"/>
              </a:rPr>
              <a:t>건물 안 컷
(NGII 5m inset)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60" y="1828800"/>
            <a:ext cx="2194560" cy="2286000"/>
          </a:xfrm>
          <a:prstGeom prst="round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800" b="1">
                <a:solidFill>
                  <a:srgbClr val="FFFFFF"/>
                </a:solidFill>
                <a:latin typeface="맑은 고딕"/>
              </a:rPr>
              <a:t>330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맑은 고딕"/>
              </a:rPr>
              <a:t>교차로·횡단보도
50m 근접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09760" y="1828800"/>
            <a:ext cx="2194560" cy="2286000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800" b="1">
                <a:solidFill>
                  <a:srgbClr val="FFFFFF"/>
                </a:solidFill>
                <a:latin typeface="맑은 고딕"/>
              </a:rPr>
              <a:t>10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맑은 고딕"/>
              </a:rPr>
              <a:t>최종 추천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38912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212121"/>
                </a:solidFill>
                <a:latin typeface="맑은 고딕"/>
              </a:rPr>
              <a:t>• 이전 버전: 보행로 20m + 더미 14개 라인 → '건물 위'·'녹지에 점' 시각적 오류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212121"/>
                </a:solidFill>
                <a:latin typeface="맑은 고딕"/>
              </a:rPr>
              <a:t>• 수정: OSMnx walkable edges 통합 + buffer 5m + NGII 건물 안 centroid 컷 + 결집지 50m 근접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212121"/>
                </a:solidFill>
                <a:latin typeface="맑은 고딕"/>
              </a:rPr>
              <a:t>• 효과: 보행 가능 + 건물 밖 + 교차로/횡단보도 옆에만 추천 (실용성 ↑)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5852160"/>
            <a:ext cx="10972800" cy="457200"/>
          </a:xfrm>
          <a:prstGeom prst="rect">
            <a:avLst/>
          </a:prstGeom>
          <a:solidFill>
            <a:srgbClr val="EEEEEE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555555"/>
                </a:solidFill>
                <a:latin typeface="맑은 고딕"/>
              </a:rPr>
              <a:t>📷 output/shade_map.html 또는 scenarios_map.html 캡처 가능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00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맑은 고딕"/>
              </a:rPr>
              <a:t>동작구 여름 그늘막 최적 입지 추천 시스템 · 한영재 · 2025961227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맑은 고딕"/>
              </a:rPr>
              <a:t>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09728" cy="73152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12121"/>
                </a:solidFill>
                <a:latin typeface="맑은 고딕"/>
              </a:rPr>
              <a:t>CV-A · 항공사진 + Mobile-SAM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맑은 고딕"/>
              </a:rPr>
              <a:t>딥러닝 zero-shot segmentation으로 동작구 건물 자동 추출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5943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212121"/>
                </a:solidFill>
                <a:latin typeface="맑은 고딕"/>
              </a:rPr>
              <a:t>• V-World WMTS z=15 → 동작구 BBOX 48 타일 합성 (2048×1536)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212121"/>
                </a:solidFill>
                <a:latin typeface="맑은 고딕"/>
              </a:rPr>
              <a:t>• Mobile-SAM (Meta, 2023) — 40MB 경량 SAM, CPU 추론 가능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212121"/>
                </a:solidFill>
                <a:latin typeface="맑은 고딕"/>
              </a:rPr>
              <a:t>• 필터: 면적 200~30k px², 종횡비 0.2~5, 평균 밝기 80~220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212121"/>
                </a:solidFill>
                <a:latin typeface="맑은 고딕"/>
              </a:rPr>
              <a:t>• 결과: 실측 30동 자동 추출 → buildings.geojson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212121"/>
                </a:solidFill>
                <a:latin typeface="맑은 고딕"/>
              </a:rPr>
              <a:t>• 픽셀 → EPSG:3857 → WGS84 polygon 변환 + 면적 기반 추정 높이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212121"/>
                </a:solidFill>
                <a:latin typeface="맑은 고딕"/>
              </a:rPr>
              <a:t>• 흑석동에서는 NGII 실측 3,775동이 SAM 30동을 union (data_loader 자동)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645920"/>
            <a:ext cx="4846320" cy="4114800"/>
          </a:xfrm>
          <a:prstGeom prst="roundRect">
            <a:avLst/>
          </a:prstGeom>
          <a:solidFill>
            <a:srgbClr val="F5F8FD"/>
          </a:solidFill>
          <a:ln w="1905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/>
            <a:r>
              <a:rPr sz="1300" b="1">
                <a:solidFill>
                  <a:srgbClr val="1E88E5"/>
                </a:solidFill>
                <a:latin typeface="맑은 고딕"/>
              </a:rPr>
              <a:t>📁 output/cv_buildings_overlay.png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212121"/>
                </a:solidFill>
                <a:latin typeface="맑은 고딕"/>
              </a:rPr>
              <a:t/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212121"/>
                </a:solidFill>
                <a:latin typeface="맑은 고딕"/>
              </a:rPr>
              <a:t>2048×1536 위성 이미지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212121"/>
                </a:solidFill>
                <a:latin typeface="맑은 고딕"/>
              </a:rPr>
              <a:t>+ SAM 마스크 노란 오버레이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212121"/>
                </a:solidFill>
                <a:latin typeface="맑은 고딕"/>
              </a:rPr>
              <a:t>+ 추출 polygon 녹색 외곽선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212121"/>
                </a:solidFill>
                <a:latin typeface="맑은 고딕"/>
              </a:rPr>
              <a:t/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212121"/>
                </a:solidFill>
                <a:latin typeface="맑은 고딕"/>
              </a:rPr>
              <a:t>30동 분포: 노량진·사당·이수·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212121"/>
                </a:solidFill>
                <a:latin typeface="맑은 고딕"/>
              </a:rPr>
              <a:t>상도로·장승배기·흑석동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맑은 고딕"/>
              </a:rPr>
              <a:t>동작구 여름 그늘막 최적 입지 추천 시스템 · 한영재 · 2025961227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맑은 고딕"/>
              </a:rPr>
              <a:t>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09728" cy="73152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12121"/>
                </a:solidFill>
                <a:latin typeface="맑은 고딕"/>
              </a:rPr>
              <a:t>CV-B · 거리뷰 + SegFormer (CityScapes)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맑은 고딕"/>
              </a:rPr>
              <a:t>지면 시점에서 본 보행 환경을 19-class 의미 분할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5943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212121"/>
                </a:solidFill>
                <a:latin typeface="맑은 고딕"/>
              </a:rPr>
              <a:t>• Mapillary — 동작구 BBOX 4×4 분할 검색 → 1,302장 발견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212121"/>
                </a:solidFill>
                <a:latin typeface="맑은 고딕"/>
              </a:rPr>
              <a:t>• 후보 19개 격자에 nearest 매핑 → 격자당 ≤3장 다운로드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212121"/>
                </a:solidFill>
                <a:latin typeface="맑은 고딕"/>
              </a:rPr>
              <a:t>• HuggingFace SegFormer-b0 (CityScapes 19 classes pretrained)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212121"/>
                </a:solidFill>
                <a:latin typeface="맑은 고딕"/>
              </a:rPr>
              <a:t>• 핵심 클래스: building · vegetation · road · sidewalk · sky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212121"/>
                </a:solidFill>
                <a:latin typeface="맑은 고딕"/>
              </a:rPr>
              <a:t>• 선행연구: MIT Treepedia, Place Pulse 2.0 응용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645920"/>
            <a:ext cx="4846320" cy="1828800"/>
          </a:xfrm>
          <a:prstGeom prst="round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/>
            <a:r>
              <a:rPr sz="1400" b="1">
                <a:solidFill>
                  <a:srgbClr val="FFEE58"/>
                </a:solidFill>
                <a:latin typeface="맑은 고딕"/>
              </a:rPr>
              <a:t>그늘 결핍 지수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(road + sidewalk)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× (1 − building − vegetation)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3657600"/>
            <a:ext cx="4846320" cy="2103120"/>
          </a:xfrm>
          <a:prstGeom prst="roundRect">
            <a:avLst/>
          </a:prstGeom>
          <a:solidFill>
            <a:srgbClr val="FFF4E5"/>
          </a:solidFill>
          <a:ln w="19050">
            <a:solidFill>
              <a:srgbClr val="FB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/>
            <a:r>
              <a:rPr sz="1300" b="1">
                <a:solidFill>
                  <a:srgbClr val="FB8C00"/>
                </a:solidFill>
                <a:latin typeface="맑은 고딕"/>
              </a:rPr>
              <a:t>📊 결과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212121"/>
                </a:solidFill>
                <a:latin typeface="맑은 고딕"/>
              </a:rPr>
              <a:t>• TOP10 평균 deficit: 0.153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212121"/>
                </a:solidFill>
                <a:latin typeface="맑은 고딕"/>
              </a:rPr>
              <a:t>• Score 6번째 피처 통합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212121"/>
                </a:solidFill>
                <a:latin typeface="맑은 고딕"/>
              </a:rPr>
              <a:t>• 신규 시나리오: 보행환경_중시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맑은 고딕"/>
              </a:rPr>
              <a:t>동작구 여름 그늘막 최적 입지 추천 시스템 · 한영재 · 2025961227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맑은 고딕"/>
              </a:rPr>
              <a:t>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09728" cy="73152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12121"/>
                </a:solidFill>
                <a:latin typeface="맑은 고딕"/>
              </a:rPr>
              <a:t>CV-DSM · 흑석동 정밀 그림자 (강의자료 13p 추천)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맑은 고딕"/>
              </a:rPr>
              <a:t>Deep Umbra 영감 — DSM 4시점 ray-cast 누적 그림자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212121"/>
                </a:solidFill>
                <a:latin typeface="맑은 고딕"/>
              </a:rPr>
              <a:t>• 강의자료 13p 추천 논문: Deep Umbra (evl.uic.edu/shadows)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212121"/>
                </a:solidFill>
                <a:latin typeface="맑은 고딕"/>
              </a:rPr>
              <a:t>•   → GAN 기반 일조/그림자 접근성 컴퓨테이션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212121"/>
                </a:solidFill>
                <a:latin typeface="맑은 고딕"/>
              </a:rPr>
              <a:t>• 본 프로젝트: 풀 GAN 대신 DSM 실측 + 4시점 ray-cast 단순화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212121"/>
                </a:solidFill>
                <a:latin typeface="맑은 고딕"/>
              </a:rPr>
              <a:t>• DSM(표면) − DEM(지표) = nDSM(객체 높이 모델)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212121"/>
                </a:solidFill>
                <a:latin typeface="맑은 고딕"/>
              </a:rPr>
              <a:t>• 4시점 (오전 10·정오·오후 2·오후 4) shadow union → 누적 비율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212121"/>
                </a:solidFill>
                <a:latin typeface="맑은 고딕"/>
              </a:rPr>
              <a:t>• 흑석동 309격자에 적용 → 평균 누적 그림자 0.157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212121"/>
                </a:solidFill>
                <a:latin typeface="맑은 고딕"/>
              </a:rPr>
              <a:t>• NGII 흑석동 실측 건물 3,775동 (층수·HEGT) 통합 (데이터 품질 ↑)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645920"/>
            <a:ext cx="4389120" cy="4114800"/>
          </a:xfrm>
          <a:prstGeom prst="roundRect">
            <a:avLst/>
          </a:prstGeom>
          <a:solidFill>
            <a:srgbClr val="F5F8FD"/>
          </a:solidFill>
          <a:ln w="1905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/>
            <a:r>
              <a:rPr sz="1300" b="1">
                <a:solidFill>
                  <a:srgbClr val="1E88E5"/>
                </a:solidFill>
                <a:latin typeface="맑은 고딕"/>
              </a:rPr>
              <a:t>📐 처리 흐름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212121"/>
                </a:solidFill>
                <a:latin typeface="맑은 고딕"/>
              </a:rPr>
              <a:t/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212121"/>
                </a:solidFill>
                <a:latin typeface="맑은 고딕"/>
              </a:rPr>
              <a:t>1. rasterio 로 .tif 로딩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212121"/>
                </a:solidFill>
                <a:latin typeface="맑은 고딕"/>
              </a:rPr>
              <a:t>2. nDSM = DSM − DEM (&gt;0)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212121"/>
                </a:solidFill>
                <a:latin typeface="맑은 고딕"/>
              </a:rPr>
              <a:t>3. 4시점 태양위치 × ray-cast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212121"/>
                </a:solidFill>
                <a:latin typeface="맑은 고딕"/>
              </a:rPr>
              <a:t>4. shadow union / 4 → [0,1]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212121"/>
                </a:solidFill>
                <a:latin typeface="맑은 고딕"/>
              </a:rPr>
              <a:t>5. 격자 centroid 픽셀 매칭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212121"/>
                </a:solidFill>
                <a:latin typeface="맑은 고딕"/>
              </a:rPr>
              <a:t/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212121"/>
                </a:solidFill>
                <a:latin typeface="맑은 고딕"/>
              </a:rPr>
              <a:t>산출: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212121"/>
                </a:solidFill>
                <a:latin typeface="맑은 고딕"/>
              </a:rPr>
              <a:t>heukseok_shadow_accum.tif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212121"/>
                </a:solidFill>
                <a:latin typeface="맑은 고딕"/>
              </a:rPr>
              <a:t>grid_heukseok_natural.csv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맑은 고딕"/>
              </a:rPr>
              <a:t>동작구 여름 그늘막 최적 입지 추천 시스템 · 한영재 · 2025961227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맑은 고딕"/>
              </a:rPr>
              <a:t>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09728" cy="73152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12121"/>
                </a:solidFill>
                <a:latin typeface="맑은 고딕"/>
              </a:rPr>
              <a:t>OSMnx · 교차로 + 횡단보도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맑은 고딕"/>
              </a:rPr>
              <a:t>보행자가 모이는 결집 지점을 보행로 옆 추천 가중치로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212121"/>
                </a:solidFill>
                <a:latin typeface="맑은 고딕"/>
              </a:rPr>
              <a:t>• OSMnx — OpenStreetMap Overpass API Python 래퍼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212121"/>
                </a:solidFill>
                <a:latin typeface="맑은 고딕"/>
              </a:rPr>
              <a:t>• walkable highway 필터: primary~footway·pedestrian 13종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212121"/>
                </a:solidFill>
                <a:latin typeface="맑은 고딕"/>
              </a:rPr>
              <a:t>• 교차로 노드: street_count ≥ 3 (T자·X자)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212121"/>
                </a:solidFill>
                <a:latin typeface="맑은 고딕"/>
              </a:rPr>
              <a:t>• 횡단보도: 한국 OSM은 footway=crossing 패턴 우세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212121"/>
                </a:solidFill>
                <a:latin typeface="맑은 고딕"/>
              </a:rPr>
              <a:t>•   → highway·footway·crossing 3종 태그 통합 검색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212121"/>
                </a:solidFill>
                <a:latin typeface="맑은 고딕"/>
              </a:rPr>
              <a:t>• 결집지점 union → 격자별 반경 80m 내 개수 + 50m 근접 필터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212121"/>
                </a:solidFill>
                <a:latin typeface="맑은 고딕"/>
              </a:rPr>
              <a:t>• 결과: 동작구 격자 평균 2.02개 결집지점, 노량진 TOP10 진입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645920"/>
            <a:ext cx="4389120" cy="4114800"/>
          </a:xfrm>
          <a:prstGeom prst="roundRect">
            <a:avLst/>
          </a:prstGeom>
          <a:solidFill>
            <a:srgbClr val="E0F7FA"/>
          </a:solidFill>
          <a:ln w="19050">
            <a:solidFill>
              <a:srgbClr val="00A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/>
            <a:r>
              <a:rPr sz="1300" b="1">
                <a:solidFill>
                  <a:srgbClr val="00ACC1"/>
                </a:solidFill>
                <a:latin typeface="맑은 고딕"/>
              </a:rPr>
              <a:t>📍 동작구 통계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212121"/>
                </a:solidFill>
                <a:latin typeface="맑은 고딕"/>
              </a:rPr>
              <a:t/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212121"/>
                </a:solidFill>
                <a:latin typeface="맑은 고딕"/>
              </a:rPr>
              <a:t>walkable edges: 수천 개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212121"/>
                </a:solidFill>
                <a:latin typeface="맑은 고딕"/>
              </a:rPr>
              <a:t>교차로 노드: 약 1,400 (full 그래프)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212121"/>
                </a:solidFill>
                <a:latin typeface="맑은 고딕"/>
              </a:rPr>
              <a:t>횡단보도: 306개 (3종 태그)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212121"/>
                </a:solidFill>
                <a:latin typeface="맑은 고딕"/>
              </a:rPr>
              <a:t>  · highway=crossing: 179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212121"/>
                </a:solidFill>
                <a:latin typeface="맑은 고딕"/>
              </a:rPr>
              <a:t>  · footway=crossing: 126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212121"/>
                </a:solidFill>
                <a:latin typeface="맑은 고딕"/>
              </a:rPr>
              <a:t>  · 중복 제거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212121"/>
                </a:solidFill>
                <a:latin typeface="맑은 고딕"/>
              </a:rPr>
              <a:t/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212121"/>
                </a:solidFill>
                <a:latin typeface="맑은 고딕"/>
              </a:rPr>
              <a:t>흑석동 안: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212121"/>
                </a:solidFill>
                <a:latin typeface="맑은 고딕"/>
              </a:rPr>
              <a:t>  · 교차로 63 · 횡단보도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맑은 고딕"/>
              </a:rPr>
              <a:t>동작구 여름 그늘막 최적 입지 추천 시스템 · 한영재 · 2025961227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맑은 고딕"/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09728" cy="73152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12121"/>
                </a:solidFill>
                <a:latin typeface="맑은 고딕"/>
              </a:rPr>
              <a:t>시나리오 민감도 6개 + 강건 입지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맑은 고딕"/>
              </a:rPr>
              <a:t>정책 관점별 가중치 × 동일 피처셋 → TOP10 변화 추적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45920"/>
          <a:ext cx="96926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3017520"/>
                <a:gridCol w="1828800"/>
                <a:gridCol w="1828800"/>
              </a:tblGrid>
              <a:tr h="326571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시나리오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강조 가중치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최고 Score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유니크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121"/>
                          </a:solidFill>
                          <a:latin typeface="맑은 고딕"/>
                        </a:rPr>
                        <a:t>기본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121"/>
                          </a:solidFill>
                          <a:latin typeface="맑은 고딕"/>
                        </a:rPr>
                        <a:t>균형 (18/18/18)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121"/>
                          </a:solidFill>
                          <a:latin typeface="맑은 고딕"/>
                        </a:rPr>
                        <a:t>0.551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121"/>
                          </a:solidFill>
                          <a:latin typeface="맑은 고딕"/>
                        </a:rPr>
                        <a:t>0곳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121"/>
                          </a:solidFill>
                          <a:latin typeface="맑은 고딕"/>
                        </a:rPr>
                        <a:t>고령자 중시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121"/>
                          </a:solidFill>
                          <a:latin typeface="맑은 고딕"/>
                        </a:rPr>
                        <a:t>vuln 0.38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121"/>
                          </a:solidFill>
                          <a:latin typeface="맑은 고딕"/>
                        </a:rPr>
                        <a:t>0.518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121"/>
                          </a:solidFill>
                          <a:latin typeface="맑은 고딕"/>
                        </a:rPr>
                        <a:t>0곳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12121"/>
                          </a:solidFill>
                          <a:latin typeface="맑은 고딕"/>
                        </a:rPr>
                        <a:t>폭염 중시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12121"/>
                          </a:solidFill>
                          <a:latin typeface="맑은 고딕"/>
                        </a:rPr>
                        <a:t>lst 0.38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12121"/>
                          </a:solidFill>
                          <a:latin typeface="맑은 고딕"/>
                        </a:rPr>
                        <a:t>0.607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12121"/>
                          </a:solidFill>
                          <a:latin typeface="맑은 고딕"/>
                        </a:rPr>
                        <a:t>1곳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12121"/>
                          </a:solidFill>
                          <a:latin typeface="맑은 고딕"/>
                        </a:rPr>
                        <a:t>유동인구 중시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12121"/>
                          </a:solidFill>
                          <a:latin typeface="맑은 고딕"/>
                        </a:rPr>
                        <a:t>pop 0.38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12121"/>
                          </a:solidFill>
                          <a:latin typeface="맑은 고딕"/>
                        </a:rPr>
                        <a:t>0.648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12121"/>
                          </a:solidFill>
                          <a:latin typeface="맑은 고딕"/>
                        </a:rPr>
                        <a:t>3곳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12121"/>
                          </a:solidFill>
                          <a:latin typeface="맑은 고딕"/>
                        </a:rPr>
                        <a:t>보행환경 중시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12121"/>
                          </a:solidFill>
                          <a:latin typeface="맑은 고딕"/>
                        </a:rPr>
                        <a:t>streetview 0.32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12121"/>
                          </a:solidFill>
                          <a:latin typeface="맑은 고딕"/>
                        </a:rPr>
                        <a:t>0.589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12121"/>
                          </a:solidFill>
                          <a:latin typeface="맑은 고딕"/>
                        </a:rPr>
                        <a:t>0곳</a:t>
                      </a:r>
                    </a:p>
                  </a:txBody>
                  <a:tcPr/>
                </a:tc>
              </a:tr>
              <a:tr h="326574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12121"/>
                          </a:solidFill>
                          <a:latin typeface="맑은 고딕"/>
                        </a:rPr>
                        <a:t>교차로 중시 (NEW)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12121"/>
                          </a:solidFill>
                          <a:latin typeface="맑은 고딕"/>
                        </a:rPr>
                        <a:t>intersection 0.40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12121"/>
                          </a:solidFill>
                          <a:latin typeface="맑은 고딕"/>
                        </a:rPr>
                        <a:t>0.474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12121"/>
                          </a:solidFill>
                          <a:latin typeface="맑은 고딕"/>
                        </a:rPr>
                        <a:t>0곳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85800" y="4206240"/>
            <a:ext cx="10972800" cy="1828800"/>
          </a:xfrm>
          <a:prstGeom prst="roundRect">
            <a:avLst/>
          </a:prstGeom>
          <a:solidFill>
            <a:srgbClr val="FAFAFA"/>
          </a:solidFill>
          <a:ln w="3175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/>
            <a:r>
              <a:rPr sz="1500" b="1">
                <a:solidFill>
                  <a:srgbClr val="E53935"/>
                </a:solidFill>
                <a:latin typeface="맑은 고딕"/>
              </a:rPr>
              <a:t>⭐ 강건 입지 — 6개 시나리오 모두 공통 추천</a:t>
            </a:r>
          </a:p>
          <a:p>
            <a:pPr algn="ctr">
              <a:spcBef>
                <a:spcPts val="800"/>
              </a:spcBef>
            </a:pPr>
            <a:r>
              <a:rPr sz="1700" b="1">
                <a:solidFill>
                  <a:srgbClr val="212121"/>
                </a:solidFill>
                <a:latin typeface="맑은 고딕"/>
              </a:rPr>
              <a:t>동작대로 사당-이수 축 #1 (37.4907, 126.9647) · #2 (37.4898, 126.9670)</a:t>
            </a:r>
          </a:p>
          <a:p>
            <a:pPr algn="ctr">
              <a:spcBef>
                <a:spcPts val="600"/>
              </a:spcBef>
            </a:pPr>
            <a:r>
              <a:rPr sz="1200" b="0">
                <a:solidFill>
                  <a:srgbClr val="555555"/>
                </a:solidFill>
                <a:latin typeface="맑은 고딕"/>
              </a:rPr>
              <a:t>→ 예산 제약 시 최우선 설치 대상 (정책 관점 불변)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맑은 고딕"/>
              </a:rPr>
              <a:t>동작구 여름 그늘막 최적 입지 추천 시스템 · 한영재 · 2025961227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맑은 고딕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09728" cy="73152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12121"/>
                </a:solidFill>
                <a:latin typeface="맑은 고딕"/>
              </a:rPr>
              <a:t>1차 발표 3대 집중구역 정량 검증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맑은 고딕"/>
              </a:rPr>
              <a:t>사전 선정한 후보 구역을 알고리즘이 얼마나 재현했는가?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645920"/>
          <a:ext cx="11430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822960"/>
                <a:gridCol w="2468880"/>
                <a:gridCol w="1280160"/>
                <a:gridCol w="4297680"/>
              </a:tblGrid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구역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판정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반경 내 TOP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최근접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해석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121"/>
                          </a:solidFill>
                          <a:latin typeface="맑은 고딕"/>
                        </a:rPr>
                        <a:t>노량진역-수산시장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121"/>
                          </a:solidFill>
                          <a:latin typeface="맑은 고딕"/>
                        </a:rP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121"/>
                          </a:solidFill>
                          <a:latin typeface="맑은 고딕"/>
                        </a:rPr>
                        <a:t>2곳 (TOP6, TOP9)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121"/>
                          </a:solidFill>
                          <a:latin typeface="맑은 고딕"/>
                        </a:rPr>
                        <a:t>159m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121"/>
                          </a:solidFill>
                          <a:latin typeface="맑은 고딕"/>
                        </a:rPr>
                        <a:t>횡단보도 통합으로 신규 진입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121"/>
                          </a:solidFill>
                          <a:latin typeface="맑은 고딕"/>
                        </a:rPr>
                        <a:t>사당역-이수역 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121"/>
                          </a:solidFill>
                          <a:latin typeface="맑은 고딕"/>
                        </a:rP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121"/>
                          </a:solidFill>
                          <a:latin typeface="맑은 고딕"/>
                        </a:rPr>
                        <a:t>4곳 (TOP1·2·4·5)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121"/>
                          </a:solidFill>
                          <a:latin typeface="맑은 고딕"/>
                        </a:rPr>
                        <a:t>253m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121"/>
                          </a:solidFill>
                          <a:latin typeface="맑은 고딕"/>
                        </a:rPr>
                        <a:t>환승 대기 + 오후 열스트레스 최상위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121"/>
                          </a:solidFill>
                          <a:latin typeface="맑은 고딕"/>
                        </a:rPr>
                        <a:t>상도로 주거축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121"/>
                          </a:solidFill>
                          <a:latin typeface="맑은 고딕"/>
                        </a:rPr>
                        <a:t>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121"/>
                          </a:solidFill>
                          <a:latin typeface="맑은 고딕"/>
                        </a:rPr>
                        <a:t>0곳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121"/>
                          </a:solidFill>
                          <a:latin typeface="맑은 고딕"/>
                        </a:rPr>
                        <a:t>1,516m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121"/>
                          </a:solidFill>
                          <a:latin typeface="맑은 고딕"/>
                        </a:rPr>
                        <a:t>보행로 5m 강화 후 후보 줄어듦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438912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맑은 고딕"/>
              </a:rPr>
              <a:t>💡 노량진역-수산시장이 처음으로 TOP10 진입 — OSMnx 횡단보도(footway=crossing) 다중 태그 검색의 직접적 효과.
사당-이수 환승 축은 모든 변화에도 흔들리지 않는 강건 입지 #1·#2 차지.
상도로는 1차 발표 때 ✓였으나 보행로 필터 5m 강화로 컷 — 정책적 재검토 필요.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맑은 고딕"/>
              </a:rPr>
              <a:t>동작구 여름 그늘막 최적 입지 추천 시스템 · 한영재 · 2025961227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맑은 고딕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09728" cy="73152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12121"/>
                </a:solidFill>
                <a:latin typeface="맑은 고딕"/>
              </a:rPr>
              <a:t>흑석동 — 실측 그늘막 18개 vs 신규 추천 TOP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맑은 고딕"/>
              </a:rPr>
              <a:t>사용자 제공 실데이터로 사각지대·보강 후보 정량 비교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554480"/>
          <a:ext cx="56692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188720"/>
                <a:gridCol w="1371600"/>
                <a:gridCol w="2286000"/>
              </a:tblGrid>
              <a:tr h="374072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Rank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score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기존그늘막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분류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TOP1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+0.276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45.7m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● 보강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TOP2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+0.231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44.4m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● 보강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TOP3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+0.134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322.9m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⭐ 사각지대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TOP4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+0.107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359.6m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⭐ 사각지대 (최대)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TOP5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+0.100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234.8m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⭐ 사각지대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TOP6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+0.072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98.5m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○ 중간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TOP7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+0.068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51.0m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● 보강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TOP8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+0.057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153.8m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⭐ 사각지대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TOP9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+0.016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70.0m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○ 중간</a:t>
                      </a:r>
                    </a:p>
                  </a:txBody>
                  <a:tcPr/>
                </a:tc>
              </a:tr>
              <a:tr h="37408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TOP10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−0.008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29.2m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121"/>
                          </a:solidFill>
                          <a:latin typeface="맑은 고딕"/>
                        </a:rPr>
                        <a:t>● 보강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126480" y="1554480"/>
            <a:ext cx="5669280" cy="2011680"/>
          </a:xfrm>
          <a:prstGeom prst="roundRect">
            <a:avLst/>
          </a:prstGeom>
          <a:solidFill>
            <a:srgbClr val="FFF4E5"/>
          </a:solidFill>
          <a:ln w="254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/>
            <a:r>
              <a:rPr sz="1400" b="1">
                <a:solidFill>
                  <a:srgbClr val="E53935"/>
                </a:solidFill>
                <a:latin typeface="맑은 고딕"/>
              </a:rPr>
              <a:t>⭐ 사각지대 4곳 — 정책 어필 포인트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212121"/>
                </a:solidFill>
                <a:latin typeface="맑은 고딕"/>
              </a:rPr>
              <a:t>• TOP4 (37.49786, 126.96129) — 최대 359.6m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212121"/>
                </a:solidFill>
                <a:latin typeface="맑은 고딕"/>
              </a:rPr>
              <a:t>• TOP3 (37.49874, 126.95789) — 322.9m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212121"/>
                </a:solidFill>
                <a:latin typeface="맑은 고딕"/>
              </a:rPr>
              <a:t>• TOP5 (37.51138, 126.96120) — 234.8m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212121"/>
                </a:solidFill>
                <a:latin typeface="맑은 고딕"/>
              </a:rPr>
              <a:t>• TOP8 (37.50328, 126.96465) — 153.8m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3749039"/>
            <a:ext cx="5669280" cy="1828800"/>
          </a:xfrm>
          <a:prstGeom prst="roundRect">
            <a:avLst/>
          </a:prstGeom>
          <a:solidFill>
            <a:srgbClr val="F5F8FD"/>
          </a:solidFill>
          <a:ln w="254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/>
            <a:r>
              <a:rPr sz="1400" b="1">
                <a:solidFill>
                  <a:srgbClr val="1E88E5"/>
                </a:solidFill>
                <a:latin typeface="맑은 고딕"/>
              </a:rPr>
              <a:t>📊 흑석동 데이터 자체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212121"/>
                </a:solidFill>
                <a:latin typeface="맑은 고딕"/>
              </a:rPr>
              <a:t>• 실측 그늘막 18개 (고정형 13 + 스마트형 5)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212121"/>
                </a:solidFill>
                <a:latin typeface="맑은 고딕"/>
              </a:rPr>
              <a:t>• NGII 건물 3,775동 + DSM 4시점 누적 그림자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212121"/>
                </a:solidFill>
                <a:latin typeface="맑은 고딕"/>
              </a:rPr>
              <a:t>• 그늘막이 흑석동 75% 영역 커버 — 정책: 다른 동 우선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맑은 고딕"/>
              </a:rPr>
              <a:t>동작구 여름 그늘막 최적 입지 추천 시스템 · 한영재 · 2025961227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맑은 고딕"/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09728" cy="73152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12121"/>
                </a:solidFill>
                <a:latin typeface="맑은 고딕"/>
              </a:rPr>
              <a:t>예산 제약 최적화 (Budget-Constrained Knapsack)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맑은 고딕"/>
              </a:rPr>
              <a:t>예산 N원 = 그늘막 K개 = 어디? 정책 결정에 직접 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6858000" cy="1828800"/>
          </a:xfrm>
          <a:prstGeom prst="round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/>
            <a:r>
              <a:rPr sz="1800" b="1">
                <a:solidFill>
                  <a:srgbClr val="FFEE58"/>
                </a:solidFill>
                <a:latin typeface="맑은 고딕"/>
              </a:rPr>
              <a:t>max Σ score_i × x_i</a:t>
            </a: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FFFFFF"/>
                </a:solidFill>
                <a:latin typeface="맑은 고딕"/>
              </a:rPr>
              <a:t>subject to:</a:t>
            </a: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FFFFFF"/>
                </a:solidFill>
                <a:latin typeface="맑은 고딕"/>
              </a:rPr>
              <a:t>  Σ cost_i × x_i ≤ 예산</a:t>
            </a: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FFFFFF"/>
                </a:solidFill>
                <a:latin typeface="맑은 고딕"/>
              </a:rPr>
              <a:t>  x_i + x_j ≤ 1   if dist(i,j) &lt; 200m</a:t>
            </a: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FFFFFF"/>
                </a:solidFill>
                <a:latin typeface="맑은 고딕"/>
              </a:rPr>
              <a:t>  x_i ∈ {0, 1}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657600"/>
            <a:ext cx="6858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212121"/>
                </a:solidFill>
                <a:latin typeface="맑은 고딕"/>
              </a:rPr>
              <a:t>• PuLP 정수 선형계획법 (CBC 솔버)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212121"/>
                </a:solidFill>
                <a:latin typeface="맑은 고딕"/>
              </a:rPr>
              <a:t>• 후보 풀: 필터 통과 격자 score 상위 50개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212121"/>
                </a:solidFill>
                <a:latin typeface="맑은 고딕"/>
              </a:rPr>
              <a:t>• 예산: 4,000만원 / 그늘막 단가: 800만원 → 최대 5개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212121"/>
                </a:solidFill>
                <a:latin typeface="맑은 고딕"/>
              </a:rPr>
              <a:t>• 공간 분산 제약: 선정 격자 간 ≥ 200m 이격 (29쌍 제약)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212121"/>
                </a:solidFill>
                <a:latin typeface="맑은 고딕"/>
              </a:rPr>
              <a:t>• 결과: status=Optimal, 5개 선정, 총 score 1.852, 예산 100% 사용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645920"/>
            <a:ext cx="4023360" cy="4114800"/>
          </a:xfrm>
          <a:prstGeom prst="roundRect">
            <a:avLst/>
          </a:prstGeom>
          <a:solidFill>
            <a:srgbClr val="FFF4E5"/>
          </a:solidFill>
          <a:ln w="254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/>
            <a:r>
              <a:rPr sz="1300" b="1">
                <a:solidFill>
                  <a:srgbClr val="E53935"/>
                </a:solidFill>
                <a:latin typeface="맑은 고딕"/>
              </a:rPr>
              <a:t>🎯 선정 5곳 (분산 균형)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212121"/>
                </a:solidFill>
                <a:latin typeface="맑은 고딕"/>
              </a:rPr>
              <a:t/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212121"/>
                </a:solidFill>
                <a:latin typeface="맑은 고딕"/>
              </a:rPr>
              <a:t>#1 (37.490, 126.964) s=0.466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212121"/>
                </a:solidFill>
                <a:latin typeface="맑은 고딕"/>
              </a:rPr>
              <a:t>    이수역 인근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212121"/>
                </a:solidFill>
                <a:latin typeface="맑은 고딕"/>
              </a:rPr>
              <a:t>#2 (37.493, 126.962) s=0.363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212121"/>
                </a:solidFill>
                <a:latin typeface="맑은 고딕"/>
              </a:rPr>
              <a:t>    이수 북쪽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212121"/>
                </a:solidFill>
                <a:latin typeface="맑은 고딕"/>
              </a:rPr>
              <a:t>#3 (37.491, 126.968) s=0.359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212121"/>
                </a:solidFill>
                <a:latin typeface="맑은 고딕"/>
              </a:rPr>
              <a:t>    사당역 동쪽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212121"/>
                </a:solidFill>
                <a:latin typeface="맑은 고딕"/>
              </a:rPr>
              <a:t>#4 (37.486, 126.967) s=0.333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212121"/>
                </a:solidFill>
                <a:latin typeface="맑은 고딕"/>
              </a:rPr>
              <a:t>    사당역 남쪽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212121"/>
                </a:solidFill>
                <a:latin typeface="맑은 고딕"/>
              </a:rPr>
              <a:t>#5 (37.513, 126.944) s=0.331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212121"/>
                </a:solidFill>
                <a:latin typeface="맑은 고딕"/>
              </a:rPr>
              <a:t>    노량진역 인근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맑은 고딕"/>
              </a:rPr>
              <a:t>동작구 여름 그늘막 최적 입지 추천 시스템 · 한영재 · 2025961227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맑은 고딕"/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09728" cy="73152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12121"/>
                </a:solidFill>
                <a:latin typeface="맑은 고딕"/>
              </a:rPr>
              <a:t>인터랙티브 대시보드 (Streamlit)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맑은 고딕"/>
              </a:rPr>
              <a:t>가중치 슬라이더 → TOP 10 실시간 재계산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5943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0">
                <a:solidFill>
                  <a:srgbClr val="212121"/>
                </a:solidFill>
                <a:latin typeface="맑은 고딕"/>
              </a:rPr>
              <a:t>• `streamlit run app.py` → http://localhost:8501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12121"/>
                </a:solidFill>
                <a:latin typeface="맑은 고딕"/>
              </a:rPr>
              <a:t>• 사이드바: 시나리오 프리셋 + 7개 가중치 슬라이더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12121"/>
                </a:solidFill>
                <a:latin typeface="맑은 고딕"/>
              </a:rPr>
              <a:t>• 본문: Folium 지도 임베드 + TOP 10 표 + 통계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12121"/>
                </a:solidFill>
                <a:latin typeface="맑은 고딕"/>
              </a:rPr>
              <a:t>• 캐싱: @st.cache_resource 로 격자·피처 1회 계산,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12121"/>
                </a:solidFill>
                <a:latin typeface="맑은 고딕"/>
              </a:rPr>
              <a:t>•   슬라이더 조작은 가중합 재계산만 (밀리초 반응)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12121"/>
                </a:solidFill>
                <a:latin typeface="맑은 고딕"/>
              </a:rPr>
              <a:t>• 발표 현장 "vuln 더 올리면?" 질문에 즉답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0" y="1645920"/>
            <a:ext cx="4846320" cy="4114800"/>
          </a:xfrm>
          <a:prstGeom prst="rect">
            <a:avLst/>
          </a:prstGeom>
          <a:solidFill>
            <a:srgbClr val="EEEEEE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555555"/>
                </a:solidFill>
                <a:latin typeface="맑은 고딕"/>
              </a:rPr>
              <a:t>📷 Streamlit 대시보드 스크린샷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맑은 고딕"/>
              </a:rPr>
              <a:t>동작구 여름 그늘막 최적 입지 추천 시스템 · 한영재 · 2025961227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맑은 고딕"/>
              </a:rP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09728" cy="73152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12121"/>
                </a:solidFill>
                <a:latin typeface="맑은 고딕"/>
              </a:rPr>
              <a:t>한계 · 다음 단계 · 한 줄 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54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53935"/>
                </a:solidFill>
                <a:latin typeface="맑은 고딕"/>
              </a:rPr>
              <a:t>현재 한계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11680"/>
            <a:ext cx="5943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212121"/>
                </a:solidFill>
                <a:latin typeface="맑은 고딕"/>
              </a:rPr>
              <a:t>• 5종 기본 데이터 중 4종 더미 (파이프라인은 자동 전환)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212121"/>
                </a:solidFill>
                <a:latin typeface="맑은 고딕"/>
              </a:rPr>
              <a:t>• LST 래스터 직접 파싱 미연결 (Landsat ST_B10)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212121"/>
                </a:solidFill>
                <a:latin typeface="맑은 고딕"/>
              </a:rPr>
              <a:t>• SAM 추출 건물에 추정 높이 부여 (NGII는 실측)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212121"/>
                </a:solidFill>
                <a:latin typeface="맑은 고딕"/>
              </a:rPr>
              <a:t>• 예산·단가는 더미 800만원/개 (실 단가 확보 시 교체)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1554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88E5"/>
                </a:solidFill>
                <a:latin typeface="맑은 고딕"/>
              </a:rPr>
              <a:t>다음 단계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011680"/>
            <a:ext cx="5029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212121"/>
                </a:solidFill>
                <a:latin typeface="맑은 고딕"/>
              </a:rPr>
              <a:t>• 서울 열린데이터광장 API 연결 (P0)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212121"/>
                </a:solidFill>
                <a:latin typeface="맑은 고딕"/>
              </a:rPr>
              <a:t>• 동작구 전 동 실측 그늘막 (흑석동만 18개 확보)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212121"/>
                </a:solidFill>
                <a:latin typeface="맑은 고딕"/>
              </a:rPr>
              <a:t>• Streamlit 슬라이더에 시각화 다양화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212121"/>
                </a:solidFill>
                <a:latin typeface="맑은 고딕"/>
              </a:rPr>
              <a:t>• 타 자치구 확장 (BBOX 교체로 재사용)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4937760"/>
            <a:ext cx="10972800" cy="1280160"/>
          </a:xfrm>
          <a:prstGeom prst="round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/>
            <a:r>
              <a:rPr sz="1700" b="1">
                <a:solidFill>
                  <a:srgbClr val="FFEE58"/>
                </a:solidFill>
                <a:latin typeface="맑은 고딕"/>
              </a:rPr>
              <a:t>항공사진·거리뷰·DSM·도로망·실측 그늘막을 컴퓨터비전·GIS로 통합</a:t>
            </a:r>
          </a:p>
          <a:p>
            <a:pPr algn="ctr">
              <a:spcBef>
                <a:spcPts val="600"/>
              </a:spcBef>
            </a:pPr>
            <a:r>
              <a:rPr sz="1400" b="1">
                <a:solidFill>
                  <a:srgbClr val="FFFFFF"/>
                </a:solidFill>
                <a:latin typeface="맑은 고딕"/>
              </a:rPr>
              <a:t>→ 6 시나리오 모두에서 살아남는 강건 입지 2곳 + 흑석동 사각지대 4곳 도출</a:t>
            </a:r>
          </a:p>
          <a:p>
            <a:pPr algn="ctr">
              <a:spcBef>
                <a:spcPts val="400"/>
              </a:spcBef>
            </a:pPr>
            <a:r>
              <a:rPr sz="1100" b="0">
                <a:solidFill>
                  <a:srgbClr val="CCCCCC"/>
                </a:solidFill>
                <a:latin typeface="맑은 고딕"/>
              </a:rPr>
              <a:t>SAM + SegFormer + Deep Umbra(DSM) + OSMnx + NGII + 실측 그늘막 + MCDA + Knapsack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맑은 고딕"/>
              </a:rPr>
              <a:t>동작구 여름 그늘막 최적 입지 추천 시스템 · 한영재 · 2025961227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맑은 고딕"/>
              </a:rPr>
              <a:t>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
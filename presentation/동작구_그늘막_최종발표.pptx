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동작구 여름 그늘막 최적 입지 추천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BBBBB"/>
                </a:solidFill>
                <a:latin typeface="맑은 고딕"/>
              </a:rPr>
              <a:t>채권 트레이더의 다변수 최적화 방법론을 도시 공간 데이터에 이식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840480"/>
            <a:ext cx="1828800" cy="508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  <a:latin typeface="맑은 고딕"/>
              </a:rPr>
              <a:t>데이터기반 도시설계 · 기말 프로젝트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맑은 고딕"/>
              </a:rPr>
              <a:t>한영재 / 인공지능융합대학원 인공지능컴퓨팅 /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2026년 4월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문제 정의 ·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어디에 설치할 것인가 — 민원·직관이 아닌 데이터의 논리로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그늘막은 유한한 예산 → 어느 격자에 설치해야 '폭염 스트레스 × 유동인구 × 취약계층' 효용이 최대인가?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기존 방식: 민원 기반 · 담당자 직관 → 공간적 편향, 이미 커버된 곳 중복 설치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12121"/>
                </a:solidFill>
                <a:latin typeface="맑은 고딕"/>
              </a:rPr>
              <a:t>• 제안: 다변수 가중합 + 공간 필터 + 시나리오 민감도 + 자연그늘까지 반영한 입지 추천 파이프라인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0972800" cy="210312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 wrap="square"/>
          <a:lstStyle/>
          <a:p>
            <a:pPr algn="l"/>
            <a:r>
              <a:rPr sz="2000" b="1">
                <a:solidFill>
                  <a:srgbClr val="1E88E5"/>
                </a:solidFill>
                <a:latin typeface="맑은 고딕"/>
              </a:rPr>
              <a:t>채권 트레이더 관점의 다변수 최적화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피처 = 채권의 수익률 곡선 요인 · 격자 = 포트폴리오 후보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가중합 + 제약조건(보행로·기존그늘막) = 리스크 예산 내 최적 포지션</a:t>
            </a: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212121"/>
                </a:solidFill>
                <a:latin typeface="맑은 고딕"/>
              </a:rPr>
              <a:t>• 시나리오 민감도 = 금리 시나리오 스트레스 테스트와 동형(同形)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파이프라인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격자 생성 → 스코어 → 필터 → 시나리오 → LLM 근거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555555"/>
                </a:solidFill>
                <a:latin typeface="맑은 고딕"/>
              </a:rPr>
              <a:t>STEP 0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동작구 100m 격자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cells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33756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1E88E5"/>
                </a:solidFill>
                <a:latin typeface="맑은 고딕"/>
              </a:rPr>
              <a:t>STEP 1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스코어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pop·lst·vuln(+) −shade·natural(−)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시간대 가중 9~18시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FB8C00"/>
                </a:solidFill>
                <a:latin typeface="맑은 고딕"/>
              </a:rPr>
              <a:t>STEP 2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필터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보행로 20m 이내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기존그늘막 150m 외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3,672 → 23 → 19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06840" y="3291840"/>
            <a:ext cx="22860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89720" y="2011680"/>
            <a:ext cx="2697480" cy="292608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200" b="1">
                <a:solidFill>
                  <a:srgbClr val="E53935"/>
                </a:solidFill>
                <a:latin typeface="맑은 고딕"/>
              </a:rPr>
              <a:t>STEP 3</a:t>
            </a:r>
          </a:p>
          <a:p>
            <a:pPr>
              <a:spcBef>
                <a:spcPts val="400"/>
              </a:spcBef>
            </a:pPr>
            <a:r>
              <a:rPr sz="2200" b="1">
                <a:solidFill>
                  <a:srgbClr val="212121"/>
                </a:solidFill>
                <a:latin typeface="맑은 고딕"/>
              </a:rPr>
              <a:t>시나리오+LLM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4개 프리셋 × TOP10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55555"/>
                </a:solidFill>
                <a:latin typeface="맑은 고딕"/>
              </a:rPr>
              <a:t>LLM 자연어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맑은 고딕"/>
              </a:rPr>
              <a:t>산출물: shade_map.html · scenarios_map.html · rationales.json · scenarios_comparison.csv · focus_areas_validation.json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입력 데이터 5종 · 시간대 가중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실데이터 ↔ 더미 자동 스위칭 / 역세권·시장 프로파일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457200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시간 프로파일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생활인구 (SKT)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역세권=출퇴근 / 시장=오후 피크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지표면 온도 LST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서울연구원 Landsat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오후 1~3시 1.0 (피크 가중)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취약계층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KOSIS 동별 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상수 (연령 구조)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서울 열린데이터광장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반경 150m 제외 (커버리지)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인도·횡단보도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국가공간정보포털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폭 ≥ 2m / 20m 이내 강제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⚙ data/raw/*.csv·geojson 배치 시 data_loader.py가 자동 전환 → 현재는 동작구 실제 거점(역세권·시장·주거축) 기반 더미 데이터로 파이프라인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알고리즘 · Score 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MinMax 정규화 후 가중합 (음수 가중치 = 페널티)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0972800" cy="146304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Score = 0.22·popdens + 0.22·lst + 0.18·vuln</a:t>
            </a:r>
          </a:p>
          <a:p>
            <a:pPr algn="ctr"/>
            <a:r>
              <a:rPr sz="1600" b="1">
                <a:solidFill>
                  <a:srgbClr val="FFEE58"/>
                </a:solidFill>
                <a:latin typeface="맑은 고딕"/>
              </a:rPr>
              <a:t>− 0.15·shade − 0.05·natural + 0.13·streetview_deficit + 0.10·intersection_density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832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popdens (+0.22) — 시간대 가중 유동인구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lst (+0.22) — 지표면 온도, 오후 피크 가중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vuln (+0.18) — 고령자·어린이 비율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shade (−0.15) — 기존 그늘막 커버리지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natural (−0.05) — CV-A SAM 건물 + NGII 3,775동 + 흑석동 DSM 누적 (Deep Umbra)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streetview_deficit (+0.13) — CV-B SegFormer 거리뷰 그늘 결핍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intersection_density (+0.10) — OSMnx walkable highway 교차로 밀도 (NEW)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88E5"/>
                </a:solidFill>
                <a:latin typeface="맑은 고딕"/>
              </a:rPr>
              <a:t>🎚 Streamlit 대시보드에서 슬라이더로 실시간 조정 가능 · 시나리오별 프리셋 4종 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공간 필터링 ·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보행로·횡단보도 강제 제약으로 강변/건물 후보 원천 제외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560320" cy="20116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3,672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전체 격자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560320" cy="2011680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23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보행로 20m 이내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28800"/>
            <a:ext cx="2560320" cy="20116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19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기존그늘막 제외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28800"/>
            <a:ext cx="2560320" cy="20116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10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최종 추천 (TOP 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114800"/>
            <a:ext cx="10972800" cy="210312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shade_map.html — 기본 시나리오 TOP 10 지도 캡처 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자연 그늘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건물 footprint + 오후 3시 태양위치 → 격자별 그림자 커버 비율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태양 위치: 서울 7월 말 오후 3시 · 고도 52° · 방위 252°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그림자 = 건물 footprint ∪ 태양반대방향 평행이동의 convex hull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격자별 자연그늘 면적 / 격자 면적 → [0,1] natural 피처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외부 라이브러리 없이 shapely.affinity.translate 로 직접 계산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건물 입력은 다음 슬라이드의 CV-A로 자동 교체됨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737360"/>
            <a:ext cx="41148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건물 + 그림자 시각화
(선택)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CV-A · 위성 항공사진 + Mobile-SAM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딥러닝 zero-shot segmentation으로 동작구 건물 자동 추출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V-World WMTS z=15 항공사진 → 동작구 BBOX 48 타일 합성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Mobile-SAM (Meta, 2023) — 40MB 경량 SAM, CPU 추론 가능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필터: 면적 200~30k px², 종횡비 0.2~5, 평균 밝기 80~220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결과: 더미 19동 → 실측 30동 자동 추출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픽셀 → EPSG:3857 → WGS84 polygon 변환 → buildings.geojson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파이프라인 첫 실행 시 자동 1회, 이후 캐시 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846320" cy="4114800"/>
          </a:xfrm>
          <a:prstGeom prst="roundRect">
            <a:avLst/>
          </a:prstGeom>
          <a:solidFill>
            <a:srgbClr val="F5F8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400" b="1">
                <a:solidFill>
                  <a:srgbClr val="1E88E5"/>
                </a:solidFill>
                <a:latin typeface="맑은 고딕"/>
              </a:rPr>
              <a:t>📁 output/cv_buildings_overlay.png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위성 이미지 (2048×1536)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+ SAM 마스크 노란색 오버레이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+ 추출 polygon 녹색 외곽선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/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30동 분포: 노량진·사당·이수·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212121"/>
                </a:solidFill>
                <a:latin typeface="맑은 고딕"/>
              </a:rPr>
              <a:t>상도로·장승배기·흑석동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CV-B · 거리뷰 + SegFormer (CityScapes)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지면 시점에서 본 보행 환경을 19-class 의미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Mapillary 거리뷰 — 동작구 BBOX 4×4 분할 검색 → 1,302장 발견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후보 19개 격자에 nearest 매핑 → 격자당 ≤3장 다운로드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HuggingFace SegFormer-b0 (CityScapes 19 classes pretrained)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주요 클래스: building · vegetation · road · sidewalk · sky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Treepedia(MIT)·Place Pulse 류 선행연구의 그늘막 응용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37360"/>
            <a:ext cx="4846320" cy="182880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400" b="1">
                <a:solidFill>
                  <a:srgbClr val="FFEE58"/>
                </a:solidFill>
                <a:latin typeface="맑은 고딕"/>
              </a:rPr>
              <a:t>그늘 결핍 지수</a:t>
            </a:r>
          </a:p>
          <a:p>
            <a:pPr algn="ctr"/>
            <a:r>
              <a:rPr sz="1200" b="0">
                <a:solidFill>
                  <a:srgbClr val="CCCCCC"/>
                </a:solidFill>
                <a:latin typeface="맑은 고딕"/>
              </a:rPr>
              <a:t>deficit =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(road + sidewalk)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× (1 − building − vegetation)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749039"/>
            <a:ext cx="4846320" cy="2103120"/>
          </a:xfrm>
          <a:prstGeom prst="roundRect">
            <a:avLst/>
          </a:prstGeom>
          <a:solidFill>
            <a:srgbClr val="FFF4E5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400" b="1">
                <a:solidFill>
                  <a:srgbClr val="FB8C00"/>
                </a:solidFill>
                <a:latin typeface="맑은 고딕"/>
              </a:rPr>
              <a:t>📊 결과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TOP10 평균 deficit: 0.190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Score 식 6번째 피처 통합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맑은 고딕"/>
              </a:rPr>
              <a:t>• 강건 입지 +1: 흑석동 (CV-B 부각)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시나리오 민감도 분석 (5개 프리셋)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정책 관점별 가중치 × 동일 피처셋 → TOP 10 변화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3736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1828800"/>
                <a:gridCol w="274320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강조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최고 Score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유니크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균형 (22/22/18)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0.551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vuln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0.518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폭염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lst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1곳 독점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유동인구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pop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3곳 독점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보행환경 중시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streetview_deficit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0.589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  <a:tr h="3918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교차로 중시 (NEW)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intersection_density 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0.462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맑은 고딕"/>
              </a:rPr>
              <a:t>💡 CV-B 통합으로 "보행환경 중시" 시나리오 신규 추가 → 정책 검증 차원이 한 단계 늘어남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🎯 5가지 관점 모두에서 공통 추천되는 입지가 존재 (다음 슬라이드)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강건 입지 · Robust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5개 시나리오 공통 추천 = 어떤 정책 관점에서도 필수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828800"/>
            <a:ext cx="3657600" cy="292608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/>
            <a:r>
              <a:rPr sz="1600" b="1">
                <a:solidFill>
                  <a:srgbClr val="E53935"/>
                </a:solidFill>
                <a:latin typeface="맑은 고딕"/>
              </a:rPr>
              <a:t>#1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동작대로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사당-이수 축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37.4907, 126.9647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28800"/>
            <a:ext cx="3657600" cy="2926080"/>
          </a:xfrm>
          <a:prstGeom prst="roundRect">
            <a:avLst/>
          </a:prstGeom>
          <a:solidFill>
            <a:srgbClr val="FAFAFA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/>
            <a:r>
              <a:rPr sz="1600" b="1">
                <a:solidFill>
                  <a:srgbClr val="E53935"/>
                </a:solidFill>
                <a:latin typeface="맑은 고딕"/>
              </a:rPr>
              <a:t>#2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212121"/>
                </a:solidFill>
                <a:latin typeface="맑은 고딕"/>
              </a:rPr>
              <a:t>동작대로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rgbClr val="555555"/>
                </a:solidFill>
                <a:latin typeface="맑은 고딕"/>
              </a:rPr>
              <a:t>사당역 인근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555555"/>
                </a:solidFill>
                <a:latin typeface="맑은 고딕"/>
              </a:rPr>
              <a:t>37.4898, 126.9670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E88E5"/>
                </a:solidFill>
                <a:latin typeface="맑은 고딕"/>
              </a:rPr>
              <a:t>정책적 함의: 예산 제약 시 이 2곳이 최우선 설치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맑은 고딕"/>
              </a:rPr>
              <a:t>6 시나리오(+ 교차로_중시) 모두 통과 → 검증 차원 한 단계 더 엄격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1차 발표자료 3대 집중구역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사전 선정한 후보 구역을 알고리즘이 얼마나 재현했는가?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2286000"/>
                <a:gridCol w="1371600"/>
                <a:gridCol w="411480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구역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반경 내 TOP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최근접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해설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노량진역-수산시장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8C00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0곳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1,355m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기존 그늘막 선배치 → 페널티 작동 (의도대로)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사당역-이수역 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2곳 (TOP1·TOP2)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167m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환승 대기 + 오후 열스트레스 최상위</a:t>
                      </a:r>
                    </a:p>
                  </a:txBody>
                  <a:tcPr/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상도로 주거축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88E5"/>
                          </a:solidFill>
                          <a:latin typeface="맑은 고딕"/>
                        </a:rP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3곳 (TOP5~7)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66m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12121"/>
                          </a:solidFill>
                          <a:latin typeface="맑은 고딕"/>
                        </a:rPr>
                        <a:t>고령자 비율 + 자연그늘 부족 이중 반영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12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맑은 고딕"/>
              </a:rPr>
              <a:t>💡 노량진 '0곳'은 실패가 아님: 더미 데이터에서 기존 그늘막을 노량진 보행로에 우선 배치한 결과,
'기존 그늘막 반경 150m 외' 제약으로 자연스럽게 후순위로 밀린 것. 이미 커버된 곳은 제외하는 알고리즘이 의도대로 작동한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인터랙티브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맑은 고딕"/>
              </a:rPr>
              <a:t>가중치 슬라이더 → TOP 10 실시간 재계산 (Streamlit)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`streamlit run app.py` 로 기동 → http://localhost:8501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사이드바: 시나리오 프리셋 드롭다운 + 5개 가중치 슬라이더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본문: Folium 지도 임베드 + TOP 10 표 + 통계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캐싱: @st.cache_resource 로 격자·피처는 1회 계산,
  슬라이더 조작은 가중합 재계산만 (밀리초 반응)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12121"/>
                </a:solidFill>
                <a:latin typeface="맑은 고딕"/>
              </a:rPr>
              <a:t>• 발표 현장에서 "만약 vuln을 더 높이면?" 질문에 즉답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737360"/>
            <a:ext cx="5029200" cy="4114800"/>
          </a:xfrm>
          <a:prstGeom prst="rect">
            <a:avLst/>
          </a:prstGeom>
          <a:solidFill>
            <a:srgbClr val="EEEEEE"/>
          </a:solidFill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55555"/>
                </a:solidFill>
                <a:latin typeface="맑은 고딕"/>
              </a:rPr>
              <a:t>📷 app.py 대시보드
스크린샷 배치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09728" cy="7315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12121"/>
                </a:solidFill>
                <a:latin typeface="맑은 고딕"/>
              </a:rPr>
              <a:t>한계 · 다음 단계 · 한 줄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53935"/>
                </a:solidFill>
                <a:latin typeface="맑은 고딕"/>
              </a:rPr>
              <a:t>현재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943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5종 데이터 모두 더미 (파이프라인 자체는 실데이터 자동 전환)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LST 래스터 직접 파싱 미연결 (Landsat ST_B10)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건물 footprint 더미 19개 → 실 shp 확보 시 교체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예산 제약 미반영 (K개 최적 조합 = 배낭 문제)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88E5"/>
                </a:solidFill>
                <a:latin typeface="맑은 고딕"/>
              </a:rPr>
              <a:t>다음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서울 열린데이터광장 API 연결 (P0)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국가공간정보포털 도로대장 shp (인도 폭)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격자 스코어 parquet 캐싱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  <a:latin typeface="맑은 고딕"/>
              </a:rPr>
              <a:t>• 타 자치구 확장 (BBOX 교체만으로 재사용)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937760"/>
            <a:ext cx="10972800" cy="1280160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항공사진과 거리뷰까지 컴퓨터 비전으로 읽어내,</a:t>
            </a:r>
          </a:p>
          <a:p>
            <a:pPr algn="ctr"/>
            <a:r>
              <a:rPr sz="1800" b="1">
                <a:solidFill>
                  <a:srgbClr val="FFEE58"/>
                </a:solidFill>
                <a:latin typeface="맑은 고딕"/>
              </a:rPr>
              <a:t>6가지 정책 관점 모두에서 살아남는 강건 입지 2곳을 찾아냈다.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CCCCC"/>
                </a:solidFill>
                <a:latin typeface="맑은 고딕"/>
              </a:rPr>
              <a:t>— SAM(항공) + SegFormer(거리뷰) + Deep Umbra(DSM) + OSMnx(교차로) + MCDA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맑은 고딕"/>
              </a:rPr>
              <a:t>동작구 여름 그늘막 최적 입지 추천 시스템 · 한영재 · 2025961227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맑은 고딕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
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맑은 고딕"/>
              </a:rPr>
              <a:t>동작구 여름 그늘막 최적 입지 추천 시스템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8346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BBBBBB"/>
                </a:solidFill>
                <a:latin typeface="맑은 고딕"/>
              </a:rPr>
              <a:t>채권 트레이더의 다변수 최적화 방법론을 도시 공간 데이터에 이식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3840480"/>
            <a:ext cx="1828800" cy="5080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CCCCC"/>
                </a:solidFill>
                <a:latin typeface="맑은 고딕"/>
              </a:rPr>
              <a:t>데이터기반 도시설계 · 기말 프로젝트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AAAA"/>
                </a:solidFill>
                <a:latin typeface="맑은 고딕"/>
              </a:rPr>
              <a:t>한영재 / 인공지능융합대학원 인공지능컴퓨팅 / 2025961227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0292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88888"/>
                </a:solidFill>
                <a:latin typeface="맑은 고딕"/>
              </a:rPr>
              <a:t>2026년 4월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09728" cy="73152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12121"/>
                </a:solidFill>
                <a:latin typeface="맑은 고딕"/>
              </a:rPr>
              <a:t>문제 정의 · 접근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맑은 고딕"/>
              </a:rPr>
              <a:t>어디에 설치할 것인가 — 민원·직관이 아닌 데이터의 논리로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212121"/>
                </a:solidFill>
                <a:latin typeface="맑은 고딕"/>
              </a:rPr>
              <a:t>• 그늘막은 유한한 예산 → 어느 격자에 설치해야 '폭염 스트레스 × 유동인구 × 취약계층' 효용이 최대인가?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212121"/>
                </a:solidFill>
                <a:latin typeface="맑은 고딕"/>
              </a:rPr>
              <a:t>• 기존 방식: 민원 기반 · 담당자 직관 → 공간적 편향, 이미 커버된 곳 중복 설치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212121"/>
                </a:solidFill>
                <a:latin typeface="맑은 고딕"/>
              </a:rPr>
              <a:t>• 제안: 다변수 가중합 + 공간 필터 + 시나리오 민감도 + 자연그늘까지 반영한 입지 추천 파이프라인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3840480"/>
            <a:ext cx="10972800" cy="2103120"/>
          </a:xfrm>
          <a:prstGeom prst="roundRect">
            <a:avLst/>
          </a:prstGeom>
          <a:solidFill>
            <a:srgbClr val="F5F8FD"/>
          </a:solidFill>
          <a:ln w="19050"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182880" wrap="square"/>
          <a:lstStyle/>
          <a:p>
            <a:pPr algn="l"/>
            <a:r>
              <a:rPr sz="2000" b="1">
                <a:solidFill>
                  <a:srgbClr val="1E88E5"/>
                </a:solidFill>
                <a:latin typeface="맑은 고딕"/>
              </a:rPr>
              <a:t>채권 트레이더 관점의 다변수 최적화</a:t>
            </a:r>
          </a:p>
          <a:p>
            <a:pPr>
              <a:spcBef>
                <a:spcPts val="400"/>
              </a:spcBef>
            </a:pPr>
            <a:r>
              <a:rPr sz="1600" b="0">
                <a:solidFill>
                  <a:srgbClr val="212121"/>
                </a:solidFill>
                <a:latin typeface="맑은 고딕"/>
              </a:rPr>
              <a:t>• 피처 = 채권의 수익률 곡선 요인 · 격자 = 포트폴리오 후보</a:t>
            </a:r>
          </a:p>
          <a:p>
            <a:pPr>
              <a:spcBef>
                <a:spcPts val="400"/>
              </a:spcBef>
            </a:pPr>
            <a:r>
              <a:rPr sz="1600" b="0">
                <a:solidFill>
                  <a:srgbClr val="212121"/>
                </a:solidFill>
                <a:latin typeface="맑은 고딕"/>
              </a:rPr>
              <a:t>• 가중합 + 제약조건(보행로·기존그늘막) = 리스크 예산 내 최적 포지션</a:t>
            </a:r>
          </a:p>
          <a:p>
            <a:pPr>
              <a:spcBef>
                <a:spcPts val="400"/>
              </a:spcBef>
            </a:pPr>
            <a:r>
              <a:rPr sz="1600" b="0">
                <a:solidFill>
                  <a:srgbClr val="212121"/>
                </a:solidFill>
                <a:latin typeface="맑은 고딕"/>
              </a:rPr>
              <a:t>• 시나리오 민감도 = 금리 시나리오 스트레스 테스트와 동형(同形)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맑은 고딕"/>
              </a:rPr>
              <a:t>동작구 여름 그늘막 최적 입지 추천 시스템 · 한영재 · 2025961227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맑은 고딕"/>
              </a:rPr>
              <a:t>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09728" cy="73152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12121"/>
                </a:solidFill>
                <a:latin typeface="맑은 고딕"/>
              </a:rPr>
              <a:t>파이프라인 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맑은 고딕"/>
              </a:rPr>
              <a:t>격자 생성 → 스코어 → 필터 → 시나리오 → LLM 근거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011680"/>
            <a:ext cx="2697480" cy="2926080"/>
          </a:xfrm>
          <a:prstGeom prst="roundRect">
            <a:avLst/>
          </a:prstGeom>
          <a:solidFill>
            <a:srgbClr val="FAFAFA"/>
          </a:solidFill>
          <a:ln w="2540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/>
            <a:r>
              <a:rPr sz="1200" b="1">
                <a:solidFill>
                  <a:srgbClr val="555555"/>
                </a:solidFill>
                <a:latin typeface="맑은 고딕"/>
              </a:rPr>
              <a:t>STEP 0</a:t>
            </a:r>
          </a:p>
          <a:p>
            <a:pPr>
              <a:spcBef>
                <a:spcPts val="400"/>
              </a:spcBef>
            </a:pPr>
            <a:r>
              <a:rPr sz="2200" b="1">
                <a:solidFill>
                  <a:srgbClr val="212121"/>
                </a:solidFill>
                <a:latin typeface="맑은 고딕"/>
              </a:rPr>
              <a:t>격자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555555"/>
                </a:solidFill>
                <a:latin typeface="맑은 고딕"/>
              </a:rPr>
              <a:t>동작구 100m 격자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555555"/>
                </a:solidFill>
                <a:latin typeface="맑은 고딕"/>
              </a:rPr>
              <a:t>3,672 cells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337560" y="3291840"/>
            <a:ext cx="228600" cy="320040"/>
          </a:xfrm>
          <a:prstGeom prst="rightArrow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520440" y="2011680"/>
            <a:ext cx="2697480" cy="2926080"/>
          </a:xfrm>
          <a:prstGeom prst="roundRect">
            <a:avLst/>
          </a:prstGeom>
          <a:solidFill>
            <a:srgbClr val="FAFAFA"/>
          </a:solidFill>
          <a:ln w="25400"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/>
            <a:r>
              <a:rPr sz="1200" b="1">
                <a:solidFill>
                  <a:srgbClr val="1E88E5"/>
                </a:solidFill>
                <a:latin typeface="맑은 고딕"/>
              </a:rPr>
              <a:t>STEP 1</a:t>
            </a:r>
          </a:p>
          <a:p>
            <a:pPr>
              <a:spcBef>
                <a:spcPts val="400"/>
              </a:spcBef>
            </a:pPr>
            <a:r>
              <a:rPr sz="2200" b="1">
                <a:solidFill>
                  <a:srgbClr val="212121"/>
                </a:solidFill>
                <a:latin typeface="맑은 고딕"/>
              </a:rPr>
              <a:t>스코어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555555"/>
                </a:solidFill>
                <a:latin typeface="맑은 고딕"/>
              </a:rPr>
              <a:t>pop·lst·vuln(+) −shade·natural(−)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555555"/>
                </a:solidFill>
                <a:latin typeface="맑은 고딕"/>
              </a:rPr>
              <a:t>시간대 가중 9~18시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172200" y="3291840"/>
            <a:ext cx="228600" cy="320040"/>
          </a:xfrm>
          <a:prstGeom prst="rightArrow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355080" y="2011680"/>
            <a:ext cx="2697480" cy="2926080"/>
          </a:xfrm>
          <a:prstGeom prst="roundRect">
            <a:avLst/>
          </a:prstGeom>
          <a:solidFill>
            <a:srgbClr val="FAFAFA"/>
          </a:solidFill>
          <a:ln w="25400">
            <a:solidFill>
              <a:srgbClr val="FB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/>
            <a:r>
              <a:rPr sz="1200" b="1">
                <a:solidFill>
                  <a:srgbClr val="FB8C00"/>
                </a:solidFill>
                <a:latin typeface="맑은 고딕"/>
              </a:rPr>
              <a:t>STEP 2</a:t>
            </a:r>
          </a:p>
          <a:p>
            <a:pPr>
              <a:spcBef>
                <a:spcPts val="400"/>
              </a:spcBef>
            </a:pPr>
            <a:r>
              <a:rPr sz="2200" b="1">
                <a:solidFill>
                  <a:srgbClr val="212121"/>
                </a:solidFill>
                <a:latin typeface="맑은 고딕"/>
              </a:rPr>
              <a:t>필터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555555"/>
                </a:solidFill>
                <a:latin typeface="맑은 고딕"/>
              </a:rPr>
              <a:t>보행로 20m 이내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555555"/>
                </a:solidFill>
                <a:latin typeface="맑은 고딕"/>
              </a:rPr>
              <a:t>기존그늘막 150m 외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555555"/>
                </a:solidFill>
                <a:latin typeface="맑은 고딕"/>
              </a:rPr>
              <a:t>3,672 → 23 → 19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9006840" y="3291840"/>
            <a:ext cx="228600" cy="320040"/>
          </a:xfrm>
          <a:prstGeom prst="rightArrow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189720" y="2011680"/>
            <a:ext cx="2697480" cy="2926080"/>
          </a:xfrm>
          <a:prstGeom prst="roundRect">
            <a:avLst/>
          </a:prstGeom>
          <a:solidFill>
            <a:srgbClr val="FAFAFA"/>
          </a:solidFill>
          <a:ln w="2540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/>
            <a:r>
              <a:rPr sz="1200" b="1">
                <a:solidFill>
                  <a:srgbClr val="E53935"/>
                </a:solidFill>
                <a:latin typeface="맑은 고딕"/>
              </a:rPr>
              <a:t>STEP 3</a:t>
            </a:r>
          </a:p>
          <a:p>
            <a:pPr>
              <a:spcBef>
                <a:spcPts val="400"/>
              </a:spcBef>
            </a:pPr>
            <a:r>
              <a:rPr sz="2200" b="1">
                <a:solidFill>
                  <a:srgbClr val="212121"/>
                </a:solidFill>
                <a:latin typeface="맑은 고딕"/>
              </a:rPr>
              <a:t>시나리오+LLM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555555"/>
                </a:solidFill>
                <a:latin typeface="맑은 고딕"/>
              </a:rPr>
              <a:t>4개 프리셋 × TOP10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555555"/>
                </a:solidFill>
                <a:latin typeface="맑은 고딕"/>
              </a:rPr>
              <a:t>LLM 자연어 근거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53035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맑은 고딕"/>
              </a:rPr>
              <a:t>산출물: shade_map.html · scenarios_map.html · rationales.json · scenarios_comparison.csv · focus_areas_validation.json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00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맑은 고딕"/>
              </a:rPr>
              <a:t>동작구 여름 그늘막 최적 입지 추천 시스템 · 한영재 · 2025961227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맑은 고딕"/>
              </a:rPr>
              <a:t>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09728" cy="73152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12121"/>
                </a:solidFill>
                <a:latin typeface="맑은 고딕"/>
              </a:rPr>
              <a:t>입력 데이터 5종 · 시간대 가중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맑은 고딕"/>
              </a:rPr>
              <a:t>실데이터 ↔ 더미 자동 스위칭 / 역세권·시장 프로파일 분리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737360"/>
          <a:ext cx="1124712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3474720"/>
                <a:gridCol w="4572000"/>
              </a:tblGrid>
              <a:tr h="5181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데이터</a:t>
                      </a:r>
                    </a:p>
                  </a:txBody>
                  <a:tcPr>
                    <a:solidFill>
                      <a:srgbClr val="1E88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출처</a:t>
                      </a:r>
                    </a:p>
                  </a:txBody>
                  <a:tcPr>
                    <a:solidFill>
                      <a:srgbClr val="1E88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시간 프로파일</a:t>
                      </a:r>
                    </a:p>
                  </a:txBody>
                  <a:tcPr>
                    <a:solidFill>
                      <a:srgbClr val="1E88E5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맑은 고딕"/>
                        </a:rPr>
                        <a:t>생활인구 (SKT)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맑은 고딕"/>
                        </a:rPr>
                        <a:t>서울 열린데이터광장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맑은 고딕"/>
                        </a:rPr>
                        <a:t>역세권=출퇴근 / 시장=오후 피크</a:t>
                      </a:r>
                    </a:p>
                  </a:txBody>
                  <a:tcPr/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맑은 고딕"/>
                        </a:rPr>
                        <a:t>지표면 온도 LST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맑은 고딕"/>
                        </a:rPr>
                        <a:t>서울연구원 Landsat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맑은 고딕"/>
                        </a:rPr>
                        <a:t>오후 1~3시 1.0 (피크 가중)</a:t>
                      </a:r>
                    </a:p>
                  </a:txBody>
                  <a:tcPr/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맑은 고딕"/>
                        </a:rPr>
                        <a:t>취약계층 비율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맑은 고딕"/>
                        </a:rPr>
                        <a:t>KOSIS 동별 통계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맑은 고딕"/>
                        </a:rPr>
                        <a:t>상수 (연령 구조)</a:t>
                      </a:r>
                    </a:p>
                  </a:txBody>
                  <a:tcPr/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맑은 고딕"/>
                        </a:rPr>
                        <a:t>기존 그늘막 위치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맑은 고딕"/>
                        </a:rPr>
                        <a:t>서울 열린데이터광장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맑은 고딕"/>
                        </a:rPr>
                        <a:t>반경 150m 제외 (커버리지)</a:t>
                      </a:r>
                    </a:p>
                  </a:txBody>
                  <a:tcPr/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맑은 고딕"/>
                        </a:rPr>
                        <a:t>인도·횡단보도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맑은 고딕"/>
                        </a:rPr>
                        <a:t>국가공간정보포털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맑은 고딕"/>
                        </a:rPr>
                        <a:t>폭 ≥ 2m / 20m 이내 강제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5120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  <a:latin typeface="맑은 고딕"/>
              </a:rPr>
              <a:t>⚙ data/raw/*.csv·geojson 배치 시 data_loader.py가 자동 전환 → 현재는 동작구 실제 거점(역세권·시장·주거축) 기반 더미 데이터로 파이프라인 검증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맑은 고딕"/>
              </a:rPr>
              <a:t>동작구 여름 그늘막 최적 입지 추천 시스템 · 한영재 · 2025961227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맑은 고딕"/>
              </a:rPr>
              <a:t>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09728" cy="73152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12121"/>
                </a:solidFill>
                <a:latin typeface="맑은 고딕"/>
              </a:rPr>
              <a:t>알고리즘 · Score 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맑은 고딕"/>
              </a:rPr>
              <a:t>MinMax 정규화 후 가중합 (음수 가중치 = 페널티)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737360"/>
            <a:ext cx="10972800" cy="1188720"/>
          </a:xfrm>
          <a:prstGeom prst="roundRect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/>
          <a:lstStyle/>
          <a:p>
            <a:pPr algn="ctr"/>
            <a:r>
              <a:rPr sz="2200" b="1">
                <a:solidFill>
                  <a:srgbClr val="FFEE58"/>
                </a:solidFill>
                <a:latin typeface="맑은 고딕"/>
              </a:rPr>
              <a:t>Score = 0.30·popdens + 0.30·lst + 0.20·vuln − 0.15·shade − 0.05·natural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108960"/>
            <a:ext cx="10972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212121"/>
                </a:solidFill>
                <a:latin typeface="맑은 고딕"/>
              </a:rPr>
              <a:t>• popdens (+0.30) — 시간대 가중 유동인구 (9~18시, 오후 1~3시 1.0 피크)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12121"/>
                </a:solidFill>
                <a:latin typeface="맑은 고딕"/>
              </a:rPr>
              <a:t>• lst (+0.30) — 지표면 온도, 오후 피크 시간대 가중 평균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12121"/>
                </a:solidFill>
                <a:latin typeface="맑은 고딕"/>
              </a:rPr>
              <a:t>• vuln (+0.20) — 고령자·어린이 비율 (취약계층)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12121"/>
                </a:solidFill>
                <a:latin typeface="맑은 고딕"/>
              </a:rPr>
              <a:t>• shade (−0.15) — 기존 그늘막 반경 150m 내 커버리지 (이미 된 곳은 감점)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12121"/>
                </a:solidFill>
                <a:latin typeface="맑은 고딕"/>
              </a:rPr>
              <a:t>• natural (−0.05) — 건물 그림자 커버 비율 (자연 그늘 페널티, 신규 활성화)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486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E88E5"/>
                </a:solidFill>
                <a:latin typeface="맑은 고딕"/>
              </a:rPr>
              <a:t>🎚 Streamlit 대시보드에서 슬라이더로 실시간 조정 가능 · 시나리오별 프리셋 4종 내장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맑은 고딕"/>
              </a:rPr>
              <a:t>동작구 여름 그늘막 최적 입지 추천 시스템 · 한영재 · 2025961227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맑은 고딕"/>
              </a:rPr>
              <a:t>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09728" cy="73152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12121"/>
                </a:solidFill>
                <a:latin typeface="맑은 고딕"/>
              </a:rPr>
              <a:t>공간 필터링 · TOP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맑은 고딕"/>
              </a:rPr>
              <a:t>보행로·횡단보도 강제 제약으로 강변/건물 후보 원천 제외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2560320" cy="2011680"/>
          </a:xfrm>
          <a:prstGeom prst="round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400" b="1">
                <a:solidFill>
                  <a:srgbClr val="FFFFFF"/>
                </a:solidFill>
                <a:latin typeface="맑은 고딕"/>
              </a:rPr>
              <a:t>3,672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맑은 고딕"/>
              </a:rPr>
              <a:t>전체 격자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1828800"/>
            <a:ext cx="2560320" cy="2011680"/>
          </a:xfrm>
          <a:prstGeom prst="roundRect">
            <a:avLst/>
          </a:prstGeom>
          <a:solidFill>
            <a:srgbClr val="FB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400" b="1">
                <a:solidFill>
                  <a:srgbClr val="FFFFFF"/>
                </a:solidFill>
                <a:latin typeface="맑은 고딕"/>
              </a:rPr>
              <a:t>23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맑은 고딕"/>
              </a:rPr>
              <a:t>보행로 20m 이내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828800"/>
            <a:ext cx="2560320" cy="20116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400" b="1">
                <a:solidFill>
                  <a:srgbClr val="FFFFFF"/>
                </a:solidFill>
                <a:latin typeface="맑은 고딕"/>
              </a:rPr>
              <a:t>19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맑은 고딕"/>
              </a:rPr>
              <a:t>기존그늘막 제외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52559" y="1828800"/>
            <a:ext cx="2560320" cy="2011680"/>
          </a:xfrm>
          <a:prstGeom prst="round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400" b="1">
                <a:solidFill>
                  <a:srgbClr val="FFFFFF"/>
                </a:solidFill>
                <a:latin typeface="맑은 고딕"/>
              </a:rPr>
              <a:t>10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맑은 고딕"/>
              </a:rPr>
              <a:t>최종 추천 (TOP 10)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4114800"/>
            <a:ext cx="10972800" cy="2103120"/>
          </a:xfrm>
          <a:prstGeom prst="rect">
            <a:avLst/>
          </a:prstGeom>
          <a:solidFill>
            <a:srgbClr val="EEEEEE"/>
          </a:solidFill>
          <a:ln w="1270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555555"/>
                </a:solidFill>
                <a:latin typeface="맑은 고딕"/>
              </a:rPr>
              <a:t>📷 shade_map.html — 기본 시나리오 TOP 10 지도 캡처 배치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00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맑은 고딕"/>
              </a:rPr>
              <a:t>동작구 여름 그늘막 최적 입지 추천 시스템 · 한영재 · 2025961227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맑은 고딕"/>
              </a:rPr>
              <a:t>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09728" cy="73152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12121"/>
                </a:solidFill>
                <a:latin typeface="맑은 고딕"/>
              </a:rPr>
              <a:t>자연 그늘 시뮬레이션 (신규)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맑은 고딕"/>
              </a:rPr>
              <a:t>건물 footprint + 오후 3시 태양위치 → 격자별 그림자 커버 비율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6858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12121"/>
                </a:solidFill>
                <a:latin typeface="맑은 고딕"/>
              </a:rPr>
              <a:t>• 태양 위치: 서울 7월 말 오후 3시 · 고도 52° · 방위 252°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12121"/>
                </a:solidFill>
                <a:latin typeface="맑은 고딕"/>
              </a:rPr>
              <a:t>• 그림자 = 건물 footprint ∪ 태양반대방향 평행이동의 convex hull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12121"/>
                </a:solidFill>
                <a:latin typeface="맑은 고딕"/>
              </a:rPr>
              <a:t>• 격자별 자연그늘 면적 / 격자 면적 → [0,1] natural 피처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12121"/>
                </a:solidFill>
                <a:latin typeface="맑은 고딕"/>
              </a:rPr>
              <a:t>• 외부 라이브러리 없이 shapely.affinity.translate 로 직접 계산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12121"/>
                </a:solidFill>
                <a:latin typeface="맑은 고딕"/>
              </a:rPr>
              <a:t>• 효과 검증: 강건 입지 4 → 3곳, 상도로 TOP5 0.395 → 0.382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12121"/>
                </a:solidFill>
                <a:latin typeface="맑은 고딕"/>
              </a:rPr>
              <a:t>• 실데이터(buildings.geojson) 확보 시 자동 교체 구조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0" y="1737360"/>
            <a:ext cx="4114800" cy="4114800"/>
          </a:xfrm>
          <a:prstGeom prst="rect">
            <a:avLst/>
          </a:prstGeom>
          <a:solidFill>
            <a:srgbClr val="EEEEEE"/>
          </a:solidFill>
          <a:ln w="1270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555555"/>
                </a:solidFill>
                <a:latin typeface="맑은 고딕"/>
              </a:rPr>
              <a:t>📷 건물 + 그림자 시각화
(선택)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맑은 고딕"/>
              </a:rPr>
              <a:t>동작구 여름 그늘막 최적 입지 추천 시스템 · 한영재 · 2025961227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맑은 고딕"/>
              </a:rPr>
              <a:t>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09728" cy="73152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12121"/>
                </a:solidFill>
                <a:latin typeface="맑은 고딕"/>
              </a:rPr>
              <a:t>시나리오 민감도 분석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맑은 고딕"/>
              </a:rPr>
              <a:t>정책 관점별 가중치 프리셋 × 동일 피처셋 → TOP 10 변화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737360"/>
          <a:ext cx="109728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3200400"/>
                <a:gridCol w="2286000"/>
                <a:gridCol w="2743200"/>
              </a:tblGrid>
              <a:tr h="512064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시나리오</a:t>
                      </a:r>
                    </a:p>
                  </a:txBody>
                  <a:tcPr>
                    <a:solidFill>
                      <a:srgbClr val="1E88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강조</a:t>
                      </a:r>
                    </a:p>
                  </a:txBody>
                  <a:tcPr>
                    <a:solidFill>
                      <a:srgbClr val="1E88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최고 Score</a:t>
                      </a:r>
                    </a:p>
                  </a:txBody>
                  <a:tcPr>
                    <a:solidFill>
                      <a:srgbClr val="1E88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유니크</a:t>
                      </a:r>
                    </a:p>
                  </a:txBody>
                  <a:tcPr>
                    <a:solidFill>
                      <a:srgbClr val="1E88E5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12121"/>
                          </a:solidFill>
                          <a:latin typeface="맑은 고딕"/>
                        </a:rPr>
                        <a:t>기본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12121"/>
                          </a:solidFill>
                          <a:latin typeface="맑은 고딕"/>
                        </a:rPr>
                        <a:t>균형 (30/30/20)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12121"/>
                          </a:solidFill>
                          <a:latin typeface="맑은 고딕"/>
                        </a:rPr>
                        <a:t>0.574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12121"/>
                          </a:solidFill>
                          <a:latin typeface="맑은 고딕"/>
                        </a:rPr>
                        <a:t>0곳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12121"/>
                          </a:solidFill>
                          <a:latin typeface="맑은 고딕"/>
                        </a:rPr>
                        <a:t>고령자 중시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12121"/>
                          </a:solidFill>
                          <a:latin typeface="맑은 고딕"/>
                        </a:rPr>
                        <a:t>vuln 0.45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12121"/>
                          </a:solidFill>
                          <a:latin typeface="맑은 고딕"/>
                        </a:rPr>
                        <a:t>0.567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12121"/>
                          </a:solidFill>
                          <a:latin typeface="맑은 고딕"/>
                        </a:rPr>
                        <a:t>4곳 독점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12121"/>
                          </a:solidFill>
                          <a:latin typeface="맑은 고딕"/>
                        </a:rPr>
                        <a:t>폭염 중시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12121"/>
                          </a:solidFill>
                          <a:latin typeface="맑은 고딕"/>
                        </a:rPr>
                        <a:t>lst 0.45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12121"/>
                          </a:solidFill>
                          <a:latin typeface="맑은 고딕"/>
                        </a:rPr>
                        <a:t>0.617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12121"/>
                          </a:solidFill>
                          <a:latin typeface="맑은 고딕"/>
                        </a:rPr>
                        <a:t>0곳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12121"/>
                          </a:solidFill>
                          <a:latin typeface="맑은 고딕"/>
                        </a:rPr>
                        <a:t>유동인구 중시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12121"/>
                          </a:solidFill>
                          <a:latin typeface="맑은 고딕"/>
                        </a:rPr>
                        <a:t>pop 0.45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12121"/>
                          </a:solidFill>
                          <a:latin typeface="맑은 고딕"/>
                        </a:rPr>
                        <a:t>0.633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12121"/>
                          </a:solidFill>
                          <a:latin typeface="맑은 고딕"/>
                        </a:rPr>
                        <a:t>3곳 독점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53935"/>
                </a:solidFill>
                <a:latin typeface="맑은 고딕"/>
              </a:rPr>
              <a:t>💡 자연그늘 활성화로 고령자 시나리오 최고 Score 0.580 → 0.567 (페널티 의도대로 작동)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120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맑은 고딕"/>
              </a:rPr>
              <a:t>🎯 "정책이 다르면 답도 다르다" — 그러나 어떤 관점에서도 공통으로 추천되는 입지가 존재한다 (다음 슬라이드)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맑은 고딕"/>
              </a:rPr>
              <a:t>동작구 여름 그늘막 최적 입지 추천 시스템 · 한영재 · 2025961227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맑은 고딕"/>
              </a:rPr>
              <a:t>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09728" cy="73152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12121"/>
                </a:solidFill>
                <a:latin typeface="맑은 고딕"/>
              </a:rPr>
              <a:t>강건 입지 · Robust Location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맑은 고딕"/>
              </a:rPr>
              <a:t>4개 시나리오 공통 추천 = 어떤 정책 관점에서도 필수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3611880" cy="2743200"/>
          </a:xfrm>
          <a:prstGeom prst="roundRect">
            <a:avLst/>
          </a:prstGeom>
          <a:solidFill>
            <a:srgbClr val="FAFAFA"/>
          </a:solidFill>
          <a:ln w="31750">
            <a:solidFill>
              <a:srgbClr val="8E2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/>
            <a:r>
              <a:rPr sz="1600" b="1">
                <a:solidFill>
                  <a:srgbClr val="8E24AA"/>
                </a:solidFill>
                <a:latin typeface="맑은 고딕"/>
              </a:rPr>
              <a:t>#1</a:t>
            </a:r>
          </a:p>
          <a:p>
            <a:pPr algn="ctr">
              <a:spcBef>
                <a:spcPts val="600"/>
              </a:spcBef>
            </a:pPr>
            <a:r>
              <a:rPr sz="2800" b="1">
                <a:solidFill>
                  <a:srgbClr val="212121"/>
                </a:solidFill>
                <a:latin typeface="맑은 고딕"/>
              </a:rPr>
              <a:t>상도로</a:t>
            </a:r>
          </a:p>
          <a:p>
            <a:pPr algn="ctr">
              <a:spcBef>
                <a:spcPts val="400"/>
              </a:spcBef>
            </a:pPr>
            <a:r>
              <a:rPr sz="1600" b="0">
                <a:solidFill>
                  <a:srgbClr val="555555"/>
                </a:solidFill>
                <a:latin typeface="맑은 고딕"/>
              </a:rPr>
              <a:t>상도3동 주거밀집</a:t>
            </a:r>
          </a:p>
          <a:p>
            <a:pPr algn="ctr">
              <a:spcBef>
                <a:spcPts val="1000"/>
              </a:spcBef>
            </a:pPr>
            <a:r>
              <a:rPr sz="1200" b="0">
                <a:solidFill>
                  <a:srgbClr val="555555"/>
                </a:solidFill>
                <a:latin typeface="맑은 고딕"/>
              </a:rPr>
              <a:t>37.4977, 126.9341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34840" y="1828800"/>
            <a:ext cx="3611880" cy="2743200"/>
          </a:xfrm>
          <a:prstGeom prst="roundRect">
            <a:avLst/>
          </a:prstGeom>
          <a:solidFill>
            <a:srgbClr val="FAFAFA"/>
          </a:solidFill>
          <a:ln w="31750">
            <a:solidFill>
              <a:srgbClr val="8E2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/>
            <a:r>
              <a:rPr sz="1600" b="1">
                <a:solidFill>
                  <a:srgbClr val="8E24AA"/>
                </a:solidFill>
                <a:latin typeface="맑은 고딕"/>
              </a:rPr>
              <a:t>#2</a:t>
            </a:r>
          </a:p>
          <a:p>
            <a:pPr algn="ctr">
              <a:spcBef>
                <a:spcPts val="600"/>
              </a:spcBef>
            </a:pPr>
            <a:r>
              <a:rPr sz="2800" b="1">
                <a:solidFill>
                  <a:srgbClr val="212121"/>
                </a:solidFill>
                <a:latin typeface="맑은 고딕"/>
              </a:rPr>
              <a:t>상도로</a:t>
            </a:r>
          </a:p>
          <a:p>
            <a:pPr algn="ctr">
              <a:spcBef>
                <a:spcPts val="400"/>
              </a:spcBef>
            </a:pPr>
            <a:r>
              <a:rPr sz="1600" b="0">
                <a:solidFill>
                  <a:srgbClr val="555555"/>
                </a:solidFill>
                <a:latin typeface="맑은 고딕"/>
              </a:rPr>
              <a:t>상도3동 주거밀집</a:t>
            </a:r>
          </a:p>
          <a:p>
            <a:pPr algn="ctr">
              <a:spcBef>
                <a:spcPts val="1000"/>
              </a:spcBef>
            </a:pPr>
            <a:r>
              <a:rPr sz="1200" b="0">
                <a:solidFill>
                  <a:srgbClr val="555555"/>
                </a:solidFill>
                <a:latin typeface="맑은 고딕"/>
              </a:rPr>
              <a:t>37.4986, 126.9353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83880" y="1828800"/>
            <a:ext cx="3611880" cy="2743200"/>
          </a:xfrm>
          <a:prstGeom prst="roundRect">
            <a:avLst/>
          </a:prstGeom>
          <a:solidFill>
            <a:srgbClr val="FAFAFA"/>
          </a:solidFill>
          <a:ln w="3175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/>
            <a:r>
              <a:rPr sz="1600" b="1">
                <a:solidFill>
                  <a:srgbClr val="E53935"/>
                </a:solidFill>
                <a:latin typeface="맑은 고딕"/>
              </a:rPr>
              <a:t>#3</a:t>
            </a:r>
          </a:p>
          <a:p>
            <a:pPr algn="ctr">
              <a:spcBef>
                <a:spcPts val="600"/>
              </a:spcBef>
            </a:pPr>
            <a:r>
              <a:rPr sz="2800" b="1">
                <a:solidFill>
                  <a:srgbClr val="212121"/>
                </a:solidFill>
                <a:latin typeface="맑은 고딕"/>
              </a:rPr>
              <a:t>동작대로</a:t>
            </a:r>
          </a:p>
          <a:p>
            <a:pPr algn="ctr">
              <a:spcBef>
                <a:spcPts val="400"/>
              </a:spcBef>
            </a:pPr>
            <a:r>
              <a:rPr sz="1600" b="0">
                <a:solidFill>
                  <a:srgbClr val="555555"/>
                </a:solidFill>
                <a:latin typeface="맑은 고딕"/>
              </a:rPr>
              <a:t>사당-이수 축</a:t>
            </a:r>
          </a:p>
          <a:p>
            <a:pPr algn="ctr">
              <a:spcBef>
                <a:spcPts val="1000"/>
              </a:spcBef>
            </a:pPr>
            <a:r>
              <a:rPr sz="1200" b="0">
                <a:solidFill>
                  <a:srgbClr val="555555"/>
                </a:solidFill>
                <a:latin typeface="맑은 고딕"/>
              </a:rPr>
              <a:t>37.4907, 126.9647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9377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E88E5"/>
                </a:solidFill>
                <a:latin typeface="맑은 고딕"/>
              </a:rPr>
              <a:t>정책적 함의: 예산 제약 시 이 3곳이 최우선 설치 대상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486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  <a:latin typeface="맑은 고딕"/>
              </a:rPr>
              <a:t>자연그늘 활성화로 4 → 3곳 — 식별력이 더 엄격해졌음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00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맑은 고딕"/>
              </a:rPr>
              <a:t>동작구 여름 그늘막 최적 입지 추천 시스템 · 한영재 · 2025961227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맑은 고딕"/>
              </a:rPr>
              <a:t>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09728" cy="73152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12121"/>
                </a:solidFill>
                <a:latin typeface="맑은 고딕"/>
              </a:rPr>
              <a:t>1차 발표자료 3대 집중구역 검증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맑은 고딕"/>
              </a:rPr>
              <a:t>사전 선정한 후보 구역을 알고리즘이 얼마나 재현했는가?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43000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914400"/>
                <a:gridCol w="2286000"/>
                <a:gridCol w="1371600"/>
                <a:gridCol w="4114800"/>
              </a:tblGrid>
              <a:tr h="75438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구역</a:t>
                      </a:r>
                    </a:p>
                  </a:txBody>
                  <a:tcPr>
                    <a:solidFill>
                      <a:srgbClr val="1E88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판정</a:t>
                      </a:r>
                    </a:p>
                  </a:txBody>
                  <a:tcPr>
                    <a:solidFill>
                      <a:srgbClr val="1E88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반경 내 TOP</a:t>
                      </a:r>
                    </a:p>
                  </a:txBody>
                  <a:tcPr>
                    <a:solidFill>
                      <a:srgbClr val="1E88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최근접</a:t>
                      </a:r>
                    </a:p>
                  </a:txBody>
                  <a:tcPr>
                    <a:solidFill>
                      <a:srgbClr val="1E88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해설</a:t>
                      </a:r>
                    </a:p>
                  </a:txBody>
                  <a:tcPr>
                    <a:solidFill>
                      <a:srgbClr val="1E88E5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12121"/>
                          </a:solidFill>
                          <a:latin typeface="맑은 고딕"/>
                        </a:rPr>
                        <a:t>노량진역-수산시장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B8C00"/>
                          </a:solidFill>
                          <a:latin typeface="맑은 고딕"/>
                        </a:rPr>
                        <a:t>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12121"/>
                          </a:solidFill>
                          <a:latin typeface="맑은 고딕"/>
                        </a:rPr>
                        <a:t>0곳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12121"/>
                          </a:solidFill>
                          <a:latin typeface="맑은 고딕"/>
                        </a:rPr>
                        <a:t>1,355m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12121"/>
                          </a:solidFill>
                          <a:latin typeface="맑은 고딕"/>
                        </a:rPr>
                        <a:t>기존 그늘막 선배치 → 페널티 작동 (의도대로)</a:t>
                      </a:r>
                    </a:p>
                  </a:txBody>
                  <a:tcPr/>
                </a:tc>
              </a:tr>
              <a:tr h="75438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12121"/>
                          </a:solidFill>
                          <a:latin typeface="맑은 고딕"/>
                        </a:rPr>
                        <a:t>사당역-이수역 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E88E5"/>
                          </a:solidFill>
                          <a:latin typeface="맑은 고딕"/>
                        </a:rPr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12121"/>
                          </a:solidFill>
                          <a:latin typeface="맑은 고딕"/>
                        </a:rPr>
                        <a:t>2곳 (TOP1·TOP2)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12121"/>
                          </a:solidFill>
                          <a:latin typeface="맑은 고딕"/>
                        </a:rPr>
                        <a:t>167m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12121"/>
                          </a:solidFill>
                          <a:latin typeface="맑은 고딕"/>
                        </a:rPr>
                        <a:t>환승 대기 + 오후 열스트레스 최상위</a:t>
                      </a:r>
                    </a:p>
                  </a:txBody>
                  <a:tcPr/>
                </a:tc>
              </a:tr>
              <a:tr h="75438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12121"/>
                          </a:solidFill>
                          <a:latin typeface="맑은 고딕"/>
                        </a:rPr>
                        <a:t>상도로 주거축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E88E5"/>
                          </a:solidFill>
                          <a:latin typeface="맑은 고딕"/>
                        </a:rPr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12121"/>
                          </a:solidFill>
                          <a:latin typeface="맑은 고딕"/>
                        </a:rPr>
                        <a:t>3곳 (TOP5~7)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12121"/>
                          </a:solidFill>
                          <a:latin typeface="맑은 고딕"/>
                        </a:rPr>
                        <a:t>66m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12121"/>
                          </a:solidFill>
                          <a:latin typeface="맑은 고딕"/>
                        </a:rPr>
                        <a:t>고령자 비율 + 자연그늘 부족 이중 반영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5212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  <a:latin typeface="맑은 고딕"/>
              </a:rPr>
              <a:t>💡 노량진 '0곳'은 실패가 아님: 더미 데이터에서 기존 그늘막을 노량진 보행로에 우선 배치한 결과,
'기존 그늘막 반경 150m 외' 제약으로 자연스럽게 후순위로 밀린 것. 이미 커버된 곳은 제외하는 알고리즘이 의도대로 작동한 사례.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맑은 고딕"/>
              </a:rPr>
              <a:t>동작구 여름 그늘막 최적 입지 추천 시스템 · 한영재 · 2025961227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맑은 고딕"/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09728" cy="73152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12121"/>
                </a:solidFill>
                <a:latin typeface="맑은 고딕"/>
              </a:rPr>
              <a:t>인터랙티브 대시보드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맑은 고딕"/>
              </a:rPr>
              <a:t>가중치 슬라이더 → TOP 10 실시간 재계산 (Streamlit)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5943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12121"/>
                </a:solidFill>
                <a:latin typeface="맑은 고딕"/>
              </a:rPr>
              <a:t>• `streamlit run app.py` 로 기동 → http://localhost:8501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12121"/>
                </a:solidFill>
                <a:latin typeface="맑은 고딕"/>
              </a:rPr>
              <a:t>• 사이드바: 시나리오 프리셋 드롭다운 + 5개 가중치 슬라이더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12121"/>
                </a:solidFill>
                <a:latin typeface="맑은 고딕"/>
              </a:rPr>
              <a:t>• 본문: Folium 지도 임베드 + TOP 10 표 + 통계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12121"/>
                </a:solidFill>
                <a:latin typeface="맑은 고딕"/>
              </a:rPr>
              <a:t>• 캐싱: @st.cache_resource 로 격자·피처는 1회 계산,
  슬라이더 조작은 가중합 재계산만 (밀리초 반응)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12121"/>
                </a:solidFill>
                <a:latin typeface="맑은 고딕"/>
              </a:rPr>
              <a:t>• 발표 현장에서 "만약 vuln을 더 높이면?" 질문에 즉답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0" y="1737360"/>
            <a:ext cx="5029200" cy="4114800"/>
          </a:xfrm>
          <a:prstGeom prst="rect">
            <a:avLst/>
          </a:prstGeom>
          <a:solidFill>
            <a:srgbClr val="EEEEEE"/>
          </a:solidFill>
          <a:ln w="1270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555555"/>
                </a:solidFill>
                <a:latin typeface="맑은 고딕"/>
              </a:rPr>
              <a:t>📷 app.py 대시보드
스크린샷 배치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맑은 고딕"/>
              </a:rPr>
              <a:t>동작구 여름 그늘막 최적 입지 추천 시스템 · 한영재 · 2025961227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맑은 고딕"/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09728" cy="73152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12121"/>
                </a:solidFill>
                <a:latin typeface="맑은 고딕"/>
              </a:rPr>
              <a:t>한계 · 다음 단계 · 한 줄 요약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53935"/>
                </a:solidFill>
                <a:latin typeface="맑은 고딕"/>
              </a:rPr>
              <a:t>현재 한계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11680"/>
            <a:ext cx="59436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212121"/>
                </a:solidFill>
                <a:latin typeface="맑은 고딕"/>
              </a:rPr>
              <a:t>• 5종 데이터 모두 더미 (파이프라인 자체는 실데이터 자동 전환)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212121"/>
                </a:solidFill>
                <a:latin typeface="맑은 고딕"/>
              </a:rPr>
              <a:t>• LST 래스터 직접 파싱 미연결 (Landsat ST_B10)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212121"/>
                </a:solidFill>
                <a:latin typeface="맑은 고딕"/>
              </a:rPr>
              <a:t>• 건물 footprint 더미 19개 → 실 shp 확보 시 교체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212121"/>
                </a:solidFill>
                <a:latin typeface="맑은 고딕"/>
              </a:rPr>
              <a:t>• 예산 제약 미반영 (K개 최적 조합 = 배낭 문제)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15544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E88E5"/>
                </a:solidFill>
                <a:latin typeface="맑은 고딕"/>
              </a:rPr>
              <a:t>다음 단계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2011680"/>
            <a:ext cx="50292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212121"/>
                </a:solidFill>
                <a:latin typeface="맑은 고딕"/>
              </a:rPr>
              <a:t>• 서울 열린데이터광장 API 연결 (P0)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212121"/>
                </a:solidFill>
                <a:latin typeface="맑은 고딕"/>
              </a:rPr>
              <a:t>• 국가공간정보포털 도로대장 shp (인도 폭)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212121"/>
                </a:solidFill>
                <a:latin typeface="맑은 고딕"/>
              </a:rPr>
              <a:t>• 격자 스코어 parquet 캐싱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212121"/>
                </a:solidFill>
                <a:latin typeface="맑은 고딕"/>
              </a:rPr>
              <a:t>• 타 자치구 확장 (BBOX 교체만으로 재사용)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4937760"/>
            <a:ext cx="10972800" cy="1280160"/>
          </a:xfrm>
          <a:prstGeom prst="roundRect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/>
          <a:lstStyle/>
          <a:p>
            <a:pPr algn="ctr"/>
            <a:r>
              <a:rPr sz="2000" b="1">
                <a:solidFill>
                  <a:srgbClr val="FFEE58"/>
                </a:solidFill>
                <a:latin typeface="맑은 고딕"/>
              </a:rPr>
              <a:t>데이터의 논리로, 어떤 정책 관점을 취하든 그늘막이 반드시 필요한 3곳을 찾아냈다.</a:t>
            </a:r>
          </a:p>
          <a:p>
            <a:pPr algn="ctr">
              <a:spcBef>
                <a:spcPts val="600"/>
              </a:spcBef>
            </a:pPr>
            <a:r>
              <a:rPr sz="1400" b="0">
                <a:solidFill>
                  <a:srgbClr val="CCCCCC"/>
                </a:solidFill>
                <a:latin typeface="맑은 고딕"/>
              </a:rPr>
              <a:t>— 자연그늘 페널티까지 반영해 식별력을 한 단계 더 엄격하게.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00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맑은 고딕"/>
              </a:rPr>
              <a:t>동작구 여름 그늘막 최적 입지 추천 시스템 · 한영재 · 2025961227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맑은 고딕"/>
              </a:rP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